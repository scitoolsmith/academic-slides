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70cb9de90d45fb" /><Relationship Type="http://schemas.openxmlformats.org/officeDocument/2006/relationships/extended-properties" Target="/docProps/app.xml" Id="R3e3e08305c22493e" /><Relationship Type="http://schemas.openxmlformats.org/officeDocument/2006/relationships/officeDocument" Target="/ppt/presentation.xml" Id="R43d18ad6f45b45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7ada0580b54734"/>
  </p:sldMasterIdLst>
  <p:notesMasterIdLst>
    <p:notesMasterId xmlns:r="http://schemas.openxmlformats.org/officeDocument/2006/relationships" r:id="Recfbdb7a721045c8"/>
  </p:notesMasterIdLst>
  <p:sldIdLst>
    <p:sldId xmlns:r="http://schemas.openxmlformats.org/officeDocument/2006/relationships" id="256" r:id="R3ea6a474d081438b"/>
    <p:sldId xmlns:r="http://schemas.openxmlformats.org/officeDocument/2006/relationships" id="257" r:id="R2ebbb41978f549d2"/>
    <p:sldId xmlns:r="http://schemas.openxmlformats.org/officeDocument/2006/relationships" id="258" r:id="Rb41e19f6133f4f9d"/>
    <p:sldId xmlns:r="http://schemas.openxmlformats.org/officeDocument/2006/relationships" id="259" r:id="R52313e44cc7c4dfa"/>
    <p:sldId xmlns:r="http://schemas.openxmlformats.org/officeDocument/2006/relationships" id="260" r:id="R6433706576ef4b30"/>
    <p:sldId xmlns:r="http://schemas.openxmlformats.org/officeDocument/2006/relationships" id="261" r:id="R6153d30d25ad4fb1"/>
    <p:sldId xmlns:r="http://schemas.openxmlformats.org/officeDocument/2006/relationships" id="262" r:id="R8a94540ecd5948e2"/>
    <p:sldId xmlns:r="http://schemas.openxmlformats.org/officeDocument/2006/relationships" id="263" r:id="Rf776b474709b4a6f"/>
    <p:sldId xmlns:r="http://schemas.openxmlformats.org/officeDocument/2006/relationships" id="264" r:id="R2b26996175db47a5"/>
    <p:sldId xmlns:r="http://schemas.openxmlformats.org/officeDocument/2006/relationships" id="265" r:id="R373a0e7429754330"/>
    <p:sldId xmlns:r="http://schemas.openxmlformats.org/officeDocument/2006/relationships" id="266" r:id="R8fd46911a9534a55"/>
    <p:sldId xmlns:r="http://schemas.openxmlformats.org/officeDocument/2006/relationships" id="267" r:id="R5dabe6c541e147d1"/>
    <p:sldId xmlns:r="http://schemas.openxmlformats.org/officeDocument/2006/relationships" id="268" r:id="R39feff61831c406f"/>
    <p:sldId xmlns:r="http://schemas.openxmlformats.org/officeDocument/2006/relationships" id="269" r:id="Rb666983a6cee46b0"/>
    <p:sldId xmlns:r="http://schemas.openxmlformats.org/officeDocument/2006/relationships" id="270" r:id="Rf9f760be5c07475e"/>
    <p:sldId xmlns:r="http://schemas.openxmlformats.org/officeDocument/2006/relationships" id="271" r:id="Red95531335584d66"/>
    <p:sldId xmlns:r="http://schemas.openxmlformats.org/officeDocument/2006/relationships" id="272" r:id="Rf4e22a2f89c1466d"/>
    <p:sldId xmlns:r="http://schemas.openxmlformats.org/officeDocument/2006/relationships" id="273" r:id="R061b680da6ff48ae"/>
    <p:sldId xmlns:r="http://schemas.openxmlformats.org/officeDocument/2006/relationships" id="274" r:id="Re306279ecfe44838"/>
    <p:sldId xmlns:r="http://schemas.openxmlformats.org/officeDocument/2006/relationships" id="275" r:id="R9879922ac1e24e4b"/>
    <p:sldId xmlns:r="http://schemas.openxmlformats.org/officeDocument/2006/relationships" id="276" r:id="Re020ea48d7e34580"/>
    <p:sldId xmlns:r="http://schemas.openxmlformats.org/officeDocument/2006/relationships" id="277" r:id="R60ba50501d87449c"/>
    <p:sldId xmlns:r="http://schemas.openxmlformats.org/officeDocument/2006/relationships" id="278" r:id="Rd438caeaaf6c43d0"/>
    <p:sldId xmlns:r="http://schemas.openxmlformats.org/officeDocument/2006/relationships" id="279" r:id="Re678e4373d194c6c"/>
    <p:sldId xmlns:r="http://schemas.openxmlformats.org/officeDocument/2006/relationships" id="280" r:id="Ra26ed63a63674801"/>
    <p:sldId xmlns:r="http://schemas.openxmlformats.org/officeDocument/2006/relationships" id="281" r:id="Rb178378f0e184afe"/>
    <p:sldId xmlns:r="http://schemas.openxmlformats.org/officeDocument/2006/relationships" id="282" r:id="R667b5fd8906a45f8"/>
    <p:sldId xmlns:r="http://schemas.openxmlformats.org/officeDocument/2006/relationships" id="283" r:id="Ra2272d171e454abf"/>
    <p:sldId xmlns:r="http://schemas.openxmlformats.org/officeDocument/2006/relationships" id="284" r:id="R1ab7526a507546d3"/>
    <p:sldId xmlns:r="http://schemas.openxmlformats.org/officeDocument/2006/relationships" id="285" r:id="R6095c7e20481419e"/>
    <p:sldId xmlns:r="http://schemas.openxmlformats.org/officeDocument/2006/relationships" id="286" r:id="R73e91207157147a5"/>
    <p:sldId xmlns:r="http://schemas.openxmlformats.org/officeDocument/2006/relationships" id="287" r:id="R8450cd32953c4e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64bdba99e94058" /><Relationship Type="http://schemas.openxmlformats.org/officeDocument/2006/relationships/slideMaster" Target="/ppt/slideMasters/slideMaster1.xml" Id="R8e7ada0580b54734" /><Relationship Type="http://schemas.openxmlformats.org/officeDocument/2006/relationships/notesMaster" Target="/ppt/notesMasters/notesMaster1.xml" Id="Recfbdb7a721045c8" /><Relationship Type="http://schemas.openxmlformats.org/officeDocument/2006/relationships/presProps" Target="/ppt/presProps.xml" Id="Rd606e5ef5a334038" /><Relationship Type="http://schemas.openxmlformats.org/officeDocument/2006/relationships/tableStyles" Target="/ppt/tableStyles.xml" Id="R48d9e124f4d14419" /><Relationship Type="http://schemas.openxmlformats.org/officeDocument/2006/relationships/slide" Target="/ppt/slides/slide1.xml" Id="R3ea6a474d081438b" /><Relationship Type="http://schemas.openxmlformats.org/officeDocument/2006/relationships/slide" Target="/ppt/slides/slide2.xml" Id="R2ebbb41978f549d2" /><Relationship Type="http://schemas.openxmlformats.org/officeDocument/2006/relationships/slide" Target="/ppt/slides/slide3.xml" Id="Rb41e19f6133f4f9d" /><Relationship Type="http://schemas.openxmlformats.org/officeDocument/2006/relationships/slide" Target="/ppt/slides/slide4.xml" Id="R52313e44cc7c4dfa" /><Relationship Type="http://schemas.openxmlformats.org/officeDocument/2006/relationships/slide" Target="/ppt/slides/slide5.xml" Id="R6433706576ef4b30" /><Relationship Type="http://schemas.openxmlformats.org/officeDocument/2006/relationships/slide" Target="/ppt/slides/slide6.xml" Id="R6153d30d25ad4fb1" /><Relationship Type="http://schemas.openxmlformats.org/officeDocument/2006/relationships/slide" Target="/ppt/slides/slide7.xml" Id="R8a94540ecd5948e2" /><Relationship Type="http://schemas.openxmlformats.org/officeDocument/2006/relationships/slide" Target="/ppt/slides/slide8.xml" Id="Rf776b474709b4a6f" /><Relationship Type="http://schemas.openxmlformats.org/officeDocument/2006/relationships/slide" Target="/ppt/slides/slide9.xml" Id="R2b26996175db47a5" /><Relationship Type="http://schemas.openxmlformats.org/officeDocument/2006/relationships/slide" Target="/ppt/slides/slide10.xml" Id="R373a0e7429754330" /><Relationship Type="http://schemas.openxmlformats.org/officeDocument/2006/relationships/slide" Target="/ppt/slides/slide11.xml" Id="R8fd46911a9534a55" /><Relationship Type="http://schemas.openxmlformats.org/officeDocument/2006/relationships/slide" Target="/ppt/slides/slide12.xml" Id="R5dabe6c541e147d1" /><Relationship Type="http://schemas.openxmlformats.org/officeDocument/2006/relationships/slide" Target="/ppt/slides/slide13.xml" Id="R39feff61831c406f" /><Relationship Type="http://schemas.openxmlformats.org/officeDocument/2006/relationships/slide" Target="/ppt/slides/slide14.xml" Id="Rb666983a6cee46b0" /><Relationship Type="http://schemas.openxmlformats.org/officeDocument/2006/relationships/slide" Target="/ppt/slides/slide15.xml" Id="Rf9f760be5c07475e" /><Relationship Type="http://schemas.openxmlformats.org/officeDocument/2006/relationships/slide" Target="/ppt/slides/slide16.xml" Id="Red95531335584d66" /><Relationship Type="http://schemas.openxmlformats.org/officeDocument/2006/relationships/slide" Target="/ppt/slides/slide17.xml" Id="Rf4e22a2f89c1466d" /><Relationship Type="http://schemas.openxmlformats.org/officeDocument/2006/relationships/slide" Target="/ppt/slides/slide18.xml" Id="R061b680da6ff48ae" /><Relationship Type="http://schemas.openxmlformats.org/officeDocument/2006/relationships/slide" Target="/ppt/slides/slide19.xml" Id="Re306279ecfe44838" /><Relationship Type="http://schemas.openxmlformats.org/officeDocument/2006/relationships/slide" Target="/ppt/slides/slide20.xml" Id="R9879922ac1e24e4b" /><Relationship Type="http://schemas.openxmlformats.org/officeDocument/2006/relationships/slide" Target="/ppt/slides/slide21.xml" Id="Re020ea48d7e34580" /><Relationship Type="http://schemas.openxmlformats.org/officeDocument/2006/relationships/slide" Target="/ppt/slides/slide22.xml" Id="R60ba50501d87449c" /><Relationship Type="http://schemas.openxmlformats.org/officeDocument/2006/relationships/slide" Target="/ppt/slides/slide23.xml" Id="Rd438caeaaf6c43d0" /><Relationship Type="http://schemas.openxmlformats.org/officeDocument/2006/relationships/slide" Target="/ppt/slides/slide24.xml" Id="Re678e4373d194c6c" /><Relationship Type="http://schemas.openxmlformats.org/officeDocument/2006/relationships/slide" Target="/ppt/slides/slide25.xml" Id="Ra26ed63a63674801" /><Relationship Type="http://schemas.openxmlformats.org/officeDocument/2006/relationships/slide" Target="/ppt/slides/slide26.xml" Id="Rb178378f0e184afe" /><Relationship Type="http://schemas.openxmlformats.org/officeDocument/2006/relationships/slide" Target="/ppt/slides/slide27.xml" Id="R667b5fd8906a45f8" /><Relationship Type="http://schemas.openxmlformats.org/officeDocument/2006/relationships/slide" Target="/ppt/slides/slide28.xml" Id="Ra2272d171e454abf" /><Relationship Type="http://schemas.openxmlformats.org/officeDocument/2006/relationships/slide" Target="/ppt/slides/slide29.xml" Id="R1ab7526a507546d3" /><Relationship Type="http://schemas.openxmlformats.org/officeDocument/2006/relationships/slide" Target="/ppt/slides/slide30.xml" Id="R6095c7e20481419e" /><Relationship Type="http://schemas.openxmlformats.org/officeDocument/2006/relationships/slide" Target="/ppt/slides/slide31.xml" Id="R73e91207157147a5" /><Relationship Type="http://schemas.openxmlformats.org/officeDocument/2006/relationships/slide" Target="/ppt/slides/slide32.xml" Id="R8450cd32953c4e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8c72b1af6341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cademic Slides · 学术蓝">
      <a:dk1>
        <a:srgbClr val="0B0F17"/>
      </a:dk1>
      <a:lt1>
        <a:srgbClr val="FFFFFF"/>
      </a:lt1>
      <a:dk2>
        <a:srgbClr val="10294C"/>
      </a:dk2>
      <a:lt2>
        <a:srgbClr val="E7EBF0"/>
      </a:lt2>
      <a:accent1>
        <a:srgbClr val="183A6A"/>
      </a:accent1>
      <a:accent2>
        <a:srgbClr val="5877A2"/>
      </a:accent2>
      <a:accent3>
        <a:srgbClr val="39786E"/>
      </a:accent3>
      <a:accent4>
        <a:srgbClr val="B77A2E"/>
      </a:accent4>
      <a:accent5>
        <a:srgbClr val="725A8B"/>
      </a:accent5>
      <a:accent6>
        <a:srgbClr val="A5424A"/>
      </a:accent6>
      <a:hlink>
        <a:srgbClr val="183A6A"/>
      </a:hlink>
      <a:folHlink>
        <a:srgbClr val="725A8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Slides · 学术蓝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9d454f0f454ec3" /><Relationship Type="http://schemas.openxmlformats.org/officeDocument/2006/relationships/notesMaster" Target="/ppt/notesMasters/notesMaster1.xml" Id="Racc570b25e1144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9eec5721964bbf" /><Relationship Type="http://schemas.openxmlformats.org/officeDocument/2006/relationships/notesMaster" Target="/ppt/notesMasters/notesMaster1.xml" Id="R0481739d6b594b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ffe2ea81b34f07" /><Relationship Type="http://schemas.openxmlformats.org/officeDocument/2006/relationships/notesMaster" Target="/ppt/notesMasters/notesMaster1.xml" Id="R1acc78af9fdd48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6ae9f00d814a16" /><Relationship Type="http://schemas.openxmlformats.org/officeDocument/2006/relationships/notesMaster" Target="/ppt/notesMasters/notesMaster1.xml" Id="R34fcec82806540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2d651bd56c4ffe" /><Relationship Type="http://schemas.openxmlformats.org/officeDocument/2006/relationships/notesMaster" Target="/ppt/notesMasters/notesMaster1.xml" Id="Re02a4222495d42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9e5ea35b7f4b78" /><Relationship Type="http://schemas.openxmlformats.org/officeDocument/2006/relationships/notesMaster" Target="/ppt/notesMasters/notesMaster1.xml" Id="R21a900c6b06c4e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704f40ef954952" /><Relationship Type="http://schemas.openxmlformats.org/officeDocument/2006/relationships/notesMaster" Target="/ppt/notesMasters/notesMaster1.xml" Id="R4606f897e1de4c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622c1f53f3410f" /><Relationship Type="http://schemas.openxmlformats.org/officeDocument/2006/relationships/notesMaster" Target="/ppt/notesMasters/notesMaster1.xml" Id="R2f83c96faf4f41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430f7329074eee" /><Relationship Type="http://schemas.openxmlformats.org/officeDocument/2006/relationships/notesMaster" Target="/ppt/notesMasters/notesMaster1.xml" Id="R389a0a45d8de46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bda125a34c4e83" /><Relationship Type="http://schemas.openxmlformats.org/officeDocument/2006/relationships/notesMaster" Target="/ppt/notesMasters/notesMaster1.xml" Id="Rb59db290ad8848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6850d3e96648b2" /><Relationship Type="http://schemas.openxmlformats.org/officeDocument/2006/relationships/notesMaster" Target="/ppt/notesMasters/notesMaster1.xml" Id="Rd8764ffc774e47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94673eb41848e9" /><Relationship Type="http://schemas.openxmlformats.org/officeDocument/2006/relationships/notesMaster" Target="/ppt/notesMasters/notesMaster1.xml" Id="Rb1305a6f404743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0b9f18949b447f" /><Relationship Type="http://schemas.openxmlformats.org/officeDocument/2006/relationships/notesMaster" Target="/ppt/notesMasters/notesMaster1.xml" Id="R32b460da128a41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b421dcb2934062" /><Relationship Type="http://schemas.openxmlformats.org/officeDocument/2006/relationships/notesMaster" Target="/ppt/notesMasters/notesMaster1.xml" Id="R5459d5f0f4ef4a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81f802ef3b415a" /><Relationship Type="http://schemas.openxmlformats.org/officeDocument/2006/relationships/notesMaster" Target="/ppt/notesMasters/notesMaster1.xml" Id="R08872bee3f5847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7dc01939dc4f82" /><Relationship Type="http://schemas.openxmlformats.org/officeDocument/2006/relationships/notesMaster" Target="/ppt/notesMasters/notesMaster1.xml" Id="Rfd0a72676cc645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3220ad32da4730" /><Relationship Type="http://schemas.openxmlformats.org/officeDocument/2006/relationships/notesMaster" Target="/ppt/notesMasters/notesMaster1.xml" Id="R81b7f5dd772b48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e85c448cbc4dde" /><Relationship Type="http://schemas.openxmlformats.org/officeDocument/2006/relationships/notesMaster" Target="/ppt/notesMasters/notesMaster1.xml" Id="R9360c76fcf7243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64837a0e0da42ef" /><Relationship Type="http://schemas.openxmlformats.org/officeDocument/2006/relationships/notesMaster" Target="/ppt/notesMasters/notesMaster1.xml" Id="R91ee187357e24f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4be2b113ac4039" /><Relationship Type="http://schemas.openxmlformats.org/officeDocument/2006/relationships/notesMaster" Target="/ppt/notesMasters/notesMaster1.xml" Id="R7a4fee2f0ede43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e6fc366afe24532" /><Relationship Type="http://schemas.openxmlformats.org/officeDocument/2006/relationships/notesMaster" Target="/ppt/notesMasters/notesMaster1.xml" Id="R41cb489261e54be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27881833cc445e" /><Relationship Type="http://schemas.openxmlformats.org/officeDocument/2006/relationships/notesMaster" Target="/ppt/notesMasters/notesMaster1.xml" Id="R397c7956d0db4ea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eb149d330604e89" /><Relationship Type="http://schemas.openxmlformats.org/officeDocument/2006/relationships/notesMaster" Target="/ppt/notesMasters/notesMaster1.xml" Id="Rce156ee408f9442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875913e622441dc" /><Relationship Type="http://schemas.openxmlformats.org/officeDocument/2006/relationships/notesMaster" Target="/ppt/notesMasters/notesMaster1.xml" Id="R794ca52c89cb4d7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766adc48aa54bce" /><Relationship Type="http://schemas.openxmlformats.org/officeDocument/2006/relationships/notesMaster" Target="/ppt/notesMasters/notesMaster1.xml" Id="R655a6b2d56614dd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7ccea26f2854c3c" /><Relationship Type="http://schemas.openxmlformats.org/officeDocument/2006/relationships/notesMaster" Target="/ppt/notesMasters/notesMaster1.xml" Id="R2e3d8c95b9eb437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e624028f4c343e6" /><Relationship Type="http://schemas.openxmlformats.org/officeDocument/2006/relationships/notesMaster" Target="/ppt/notesMasters/notesMaster1.xml" Id="Re32a514bc7d84e6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f93ea9f013b4d2b" /><Relationship Type="http://schemas.openxmlformats.org/officeDocument/2006/relationships/notesMaster" Target="/ppt/notesMasters/notesMaster1.xml" Id="Rc50aad5059944db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3bddda136a1484c" /><Relationship Type="http://schemas.openxmlformats.org/officeDocument/2006/relationships/notesMaster" Target="/ppt/notesMasters/notesMaster1.xml" Id="R11728ac26d504dc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697815af81b4b23" /><Relationship Type="http://schemas.openxmlformats.org/officeDocument/2006/relationships/notesMaster" Target="/ppt/notesMasters/notesMaster1.xml" Id="Rded08b2e869d4a8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f54ef2c08074806" /><Relationship Type="http://schemas.openxmlformats.org/officeDocument/2006/relationships/notesMaster" Target="/ppt/notesMasters/notesMaster1.xml" Id="R41ee3686ee19440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30458e18aca4640" /><Relationship Type="http://schemas.openxmlformats.org/officeDocument/2006/relationships/notesMaster" Target="/ppt/notesMasters/notesMaster1.xml" Id="Re284c4ecae4b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可解释机器学习风险预测研究”。短题目封面只交代课题、答辩阶段和正式身份信息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过渡：下一页进入“面向复杂场景的多源异构数据融合、机制解释与可验证决策方法研究”。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开题·中期答辩通用版式注册表：cover-short-title；layoutId=cover-short-title</a:t>
            </a:r>
          </a:p>
          <a:p xmlns:a="http://schemas.openxmlformats.org/drawingml/2006/main">
            <a:r>
              <a:t>- [template-heritage] 开题·中期通用布局的 clean-generated 抽象视觉 heritage；layoutId=cover-short-title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面向复杂场景的多源异构数据融合、机制解释与可验证决策方法研究”。长题目封面扩大标题区，不通过缩小字号强行塞入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过渡：下一页进入“汇报结构由证据链决定”。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开题·中期答辩通用版式注册表：cover-long-title；layoutId=cover-long-title</a:t>
            </a:r>
          </a:p>
          <a:p xmlns:a="http://schemas.openxmlformats.org/drawingml/2006/main">
            <a:r>
              <a:t>- [template-heritage] 开题·中期通用布局的 clean-generated 抽象视觉 heritage；layoutId=cover-long-title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汇报结构由证据链决定”。目录可以3至7部分自适应，不固定开题或中期的章节数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过渡：下一页进入“方法与验证”。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开题·中期答辩通用版式注册表：agenda-adaptive；layoutId=agenda-adaptive</a:t>
            </a:r>
          </a:p>
          <a:p xmlns:a="http://schemas.openxmlformats.org/drawingml/2006/main">
            <a:r>
              <a:t>- [template-heritage] 开题·中期通用布局的 clean-generated 抽象视觉 heritage；layoutId=agenda-adaptive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本页示范“方法与验证”。章节页用一个桥接问题建立节奏，不承担正文证据。正式使用时，先判断当前是开题计划性叙事还是中期实绩性叙事，再根据真实证据选择布局；不自然匹配时使用自由画布。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过渡：下一页进入“本次评审需要形成三个判断”。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开题·中期答辩通用版式注册表：section-divider；layoutId=section-divider</a:t>
            </a:r>
          </a:p>
          <a:p xmlns:a="http://schemas.openxmlformats.org/drawingml/2006/main">
            <a:r>
              <a:t>- [template-heritage] 开题·中期通用布局的 clean-generated 抽象视觉 heritage；layoutId=section-divider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本次评审需要形成三个判断”。开题关心价值与可行性，中期关心实际证据与剩余交付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过渡：下一页进入“敬请各位老师批评指正”。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开题·中期答辩通用版式注册表：evaluation-focus；layoutId=evaluation-focus</a:t>
            </a:r>
          </a:p>
          <a:p xmlns:a="http://schemas.openxmlformats.org/drawingml/2006/main">
            <a:r>
              <a:t>- [template-heritage] 开题·中期通用布局的 clean-generated 抽象视觉 heritage；layoutId=evaluation-focus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敬请各位老师批评指正”。结束页简洁收束，实质结论和评审请求应在前一页完成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过渡：下一页进入“现实信号和技术限制共同定义了研究问题”。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开题·中期答辩通用版式注册表：closing-feedback；layoutId=closing-feedback</a:t>
            </a:r>
          </a:p>
          <a:p xmlns:a="http://schemas.openxmlformats.org/drawingml/2006/main">
            <a:r>
              <a:t>- [template-heritage] 开题·中期通用布局的 clean-generated 抽象视觉 heritage；layoutId=closing-feedback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现实信号和技术限制共同定义了研究问题”。背景页必须从可核对证据推到核心问题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过渡：下一页进入“三条研究路线在证据直接性上仍有断层”。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开题·中期答辩通用版式注册表：context-stakes；layoutId=context-stakes</a:t>
            </a:r>
          </a:p>
          <a:p xmlns:a="http://schemas.openxmlformats.org/drawingml/2006/main">
            <a:r>
              <a:t>- [template-heritage] 开题·中期通用布局的 clean-generated 抽象视觉 heritage；layoutId=context-stakes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三条研究路线在证据直接性上仍有断层”。文献综述应按共同维度比较，而不是默认分成国内与国外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过渡：下一页进入“已知结论无法直接回答目标场景中的机制问题”。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开题·中期答辩通用版式注册表：literature-landscape；layoutId=literature-landscape</a:t>
            </a:r>
          </a:p>
          <a:p xmlns:a="http://schemas.openxmlformats.org/drawingml/2006/main">
            <a:r>
              <a:t>- [template-heritage] 开题·中期通用布局的 clean-generated 抽象视觉 heritage；layoutId=literature-landscape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已知结论无法直接回答目标场景中的机制问题”。缺口必须由已知证据、边界和未解问题逐步推出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过渡：下一页进入“核心假设将研究问题转化为可否证的预测”。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开题·中期答辩通用版式注册表：evidence-gap；layoutId=evidence-gap</a:t>
            </a:r>
          </a:p>
          <a:p xmlns:a="http://schemas.openxmlformats.org/drawingml/2006/main">
            <a:r>
              <a:t>- [template-heritage] 开题·中期通用布局的 clean-generated 抽象视觉 heritage；layoutId=evidence-gap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核心假设将研究问题转化为可否证的预测”。问题、假设、预测和判据应能在一页上互相对应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过渡：下一页进入“三个工作包逐步回答总目标，但数量不由模板固定”。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开题·中期答辩通用版式注册表：question-hypothesis；layoutId=question-hypothesis</a:t>
            </a:r>
          </a:p>
          <a:p xmlns:a="http://schemas.openxmlformats.org/drawingml/2006/main">
            <a:r>
              <a:t>- [template-heritage] 开题·中期通用布局的 clean-generated 抽象视觉 heritage；layoutId=question-hypothesis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三个工作包逐步回答总目标，但数量不由模板固定”。每个工作包必须有独立问题、方法和交付证据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过渡：下一页进入“输入通过核心机制影响结果，并受边界条件调节”。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开题·中期答辩通用版式注册表：objectives-workpackages；layoutId=objectives-workpackages</a:t>
            </a:r>
          </a:p>
          <a:p xmlns:a="http://schemas.openxmlformats.org/drawingml/2006/main">
            <a:r>
              <a:t>- [template-heritage] 开题·中期通用布局的 clean-generated 抽象视觉 heritage；layoutId=objectives-workpackages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输入通过核心机制影响结果，并受边界条件调节”。概念框架只显示可被证据追踪的真实关系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过渡：下一页进入“结论的有效范围由对象、情境和时间窗共同限定”。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开题·中期答辩通用版式注册表：conceptual-framework；layoutId=conceptual-framework</a:t>
            </a:r>
          </a:p>
          <a:p xmlns:a="http://schemas.openxmlformats.org/drawingml/2006/main">
            <a:r>
              <a:t>- [template-heritage] 开题·中期通用布局的 clean-generated 抽象视觉 heritage；layoutId=conceptual-framework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结论的有效范围由对象、情境和时间窗共同限定”。明确边界是提升可信度，不是削弱研究价值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过渡：下一页进入“研究价值来自可验证的新解释，而不是泛化的学术意义”。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开题·中期答辩通用版式注册表：scope-boundaries；layoutId=scope-boundaries</a:t>
            </a:r>
          </a:p>
          <a:p xmlns:a="http://schemas.openxmlformats.org/drawingml/2006/main">
            <a:r>
              <a:t>- [template-heritage] 开题·中期通用布局的 clean-generated 抽象视觉 heritage；layoutId=scope-boundaries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研究价值来自可验证的新解释，而不是泛化的学术意义”。贡献与价值必须连接缺口、新做法、验证和边界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过渡：下一页进入“技术路线从问题出发，通过验证和边界检查形成结论”。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开题·中期答辩通用版式注册表：contribution-value；layoutId=contribution-value</a:t>
            </a:r>
          </a:p>
          <a:p xmlns:a="http://schemas.openxmlformats.org/drawingml/2006/main">
            <a:r>
              <a:t>- [template-heritage] 开题·中期通用布局的 clean-generated 抽象视觉 heritage；layoutId=contribution-value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技术路线从问题出发，通过验证和边界检查形成结论”。步骤数量由真实依赖决定，不固定为五步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过渡：下一页进入“三层方法架构把数据、分析和验证连成可追踪闭环”。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开题·中期答辩通用版式注册表：technical-route；layoutId=technical-route</a:t>
            </a:r>
          </a:p>
          <a:p xmlns:a="http://schemas.openxmlformats.org/drawingml/2006/main">
            <a:r>
              <a:t>- [template-heritage] 开题·中期通用布局的 clean-generated 抽象视觉 heritage；layoutId=technical-route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三层方法架构把数据、分析和验证连成可追踪闭环”。架构页强调模块之间的输入输出和验证接口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过渡：下一页进入“对照、处理和判据共同决定研究设计是否能回答问题”。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开题·中期答辩通用版式注册表：method-architecture；layoutId=method-architecture</a:t>
            </a:r>
          </a:p>
          <a:p xmlns:a="http://schemas.openxmlformats.org/drawingml/2006/main">
            <a:r>
              <a:t>- [template-heritage] 开题·中期通用布局的 clean-generated 抽象视觉 heritage；layoutId=method-architecture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对照、处理和判据共同决定研究设计是否能回答问题”。设计页不罗列工具，只保留影响证据强度的关键选择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过渡：下一页进入“样本结构和质量控制决定结论能够外推多远”。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开题·中期答辩通用版式注册表：study-design；layoutId=study-design</a:t>
            </a:r>
          </a:p>
          <a:p xmlns:a="http://schemas.openxmlformats.org/drawingml/2006/main">
            <a:r>
              <a:t>- [template-heritage] 开题·中期通用布局的 clean-generated 抽象视觉 heritage；layoutId=study-design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样本结构和质量控制决定结论能够外推多远”。先交代对象、规模、变量和质量，再进入模型结果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过渡：下一页进入“核心模型用一个参数表达目标关系，其余细节留在论文中”。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开题·中期答辩通用版式注册表：data-sample-variables；layoutId=data-sample-variables</a:t>
            </a:r>
          </a:p>
          <a:p xmlns:a="http://schemas.openxmlformats.org/drawingml/2006/main">
            <a:r>
              <a:t>- [template-heritage] 开题·中期通用布局的 clean-generated 抽象视觉 heritage；layoutId=data-sample-variables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核心模型用一个参数表达目标关系，其余细节留在论文中”。公式页只解释答辩需要理解的变量、方向、单位和边界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过渡：下一页进入“验证矩阵同时交代方法、判据和实际状态”。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开题·中期答辩通用版式注册表：model-formula；layoutId=model-formula</a:t>
            </a:r>
          </a:p>
          <a:p xmlns:a="http://schemas.openxmlformats.org/drawingml/2006/main">
            <a:r>
              <a:t>- [template-heritage] 开题·中期通用布局的 clean-generated 抽象视觉 heritage；layoutId=model-formula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验证矩阵同时交代方法、判据和实际状态”。开题显示拟验证路径，中期必须追加实际证据和未通过项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过渡：下一页进入“数据、方法和先行证据共同支撑方案可行”。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开题·中期答辩通用版式注册表：validation-plan-status；layoutId=validation-plan-status</a:t>
            </a:r>
          </a:p>
          <a:p xmlns:a="http://schemas.openxmlformats.org/drawingml/2006/main">
            <a:r>
              <a:t>- [template-heritage] 开题·中期通用布局的 clean-generated 抽象视觉 heritage；layoutId=validation-plan-status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数据、方法和先行证据共同支撑方案可行”。可行性需要可核对证据，不能只写‘条件成熟’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过渡：下一页进入“关键风险必须有触发指标、缓解动作和备选路径”。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开题·中期答辩通用版式注册表：feasibility-resources；layoutId=feasibility-resources</a:t>
            </a:r>
          </a:p>
          <a:p xmlns:a="http://schemas.openxmlformats.org/drawingml/2006/main">
            <a:r>
              <a:t>- [template-heritage] 开题·中期通用布局的 clean-generated 抽象视觉 heritage；layoutId=feasibility-resources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关键风险必须有触发指标、缓解动作和备选路径”。风险页不追求穷尽所有问题，只处理会改变研究结论或交付的事项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过渡：下一页进入“创新点必须能回到缺口、新做法和验证路径”。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开题·中期答辩通用版式注册表：risk-ethics-contingency；layoutId=risk-ethics-contingency</a:t>
            </a:r>
          </a:p>
          <a:p xmlns:a="http://schemas.openxmlformats.org/drawingml/2006/main">
            <a:r>
              <a:t>- [template-heritage] 开题·中期通用布局的 clean-generated 抽象视觉 heritage；layoutId=risk-ethics-contingency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创新点必须能回到缺口、新做法和验证路径”。不使用没有检索与证据支持的‘首次’或‘填补空白’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过渡：下一页进入“预期成果用可验收交付物表达，不把计划写成既成事实”。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开题·中期答辩通用版式注册表：innovation-claims；layoutId=innovation-claims</a:t>
            </a:r>
          </a:p>
          <a:p xmlns:a="http://schemas.openxmlformats.org/drawingml/2006/main">
            <a:r>
              <a:t>- [template-heritage] 开题·中期通用布局的 clean-generated 抽象视觉 heritage；layoutId=innovation-claims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预期成果用可验收交付物表达，不把计划写成既成事实”。每个交付物都需对应研究目标和验收判据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过渡：下一页进入“基线计划用里程碑和交付物组织，而不是日常任务清单”。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开题·中期答辩通用版式注册表：expected-outcomes；layoutId=expected-outcomes</a:t>
            </a:r>
          </a:p>
          <a:p xmlns:a="http://schemas.openxmlformats.org/drawingml/2006/main">
            <a:r>
              <a:t>- [template-heritage] 开题·中期通用布局的 clean-generated 抽象视觉 heritage；layoutId=expected-outcomes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基线计划用里程碑和交付物组织，而不是日常任务清单”。甘特图必须显示阶段、依赖、里程碑和可评审交付物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过渡：下一页进入“开题评审最终需要判断价值、闭环、可行性与风险”。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开题·中期答辩通用版式注册表：baseline-gantt；layoutId=baseline-gantt</a:t>
            </a:r>
          </a:p>
          <a:p xmlns:a="http://schemas.openxmlformats.org/drawingml/2006/main">
            <a:r>
              <a:t>- [template-heritage] 开题·中期通用布局的 clean-generated 抽象视觉 heritage；layoutId=baseline-gantt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开题评审最终需要判断价值、闭环、可行性与风险”。一页收回开场问题，并明确请评委对哪些权衡给出意见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过渡：下一页进入“三个里程碑已有两个形成可验证交付，外部验证存在风险”。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开题·中期答辩通用版式注册表：proposal-decision-check；layoutId=proposal-decision-check</a:t>
            </a:r>
          </a:p>
          <a:p xmlns:a="http://schemas.openxmlformats.org/drawingml/2006/main">
            <a:r>
              <a:t>- [template-heritage] 开题·中期通用布局的 clean-generated 抽象视觉 heritage；layoutId=proposal-decision-check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三个里程碑已有两个形成可验证交付，外部验证存在风险”。中期概览用实际证据和状态说明进展，不使用无基线百分比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过渡：下一页进入“核心方法按计划完成，外部验证延迟一个周期”。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开题·中期答辩通用版式注册表：progress-snapshot；layoutId=progress-snapshot</a:t>
            </a:r>
          </a:p>
          <a:p xmlns:a="http://schemas.openxmlformats.org/drawingml/2006/main">
            <a:r>
              <a:t>- [template-heritage] 开题·中期通用布局的 clean-generated 抽象视觉 heritage；layoutId=progress-snapshot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核心方法按计划完成，外部验证延迟一个周期”。计划与实际的差异要同时解释原因、影响和处理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过渡：下一页进入“核心干预在主要对照下改变了目标结果”。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开题·中期答辩通用版式注册表：plan-vs-actual；layoutId=plan-vs-actual</a:t>
            </a:r>
          </a:p>
          <a:p xmlns:a="http://schemas.openxmlformats.org/drawingml/2006/main">
            <a:r>
              <a:t>- [template-heritage] 开题·中期通用布局的 clean-generated 抽象视觉 heritage；layoutId=plan-vs-actual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核心干预在主要对照下改变了目标结果”。一张主图承担证据，旁边只保留读图方法、主结论和边界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过渡：下一页进入“现象、机制与稳健性证据共同支持阶段结论”。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开题·中期答辩通用版式注册表：leading-result-single；layoutId=leading-result-single</a:t>
            </a:r>
          </a:p>
          <a:p xmlns:a="http://schemas.openxmlformats.org/drawingml/2006/main">
            <a:r>
              <a:t>- [template-heritage] 开题·中期通用布局的 clean-generated 抽象视觉 heritage；layoutId=leading-result-single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现象、机制与稳健性证据共同支持阶段结论”。每个面板承担不同证据角色，但必须共同回答一个问题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过渡：下一页进入“外部样本延迟源于数据授权，已通过备选来源和并行分析纠偏”。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开题·中期答辩通用版式注册表：leading-results-multipanel；layoutId=leading-results-multipanel</a:t>
            </a:r>
          </a:p>
          <a:p xmlns:a="http://schemas.openxmlformats.org/drawingml/2006/main">
            <a:r>
              <a:t>- [template-heritage] 开题·中期通用布局的 clean-generated 抽象视觉 heritage；layoutId=leading-results-multipanel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外部样本延迟源于数据授权，已通过备选来源和并行分析纠偏”。中期偏差页必须说明基线、实际、根因、影响、动作和复查点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过渡：下一页进入“剩余工作围绕外部验证、边界收敛和论文整合展开”。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开题·中期答辩通用版式注册表：deviation-cause-action；layoutId=deviation-cause-action</a:t>
            </a:r>
          </a:p>
          <a:p xmlns:a="http://schemas.openxmlformats.org/drawingml/2006/main">
            <a:r>
              <a:t>- [template-heritage] 开题·中期通用布局的 clean-generated 抽象视觉 heritage；layoutId=deviation-cause-action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剩余工作围绕外部验证、边界收敛和论文整合展开”。更新计划必须显示新时间、依赖、风险、交付物和待决问题。正式使用时，先判断当前是开题计划性叙事还是中期实绩性叙事，再根据真实证据选择布局；不自然匹配时使用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过渡：下一页进入“敬请批评指正”。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开题·中期答辩通用版式注册表：remaining-work-updated-plan；layoutId=remaining-work-updated-plan</a:t>
            </a:r>
          </a:p>
          <a:p xmlns:a="http://schemas.openxmlformats.org/drawingml/2006/main">
            <a:r>
              <a:t>- [template-heritage] 开题·中期通用布局的 clean-generated 抽象视觉 heritage；layoutId=remaining-work-updated-plan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27af4902c49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488376d7a543e8" /><Relationship Type="http://schemas.openxmlformats.org/officeDocument/2006/relationships/slideLayout" Target="/ppt/slideLayouts/slideLayout1.xml" Id="R04ff5ada7f3649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ff5ada7f3649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cademic Slides · 学术蓝">
      <a:dk1>
        <a:srgbClr val="0B0F17"/>
      </a:dk1>
      <a:lt1>
        <a:srgbClr val="FFFFFF"/>
      </a:lt1>
      <a:dk2>
        <a:srgbClr val="10294C"/>
      </a:dk2>
      <a:lt2>
        <a:srgbClr val="E7EBF0"/>
      </a:lt2>
      <a:accent1>
        <a:srgbClr val="183A6A"/>
      </a:accent1>
      <a:accent2>
        <a:srgbClr val="5877A2"/>
      </a:accent2>
      <a:accent3>
        <a:srgbClr val="39786E"/>
      </a:accent3>
      <a:accent4>
        <a:srgbClr val="B77A2E"/>
      </a:accent4>
      <a:accent5>
        <a:srgbClr val="725A8B"/>
      </a:accent5>
      <a:accent6>
        <a:srgbClr val="A5424A"/>
      </a:accent6>
      <a:hlink>
        <a:srgbClr val="183A6A"/>
      </a:hlink>
      <a:folHlink>
        <a:srgbClr val="725A8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Slides · 学术蓝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42aa8570c4221" /><Relationship Type="http://schemas.openxmlformats.org/officeDocument/2006/relationships/notesSlide" Target="/ppt/notesSlides/notesSlide1.xml" Id="R16df36ff7f5048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5e08a12fa47f8" /><Relationship Type="http://schemas.openxmlformats.org/officeDocument/2006/relationships/notesSlide" Target="/ppt/notesSlides/notesSlide2.xml" Id="Rd2b62544280243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0e86ffa894eff" /><Relationship Type="http://schemas.openxmlformats.org/officeDocument/2006/relationships/notesSlide" Target="/ppt/notesSlides/notesSlide3.xml" Id="R290ee25b2ce249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b01ba54fc40d8" /><Relationship Type="http://schemas.openxmlformats.org/officeDocument/2006/relationships/notesSlide" Target="/ppt/notesSlides/notesSlide4.xml" Id="R3e663213841a4e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0f2767bae45be" /><Relationship Type="http://schemas.openxmlformats.org/officeDocument/2006/relationships/notesSlide" Target="/ppt/notesSlides/notesSlide5.xml" Id="R86768f183d284b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7661f77574d94" /><Relationship Type="http://schemas.openxmlformats.org/officeDocument/2006/relationships/notesSlide" Target="/ppt/notesSlides/notesSlide6.xml" Id="R0889ecb697ca4d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d880bce7b4df9" /><Relationship Type="http://schemas.openxmlformats.org/officeDocument/2006/relationships/notesSlide" Target="/ppt/notesSlides/notesSlide7.xml" Id="R024a1dcdda9544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98db83e0f4de8" /><Relationship Type="http://schemas.openxmlformats.org/officeDocument/2006/relationships/notesSlide" Target="/ppt/notesSlides/notesSlide8.xml" Id="R124aeadb8e5541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aff7ed80849da" /><Relationship Type="http://schemas.openxmlformats.org/officeDocument/2006/relationships/notesSlide" Target="/ppt/notesSlides/notesSlide9.xml" Id="R24c2e420ac8045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5a59b1fb54fd4" /><Relationship Type="http://schemas.openxmlformats.org/officeDocument/2006/relationships/notesSlide" Target="/ppt/notesSlides/notesSlide10.xml" Id="R05aa80e640bc42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94851875b46c8" /><Relationship Type="http://schemas.openxmlformats.org/officeDocument/2006/relationships/notesSlide" Target="/ppt/notesSlides/notesSlide11.xml" Id="R391087e4a45540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d6606d2a54b3d" /><Relationship Type="http://schemas.openxmlformats.org/officeDocument/2006/relationships/notesSlide" Target="/ppt/notesSlides/notesSlide12.xml" Id="R15bcec2e8c6244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d11f9904f420c" /><Relationship Type="http://schemas.openxmlformats.org/officeDocument/2006/relationships/notesSlide" Target="/ppt/notesSlides/notesSlide13.xml" Id="Raa41c3e3776f48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f1a08d8004e2b" /><Relationship Type="http://schemas.openxmlformats.org/officeDocument/2006/relationships/notesSlide" Target="/ppt/notesSlides/notesSlide14.xml" Id="R2234f9ab74054a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e267978dc4e55" /><Relationship Type="http://schemas.openxmlformats.org/officeDocument/2006/relationships/notesSlide" Target="/ppt/notesSlides/notesSlide15.xml" Id="R7e0593e505a143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97f1b9d0b4eb8" /><Relationship Type="http://schemas.openxmlformats.org/officeDocument/2006/relationships/notesSlide" Target="/ppt/notesSlides/notesSlide16.xml" Id="Rfa72f178130c4e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e5c38a0cb415a" /><Relationship Type="http://schemas.openxmlformats.org/officeDocument/2006/relationships/notesSlide" Target="/ppt/notesSlides/notesSlide17.xml" Id="Rd28df50786af48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babfc07b840d8" /><Relationship Type="http://schemas.openxmlformats.org/officeDocument/2006/relationships/notesSlide" Target="/ppt/notesSlides/notesSlide18.xml" Id="R140866c21ac345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3f1bad83f4ab8" /><Relationship Type="http://schemas.openxmlformats.org/officeDocument/2006/relationships/image" Target="/ppt/media/image.png" Id="R68eb29024b2c4c2d" /><Relationship Type="http://schemas.openxmlformats.org/officeDocument/2006/relationships/notesSlide" Target="/ppt/notesSlides/notesSlide19.xml" Id="Rf9fbbe8983dc45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bab7178e94122" /><Relationship Type="http://schemas.openxmlformats.org/officeDocument/2006/relationships/notesSlide" Target="/ppt/notesSlides/notesSlide20.xml" Id="Rf07329cd282c41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dba5f32fe492f" /><Relationship Type="http://schemas.openxmlformats.org/officeDocument/2006/relationships/notesSlide" Target="/ppt/notesSlides/notesSlide21.xml" Id="R242f83c944f2434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a1706b34c4853" /><Relationship Type="http://schemas.openxmlformats.org/officeDocument/2006/relationships/notesSlide" Target="/ppt/notesSlides/notesSlide22.xml" Id="R5b841bdd667745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8ac32a5b94a05" /><Relationship Type="http://schemas.openxmlformats.org/officeDocument/2006/relationships/notesSlide" Target="/ppt/notesSlides/notesSlide23.xml" Id="R07fd515d0c3c48e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13d2c75764cb0" /><Relationship Type="http://schemas.openxmlformats.org/officeDocument/2006/relationships/notesSlide" Target="/ppt/notesSlides/notesSlide24.xml" Id="R90389ca080824bb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86f467f8441d3" /><Relationship Type="http://schemas.openxmlformats.org/officeDocument/2006/relationships/notesSlide" Target="/ppt/notesSlides/notesSlide25.xml" Id="R4db0e69dae784f2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89586c6084da6" /><Relationship Type="http://schemas.openxmlformats.org/officeDocument/2006/relationships/notesSlide" Target="/ppt/notesSlides/notesSlide26.xml" Id="R09783172e58f48f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a483922814a89" /><Relationship Type="http://schemas.openxmlformats.org/officeDocument/2006/relationships/notesSlide" Target="/ppt/notesSlides/notesSlide27.xml" Id="R64dd01c3882e492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5e4891fbf4d89" /><Relationship Type="http://schemas.openxmlformats.org/officeDocument/2006/relationships/notesSlide" Target="/ppt/notesSlides/notesSlide28.xml" Id="Rad474033f85f407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c62ac1dd1491a" /><Relationship Type="http://schemas.openxmlformats.org/officeDocument/2006/relationships/notesSlide" Target="/ppt/notesSlides/notesSlide29.xml" Id="Re439a8ef8739436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d68caf9864fe1" /><Relationship Type="http://schemas.openxmlformats.org/officeDocument/2006/relationships/notesSlide" Target="/ppt/notesSlides/notesSlide30.xml" Id="Rfb59b447de134b4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d14e2fc3d4795" /><Relationship Type="http://schemas.openxmlformats.org/officeDocument/2006/relationships/notesSlide" Target="/ppt/notesSlides/notesSlide31.xml" Id="R63137ef80b0c424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2d3eaaea44f96" /><Relationship Type="http://schemas.openxmlformats.org/officeDocument/2006/relationships/notesSlide" Target="/ppt/notesSlides/notesSlide32.xml" Id="R6b34febc886440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ilestone-cover-mode">
            <a:extLst xmlns:a="http://schemas.openxmlformats.org/drawingml/2006/main">
              <a:ext uri="{FF2B5EF4-FFF2-40B4-BE49-F238E27FC236}">
                <a16:creationId xmlns:a16="http://schemas.microsoft.com/office/drawing/2014/main" id="{B6CF35FF-C3B3-4C4B-950F-9082002B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2" name="milestone-cover-mode-rule">
            <a:extLst xmlns:a="http://schemas.openxmlformats.org/drawingml/2006/main">
              <a:ext uri="{FF2B5EF4-FFF2-40B4-BE49-F238E27FC236}">
                <a16:creationId xmlns:a16="http://schemas.microsoft.com/office/drawing/2014/main" id="{0BC98E49-73D5-477D-A21E-F29967CE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66775"/>
            <a:ext cx="1847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3" name="milestone-cover-institution">
            <a:extLst xmlns:a="http://schemas.openxmlformats.org/drawingml/2006/main">
              <a:ext uri="{FF2B5EF4-FFF2-40B4-BE49-F238E27FC236}">
                <a16:creationId xmlns:a16="http://schemas.microsoft.com/office/drawing/2014/main" id="{89782E76-5FF3-4D42-9F47-8ECCF5BE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4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E51CBB3F-0D1F-4CBB-B41A-512618CA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5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01229FC1-E938-4BD3-B9D0-65933824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05" y="287655"/>
            <a:ext cx="472440" cy="4724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8C5F0E3B-3F75-47AD-B63A-C8DD42CC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7" name="milestone-cover-title">
            <a:extLst xmlns:a="http://schemas.openxmlformats.org/drawingml/2006/main">
              <a:ext uri="{FF2B5EF4-FFF2-40B4-BE49-F238E27FC236}">
                <a16:creationId xmlns:a16="http://schemas.microsoft.com/office/drawing/2014/main" id="{925273F9-0D65-4F8C-B784-E9D772BF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00" b="1" i="0">
                <a:solidFill>
                  <a:srgbClr val="0B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00" b="1" i="0">
                <a:solidFill>
                  <a:srgbClr val="0B0F17"/>
                </a:solidFill>
                <a:latin typeface="Microsoft YaHei"/>
                <a:ea typeface="Microsoft YaHei"/>
                <a:cs typeface="Microsoft YaHei"/>
              </a:rPr>
              <a:t>可解释机器学习风险预测研究</a:t>
            </a:r>
          </a:p>
        </p:txBody>
      </p:sp>
      <p:sp>
        <p:nvSpPr>
          <p:cNvPr id="8" name="milestone-cover-title-rule">
            <a:extLst xmlns:a="http://schemas.openxmlformats.org/drawingml/2006/main">
              <a:ext uri="{FF2B5EF4-FFF2-40B4-BE49-F238E27FC236}">
                <a16:creationId xmlns:a16="http://schemas.microsoft.com/office/drawing/2014/main" id="{890DF681-2F19-4EEB-BA5A-FCF2871C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9" name="milestone-cover-subtitle">
            <a:extLst xmlns:a="http://schemas.openxmlformats.org/drawingml/2006/main">
              <a:ext uri="{FF2B5EF4-FFF2-40B4-BE49-F238E27FC236}">
                <a16:creationId xmlns:a16="http://schemas.microsoft.com/office/drawing/2014/main" id="{351B7F2D-7CF2-40CC-B74B-39446655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Research Proposal</a:t>
            </a:r>
          </a:p>
        </p:txBody>
      </p:sp>
      <p:sp>
        <p:nvSpPr>
          <p:cNvPr id="10" name="milestone-cover-footer-band">
            <a:extLst xmlns:a="http://schemas.openxmlformats.org/drawingml/2006/main">
              <a:ext uri="{FF2B5EF4-FFF2-40B4-BE49-F238E27FC236}">
                <a16:creationId xmlns:a16="http://schemas.microsoft.com/office/drawing/2014/main" id="{29CBF546-2F41-4053-BF1E-2F8575A5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14850"/>
            <a:ext cx="12192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1" name="milestone-cover-positioning">
            <a:extLst xmlns:a="http://schemas.openxmlformats.org/drawingml/2006/main">
              <a:ext uri="{FF2B5EF4-FFF2-40B4-BE49-F238E27FC236}">
                <a16:creationId xmlns:a16="http://schemas.microsoft.com/office/drawing/2014/main" id="{33221F2C-3EA0-483F-A7D5-514AEE8E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AF0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EAF0F8"/>
                </a:solidFill>
                <a:latin typeface="Microsoft YaHei"/>
                <a:ea typeface="Microsoft YaHei"/>
                <a:cs typeface="Microsoft YaHei"/>
              </a:rPr>
              <a:t>从研究问题出发，说明方法、可行性、风险与计划</a:t>
            </a:r>
          </a:p>
        </p:txBody>
      </p:sp>
      <p:sp>
        <p:nvSpPr>
          <p:cNvPr id="12" name="milestone-cover-meta-label-1">
            <a:extLst xmlns:a="http://schemas.openxmlformats.org/drawingml/2006/main">
              <a:ext uri="{FF2B5EF4-FFF2-40B4-BE49-F238E27FC236}">
                <a16:creationId xmlns:a16="http://schemas.microsoft.com/office/drawing/2014/main" id="{06A43323-D7BD-41C5-A41A-B45C613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13" name="milestone-cover-meta-value-1">
            <a:extLst xmlns:a="http://schemas.openxmlformats.org/drawingml/2006/main">
              <a:ext uri="{FF2B5EF4-FFF2-40B4-BE49-F238E27FC236}">
                <a16:creationId xmlns:a16="http://schemas.microsoft.com/office/drawing/2014/main" id="{B4E9E7E2-B888-49E3-9DE6-5556B6DA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示范姓名</a:t>
            </a:r>
          </a:p>
        </p:txBody>
      </p:sp>
      <p:sp>
        <p:nvSpPr>
          <p:cNvPr id="14" name="milestone-cover-meta-label-2">
            <a:extLst xmlns:a="http://schemas.openxmlformats.org/drawingml/2006/main">
              <a:ext uri="{FF2B5EF4-FFF2-40B4-BE49-F238E27FC236}">
                <a16:creationId xmlns:a16="http://schemas.microsoft.com/office/drawing/2014/main" id="{CA7D7DC3-0B17-4CD5-97DE-DC4D1F5C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626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5" name="milestone-cover-meta-value-2">
            <a:extLst xmlns:a="http://schemas.openxmlformats.org/drawingml/2006/main">
              <a:ext uri="{FF2B5EF4-FFF2-40B4-BE49-F238E27FC236}">
                <a16:creationId xmlns:a16="http://schemas.microsoft.com/office/drawing/2014/main" id="{F19DA1EB-7467-453E-9218-7D5B7718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867400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示范导师</a:t>
            </a:r>
          </a:p>
        </p:txBody>
      </p:sp>
      <p:sp>
        <p:nvSpPr>
          <p:cNvPr id="16" name="milestone-cover-meta-label-3">
            <a:extLst xmlns:a="http://schemas.openxmlformats.org/drawingml/2006/main">
              <a:ext uri="{FF2B5EF4-FFF2-40B4-BE49-F238E27FC236}">
                <a16:creationId xmlns:a16="http://schemas.microsoft.com/office/drawing/2014/main" id="{DB2D4694-97B4-42EF-9503-657F16EB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626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17" name="milestone-cover-meta-value-3">
            <a:extLst xmlns:a="http://schemas.openxmlformats.org/drawingml/2006/main">
              <a:ext uri="{FF2B5EF4-FFF2-40B4-BE49-F238E27FC236}">
                <a16:creationId xmlns:a16="http://schemas.microsoft.com/office/drawing/2014/main" id="{7B537745-8B77-4AA9-8252-F2A98728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18" name="milestone-cover-meta-label-4">
            <a:extLst xmlns:a="http://schemas.openxmlformats.org/drawingml/2006/main">
              <a:ext uri="{FF2B5EF4-FFF2-40B4-BE49-F238E27FC236}">
                <a16:creationId xmlns:a16="http://schemas.microsoft.com/office/drawing/2014/main" id="{FDEACC1D-2F4B-4999-9CC8-CC10C124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5626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rPr>
              <a:t>日期</a:t>
            </a:r>
          </a:p>
        </p:txBody>
      </p:sp>
      <p:sp>
        <p:nvSpPr>
          <p:cNvPr id="19" name="milestone-cover-meta-value-4">
            <a:extLst xmlns:a="http://schemas.openxmlformats.org/drawingml/2006/main">
              <a:ext uri="{FF2B5EF4-FFF2-40B4-BE49-F238E27FC236}">
                <a16:creationId xmlns:a16="http://schemas.microsoft.com/office/drawing/2014/main" id="{08EAAE3E-B310-4BC2-ACB3-D38470EA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67400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20XX 年 X 月</a:t>
            </a:r>
          </a:p>
        </p:txBody>
      </p:sp>
    </p:spTree>
    <p:extLst>
      <p:ext uri="{BB962C8B-B14F-4D97-AF65-F5344CB8AC3E}">
        <p14:creationId xmlns:p14="http://schemas.microsoft.com/office/powerpoint/2010/main" val="1586329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ilestone-cover-mode">
            <a:extLst xmlns:a="http://schemas.openxmlformats.org/drawingml/2006/main">
              <a:ext uri="{FF2B5EF4-FFF2-40B4-BE49-F238E27FC236}">
                <a16:creationId xmlns:a16="http://schemas.microsoft.com/office/drawing/2014/main" id="{59B16C4A-8A59-4595-A061-36DB788E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中期汇报</a:t>
            </a:r>
          </a:p>
        </p:txBody>
      </p:sp>
      <p:sp>
        <p:nvSpPr>
          <p:cNvPr id="2" name="milestone-cover-mode-rule">
            <a:extLst xmlns:a="http://schemas.openxmlformats.org/drawingml/2006/main">
              <a:ext uri="{FF2B5EF4-FFF2-40B4-BE49-F238E27FC236}">
                <a16:creationId xmlns:a16="http://schemas.microsoft.com/office/drawing/2014/main" id="{3BDB4C43-3C65-4BB9-AD54-737250E2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66775"/>
            <a:ext cx="1847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3" name="milestone-cover-institution">
            <a:extLst xmlns:a="http://schemas.openxmlformats.org/drawingml/2006/main">
              <a:ext uri="{FF2B5EF4-FFF2-40B4-BE49-F238E27FC236}">
                <a16:creationId xmlns:a16="http://schemas.microsoft.com/office/drawing/2014/main" id="{319C877C-F5C3-42B2-8ABA-B8C52B1B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示范学术机构</a:t>
            </a:r>
          </a:p>
        </p:txBody>
      </p:sp>
      <p:sp>
        <p:nvSpPr>
          <p:cNvPr id="4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E9D34076-67F6-490D-BBF1-83D9953B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5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669AB6F5-D8D9-4FB9-B9FD-EA3CE3CE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05" y="287655"/>
            <a:ext cx="472440" cy="4724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B3E67A6E-2B66-464D-A4AA-5E8B42C9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7" name="milestone-cover-title">
            <a:extLst xmlns:a="http://schemas.openxmlformats.org/drawingml/2006/main">
              <a:ext uri="{FF2B5EF4-FFF2-40B4-BE49-F238E27FC236}">
                <a16:creationId xmlns:a16="http://schemas.microsoft.com/office/drawing/2014/main" id="{DDFFAA93-C381-400C-81DB-EC175522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0B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0B0F17"/>
                </a:solidFill>
                <a:latin typeface="Microsoft YaHei"/>
                <a:ea typeface="Microsoft YaHei"/>
                <a:cs typeface="Microsoft YaHei"/>
              </a:rPr>
              <a:t>面向复杂场景的多源异构数据融合、机制解释与可验证决策方法研究</a:t>
            </a:r>
          </a:p>
        </p:txBody>
      </p:sp>
      <p:sp>
        <p:nvSpPr>
          <p:cNvPr id="8" name="milestone-cover-title-rule">
            <a:extLst xmlns:a="http://schemas.openxmlformats.org/drawingml/2006/main">
              <a:ext uri="{FF2B5EF4-FFF2-40B4-BE49-F238E27FC236}">
                <a16:creationId xmlns:a16="http://schemas.microsoft.com/office/drawing/2014/main" id="{1557F829-FEEF-4F09-8488-831BA110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9" name="milestone-cover-subtitle">
            <a:extLst xmlns:a="http://schemas.openxmlformats.org/drawingml/2006/main">
              <a:ext uri="{FF2B5EF4-FFF2-40B4-BE49-F238E27FC236}">
                <a16:creationId xmlns:a16="http://schemas.microsoft.com/office/drawing/2014/main" id="{B32BD74C-AD82-4068-B054-F25455EF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Midterm Progress Review</a:t>
            </a:r>
          </a:p>
        </p:txBody>
      </p:sp>
      <p:sp>
        <p:nvSpPr>
          <p:cNvPr id="10" name="milestone-cover-footer-band">
            <a:extLst xmlns:a="http://schemas.openxmlformats.org/drawingml/2006/main">
              <a:ext uri="{FF2B5EF4-FFF2-40B4-BE49-F238E27FC236}">
                <a16:creationId xmlns:a16="http://schemas.microsoft.com/office/drawing/2014/main" id="{4D6D1420-49C0-47D9-ADE9-A49BF8B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14850"/>
            <a:ext cx="12192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1" name="milestone-cover-positioning">
            <a:extLst xmlns:a="http://schemas.openxmlformats.org/drawingml/2006/main">
              <a:ext uri="{FF2B5EF4-FFF2-40B4-BE49-F238E27FC236}">
                <a16:creationId xmlns:a16="http://schemas.microsoft.com/office/drawing/2014/main" id="{D03AA633-2F7E-4F8E-B5FC-8EF6C453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AF0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EAF0F8"/>
                </a:solidFill>
                <a:latin typeface="Microsoft YaHei"/>
                <a:ea typeface="Microsoft YaHei"/>
                <a:cs typeface="Microsoft YaHei"/>
              </a:rPr>
              <a:t>以原计划为基线，报告阶段证据、偏差与下一步</a:t>
            </a:r>
          </a:p>
        </p:txBody>
      </p:sp>
      <p:sp>
        <p:nvSpPr>
          <p:cNvPr id="12" name="milestone-cover-meta-label-1">
            <a:extLst xmlns:a="http://schemas.openxmlformats.org/drawingml/2006/main">
              <a:ext uri="{FF2B5EF4-FFF2-40B4-BE49-F238E27FC236}">
                <a16:creationId xmlns:a16="http://schemas.microsoft.com/office/drawing/2014/main" id="{E04DA84F-D077-41B7-8E4E-8F8ACE33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13" name="milestone-cover-meta-value-1">
            <a:extLst xmlns:a="http://schemas.openxmlformats.org/drawingml/2006/main">
              <a:ext uri="{FF2B5EF4-FFF2-40B4-BE49-F238E27FC236}">
                <a16:creationId xmlns:a16="http://schemas.microsoft.com/office/drawing/2014/main" id="{FAF9CFA8-26F6-4299-818C-4EF9D764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示范姓名</a:t>
            </a:r>
          </a:p>
        </p:txBody>
      </p:sp>
      <p:sp>
        <p:nvSpPr>
          <p:cNvPr id="14" name="milestone-cover-meta-label-2">
            <a:extLst xmlns:a="http://schemas.openxmlformats.org/drawingml/2006/main">
              <a:ext uri="{FF2B5EF4-FFF2-40B4-BE49-F238E27FC236}">
                <a16:creationId xmlns:a16="http://schemas.microsoft.com/office/drawing/2014/main" id="{CCE3C5DB-CD1C-41F1-9E11-BA85171F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626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5" name="milestone-cover-meta-value-2">
            <a:extLst xmlns:a="http://schemas.openxmlformats.org/drawingml/2006/main">
              <a:ext uri="{FF2B5EF4-FFF2-40B4-BE49-F238E27FC236}">
                <a16:creationId xmlns:a16="http://schemas.microsoft.com/office/drawing/2014/main" id="{538CAE46-644B-4255-99DB-43802346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867400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示范导师</a:t>
            </a:r>
          </a:p>
        </p:txBody>
      </p:sp>
      <p:sp>
        <p:nvSpPr>
          <p:cNvPr id="16" name="milestone-cover-meta-label-3">
            <a:extLst xmlns:a="http://schemas.openxmlformats.org/drawingml/2006/main">
              <a:ext uri="{FF2B5EF4-FFF2-40B4-BE49-F238E27FC236}">
                <a16:creationId xmlns:a16="http://schemas.microsoft.com/office/drawing/2014/main" id="{F4D57570-58E7-4301-A740-FBAAAF88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626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17" name="milestone-cover-meta-value-3">
            <a:extLst xmlns:a="http://schemas.openxmlformats.org/drawingml/2006/main">
              <a:ext uri="{FF2B5EF4-FFF2-40B4-BE49-F238E27FC236}">
                <a16:creationId xmlns:a16="http://schemas.microsoft.com/office/drawing/2014/main" id="{B1EB2921-AF7B-4C9C-A9AE-9DD46B23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中期汇报</a:t>
            </a:r>
          </a:p>
        </p:txBody>
      </p:sp>
      <p:sp>
        <p:nvSpPr>
          <p:cNvPr id="18" name="milestone-cover-meta-label-4">
            <a:extLst xmlns:a="http://schemas.openxmlformats.org/drawingml/2006/main">
              <a:ext uri="{FF2B5EF4-FFF2-40B4-BE49-F238E27FC236}">
                <a16:creationId xmlns:a16="http://schemas.microsoft.com/office/drawing/2014/main" id="{4EF6C49C-46D8-41E1-998F-BBB6B28A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5626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FCBE0"/>
                </a:solidFill>
                <a:latin typeface="Microsoft YaHei"/>
                <a:ea typeface="Microsoft YaHei"/>
                <a:cs typeface="Microsoft YaHei"/>
              </a:rPr>
              <a:t>日期</a:t>
            </a:r>
          </a:p>
        </p:txBody>
      </p:sp>
      <p:sp>
        <p:nvSpPr>
          <p:cNvPr id="19" name="milestone-cover-meta-value-4">
            <a:extLst xmlns:a="http://schemas.openxmlformats.org/drawingml/2006/main">
              <a:ext uri="{FF2B5EF4-FFF2-40B4-BE49-F238E27FC236}">
                <a16:creationId xmlns:a16="http://schemas.microsoft.com/office/drawing/2014/main" id="{078828DD-641F-4629-BB74-D4CC08FA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67400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20XX 年 X 月</a:t>
            </a:r>
          </a:p>
        </p:txBody>
      </p:sp>
    </p:spTree>
    <p:extLst>
      <p:ext uri="{BB962C8B-B14F-4D97-AF65-F5344CB8AC3E}">
        <p14:creationId xmlns:p14="http://schemas.microsoft.com/office/powerpoint/2010/main" val="141527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milestone-agenda-panel">
            <a:extLst xmlns:a="http://schemas.openxmlformats.org/drawingml/2006/main">
              <a:ext uri="{FF2B5EF4-FFF2-40B4-BE49-F238E27FC236}">
                <a16:creationId xmlns:a16="http://schemas.microsoft.com/office/drawing/2014/main" id="{2C4701A5-FB52-41EF-8BF5-70F65DFD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38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agenda-accent">
            <a:extLst xmlns:a="http://schemas.openxmlformats.org/drawingml/2006/main">
              <a:ext uri="{FF2B5EF4-FFF2-40B4-BE49-F238E27FC236}">
                <a16:creationId xmlns:a16="http://schemas.microsoft.com/office/drawing/2014/main" id="{41D5F15F-8C22-4DC9-983A-AE5DB995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5C3"/>
          </a:solidFill>
          <a:ln xmlns:a="http://schemas.openxmlformats.org/drawingml/2006/main" w="0">
            <a:solidFill>
              <a:srgbClr val="91A5C3"/>
            </a:solidFill>
            <a:prstDash val="solid"/>
          </a:ln>
        </p:spPr>
      </p:sp>
      <p:sp>
        <p:nvSpPr>
          <p:cNvPr id="3" name="milestone-agenda-title">
            <a:extLst xmlns:a="http://schemas.openxmlformats.org/drawingml/2006/main">
              <a:ext uri="{FF2B5EF4-FFF2-40B4-BE49-F238E27FC236}">
                <a16:creationId xmlns:a16="http://schemas.microsoft.com/office/drawing/2014/main" id="{E4E43201-509E-49E0-A7FE-679A6EC4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26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milestone-agenda-subtitle">
            <a:extLst xmlns:a="http://schemas.openxmlformats.org/drawingml/2006/main">
              <a:ext uri="{FF2B5EF4-FFF2-40B4-BE49-F238E27FC236}">
                <a16:creationId xmlns:a16="http://schemas.microsoft.com/office/drawing/2014/main" id="{9BA2529F-3D3E-4BC2-A36C-D7B4A4F6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D8E1EF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D8E1EF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5" name="milestone-agenda-mode">
            <a:extLst xmlns:a="http://schemas.openxmlformats.org/drawingml/2006/main">
              <a:ext uri="{FF2B5EF4-FFF2-40B4-BE49-F238E27FC236}">
                <a16:creationId xmlns:a16="http://schemas.microsoft.com/office/drawing/2014/main" id="{3A3A4E97-D49A-41B1-A450-B67E9F40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6551"/>
          </a:bodyPr>
          <a:lstStyle xmlns:a="http://schemas.openxmlformats.org/drawingml/2006/main"/>
          <a:p xmlns:a="http://schemas.openxmlformats.org/drawingml/2006/main">
            <a:pPr algn="l">
              <a:defRPr sz="1300" b="0" i="0">
                <a:solidFill>
                  <a:srgbClr val="D8E1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D8E1EF"/>
                </a:solidFill>
                <a:latin typeface="Microsoft YaHei"/>
                <a:ea typeface="Microsoft YaHei"/>
                <a:cs typeface="Microsoft YaHei"/>
              </a:rPr>
              <a:t>开题答辩 · 章节随研究逻辑自适应</a:t>
            </a:r>
          </a:p>
        </p:txBody>
      </p:sp>
      <p:sp>
        <p:nvSpPr>
          <p:cNvPr id="6" name="milestone-agenda-number-1">
            <a:extLst xmlns:a="http://schemas.openxmlformats.org/drawingml/2006/main">
              <a:ext uri="{FF2B5EF4-FFF2-40B4-BE49-F238E27FC236}">
                <a16:creationId xmlns:a16="http://schemas.microsoft.com/office/drawing/2014/main" id="{E5D5A7A2-7BB4-432E-9318-1E3A6184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763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milestone-agenda-item-1">
            <a:extLst xmlns:a="http://schemas.openxmlformats.org/drawingml/2006/main">
              <a:ext uri="{FF2B5EF4-FFF2-40B4-BE49-F238E27FC236}">
                <a16:creationId xmlns:a16="http://schemas.microsoft.com/office/drawing/2014/main" id="{85CF35BB-1BE8-43EF-99CF-7A0C3D1A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76350"/>
            <a:ext cx="632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问题与缺口</a:t>
            </a:r>
          </a:p>
        </p:txBody>
      </p:sp>
      <p:sp>
        <p:nvSpPr>
          <p:cNvPr id="8" name="milestone-agenda-rule-1">
            <a:extLst xmlns:a="http://schemas.openxmlformats.org/drawingml/2006/main">
              <a:ext uri="{FF2B5EF4-FFF2-40B4-BE49-F238E27FC236}">
                <a16:creationId xmlns:a16="http://schemas.microsoft.com/office/drawing/2014/main" id="{E34CEEBF-4D46-4695-97E5-8FB400DA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702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9" name="milestone-agenda-number-2">
            <a:extLst xmlns:a="http://schemas.openxmlformats.org/drawingml/2006/main">
              <a:ext uri="{FF2B5EF4-FFF2-40B4-BE49-F238E27FC236}">
                <a16:creationId xmlns:a16="http://schemas.microsoft.com/office/drawing/2014/main" id="{3CC303AB-802B-4429-A406-26839FC0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milestone-agenda-item-2">
            <a:extLst xmlns:a="http://schemas.openxmlformats.org/drawingml/2006/main">
              <a:ext uri="{FF2B5EF4-FFF2-40B4-BE49-F238E27FC236}">
                <a16:creationId xmlns:a16="http://schemas.microsoft.com/office/drawing/2014/main" id="{90BD8F88-E783-41A0-949D-652E8B04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632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目标与设计</a:t>
            </a:r>
          </a:p>
        </p:txBody>
      </p:sp>
      <p:sp>
        <p:nvSpPr>
          <p:cNvPr id="11" name="milestone-agenda-rule-2">
            <a:extLst xmlns:a="http://schemas.openxmlformats.org/drawingml/2006/main">
              <a:ext uri="{FF2B5EF4-FFF2-40B4-BE49-F238E27FC236}">
                <a16:creationId xmlns:a16="http://schemas.microsoft.com/office/drawing/2014/main" id="{4F5E672A-21F5-43D3-A30A-60B40F2B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14650"/>
            <a:ext cx="702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12" name="milestone-agenda-number-3">
            <a:extLst xmlns:a="http://schemas.openxmlformats.org/drawingml/2006/main">
              <a:ext uri="{FF2B5EF4-FFF2-40B4-BE49-F238E27FC236}">
                <a16:creationId xmlns:a16="http://schemas.microsoft.com/office/drawing/2014/main" id="{1CD1B74F-2AD8-4367-8EFE-5EA54D7C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milestone-agenda-item-3">
            <a:extLst xmlns:a="http://schemas.openxmlformats.org/drawingml/2006/main">
              <a:ext uri="{FF2B5EF4-FFF2-40B4-BE49-F238E27FC236}">
                <a16:creationId xmlns:a16="http://schemas.microsoft.com/office/drawing/2014/main" id="{0D702E29-2586-4A56-89F9-834C3320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632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方法与验证</a:t>
            </a:r>
          </a:p>
        </p:txBody>
      </p:sp>
      <p:sp>
        <p:nvSpPr>
          <p:cNvPr id="14" name="milestone-agenda-rule-3">
            <a:extLst xmlns:a="http://schemas.openxmlformats.org/drawingml/2006/main">
              <a:ext uri="{FF2B5EF4-FFF2-40B4-BE49-F238E27FC236}">
                <a16:creationId xmlns:a16="http://schemas.microsoft.com/office/drawing/2014/main" id="{09D5ACDC-DD93-47F7-AC0C-9E29B5AF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702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15" name="milestone-agenda-number-4">
            <a:extLst xmlns:a="http://schemas.openxmlformats.org/drawingml/2006/main">
              <a:ext uri="{FF2B5EF4-FFF2-40B4-BE49-F238E27FC236}">
                <a16:creationId xmlns:a16="http://schemas.microsoft.com/office/drawing/2014/main" id="{44739806-5045-4D4B-AFDC-A3659B2E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6240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milestone-agenda-item-4">
            <a:extLst xmlns:a="http://schemas.openxmlformats.org/drawingml/2006/main">
              <a:ext uri="{FF2B5EF4-FFF2-40B4-BE49-F238E27FC236}">
                <a16:creationId xmlns:a16="http://schemas.microsoft.com/office/drawing/2014/main" id="{C8FE4E2E-E16C-45BB-A8C7-699B33B7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632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可行性与风险</a:t>
            </a:r>
          </a:p>
        </p:txBody>
      </p:sp>
      <p:sp>
        <p:nvSpPr>
          <p:cNvPr id="17" name="milestone-agenda-rule-4">
            <a:extLst xmlns:a="http://schemas.openxmlformats.org/drawingml/2006/main">
              <a:ext uri="{FF2B5EF4-FFF2-40B4-BE49-F238E27FC236}">
                <a16:creationId xmlns:a16="http://schemas.microsoft.com/office/drawing/2014/main" id="{8C4674B2-5851-472B-8C81-8C83B9B4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05350"/>
            <a:ext cx="702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18" name="milestone-agenda-number-5">
            <a:extLst xmlns:a="http://schemas.openxmlformats.org/drawingml/2006/main">
              <a:ext uri="{FF2B5EF4-FFF2-40B4-BE49-F238E27FC236}">
                <a16:creationId xmlns:a16="http://schemas.microsoft.com/office/drawing/2014/main" id="{903F4020-88D4-47F7-B487-D5D28F86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577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milestone-agenda-item-5">
            <a:extLst xmlns:a="http://schemas.openxmlformats.org/drawingml/2006/main">
              <a:ext uri="{FF2B5EF4-FFF2-40B4-BE49-F238E27FC236}">
                <a16:creationId xmlns:a16="http://schemas.microsoft.com/office/drawing/2014/main" id="{207D709D-B1DF-43BC-9C10-0E02E1C2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632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计划与评审请求</a:t>
            </a:r>
          </a:p>
        </p:txBody>
      </p:sp>
      <p:sp>
        <p:nvSpPr>
          <p:cNvPr id="20" name="milestone-agenda-rule-5">
            <a:extLst xmlns:a="http://schemas.openxmlformats.org/drawingml/2006/main">
              <a:ext uri="{FF2B5EF4-FFF2-40B4-BE49-F238E27FC236}">
                <a16:creationId xmlns:a16="http://schemas.microsoft.com/office/drawing/2014/main" id="{2C9FAB8D-C2EF-40BA-A0A1-997AA347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702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1" name="milestone-agenda-page-number">
            <a:extLst xmlns:a="http://schemas.openxmlformats.org/drawingml/2006/main">
              <a:ext uri="{FF2B5EF4-FFF2-40B4-BE49-F238E27FC236}">
                <a16:creationId xmlns:a16="http://schemas.microsoft.com/office/drawing/2014/main" id="{CBAF5266-C240-4B94-9430-1AE98C18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0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0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61992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milestone-divider-mode">
            <a:extLst xmlns:a="http://schemas.openxmlformats.org/drawingml/2006/main">
              <a:ext uri="{FF2B5EF4-FFF2-40B4-BE49-F238E27FC236}">
                <a16:creationId xmlns:a16="http://schemas.microsoft.com/office/drawing/2014/main" id="{B7B1AD9D-39B3-427B-A827-D5A42E6E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2" name="milestone-divider-institution">
            <a:extLst xmlns:a="http://schemas.openxmlformats.org/drawingml/2006/main">
              <a:ext uri="{FF2B5EF4-FFF2-40B4-BE49-F238E27FC236}">
                <a16:creationId xmlns:a16="http://schemas.microsoft.com/office/drawing/2014/main" id="{E2870EC5-6110-4708-BBC9-5AB4546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3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4D043C7B-E1F0-4101-918A-1208BC34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85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4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78AB9319-7458-4DB5-822F-D8BBEF75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5695" y="340995"/>
            <a:ext cx="441960" cy="441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E4DCF581-D89D-48CA-8315-DBA56690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85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6" name="milestone-divider-top-rule">
            <a:extLst xmlns:a="http://schemas.openxmlformats.org/drawingml/2006/main">
              <a:ext uri="{FF2B5EF4-FFF2-40B4-BE49-F238E27FC236}">
                <a16:creationId xmlns:a16="http://schemas.microsoft.com/office/drawing/2014/main" id="{72156437-2C2A-4C6F-8166-9E9DC688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18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7" name="milestone-divider-number">
            <a:extLst xmlns:a="http://schemas.openxmlformats.org/drawingml/2006/main">
              <a:ext uri="{FF2B5EF4-FFF2-40B4-BE49-F238E27FC236}">
                <a16:creationId xmlns:a16="http://schemas.microsoft.com/office/drawing/2014/main" id="{312E91A9-793A-43A8-9D2D-27CCEAED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5380"/>
          </a:bodyPr>
          <a:lstStyle xmlns:a="http://schemas.openxmlformats.org/drawingml/2006/main"/>
          <a:p xmlns:a="http://schemas.openxmlformats.org/drawingml/2006/main">
            <a:pPr algn="l">
              <a:defRPr sz="92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milestone-divider-vertical-rule">
            <a:extLst xmlns:a="http://schemas.openxmlformats.org/drawingml/2006/main">
              <a:ext uri="{FF2B5EF4-FFF2-40B4-BE49-F238E27FC236}">
                <a16:creationId xmlns:a16="http://schemas.microsoft.com/office/drawing/2014/main" id="{8EE0AC35-3AE7-4591-8978-A47F0D96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24050"/>
            <a:ext cx="476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solidFill>
              <a:srgbClr val="E8EDF4"/>
            </a:solidFill>
            <a:prstDash val="solid"/>
          </a:ln>
        </p:spPr>
      </p:sp>
      <p:sp>
        <p:nvSpPr>
          <p:cNvPr id="9" name="milestone-divider-title">
            <a:extLst xmlns:a="http://schemas.openxmlformats.org/drawingml/2006/main">
              <a:ext uri="{FF2B5EF4-FFF2-40B4-BE49-F238E27FC236}">
                <a16:creationId xmlns:a16="http://schemas.microsoft.com/office/drawing/2014/main" id="{9FE71CFA-D89B-474F-BC0F-489490DF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43100"/>
            <a:ext cx="733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方法与验证</a:t>
            </a:r>
          </a:p>
        </p:txBody>
      </p:sp>
      <p:sp>
        <p:nvSpPr>
          <p:cNvPr id="10" name="milestone-divider-bridge">
            <a:extLst xmlns:a="http://schemas.openxmlformats.org/drawingml/2006/main">
              <a:ext uri="{FF2B5EF4-FFF2-40B4-BE49-F238E27FC236}">
                <a16:creationId xmlns:a16="http://schemas.microsoft.com/office/drawing/2014/main" id="{056110B0-28C2-4E4F-84A5-58A6B687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708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怎样的证据组合，才足以回答核心研究问题？</a:t>
            </a:r>
          </a:p>
        </p:txBody>
      </p:sp>
      <p:sp>
        <p:nvSpPr>
          <p:cNvPr id="11" name="milestone-divider-footer-band">
            <a:extLst xmlns:a="http://schemas.openxmlformats.org/drawingml/2006/main">
              <a:ext uri="{FF2B5EF4-FFF2-40B4-BE49-F238E27FC236}">
                <a16:creationId xmlns:a16="http://schemas.microsoft.com/office/drawing/2014/main" id="{44AEFAA5-7B3B-4DC8-BD01-26EDD40A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5986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44B8ECDB-553F-405A-B196-00BF0681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4F05FCD7-1A63-49E7-B3C8-DC464CF7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DB23A4AE-71CE-4E6E-BE39-393C0D2A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起始与导航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ACEFE9FA-A5C2-4B0D-A4B4-5F39A219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F35B7CF7-34FB-4CC2-ACCE-3B4B45E9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41F8AB14-3374-4E6D-ABAB-C1F5052D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491A4540-933F-409D-A42C-BFD31269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01BC3ACE-A47F-4186-BB4E-120B0FCB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1ED757BF-5B0F-4ECD-8F23-0837668B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11AEC7-1138-4EA2-B6A4-35868300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本次评审需要形成三个判断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C362CA99-5A3F-4D7D-8AE9-583370D0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DBFE24B-9B22-4D31-9B4B-27269E1C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milestone-focus-question-panel">
            <a:extLst xmlns:a="http://schemas.openxmlformats.org/drawingml/2006/main">
              <a:ext uri="{FF2B5EF4-FFF2-40B4-BE49-F238E27FC236}">
                <a16:creationId xmlns:a16="http://schemas.microsoft.com/office/drawing/2014/main" id="{5CF187AF-506E-40B6-BF50-3B0627B1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4" name="milestone-focus-label">
            <a:extLst xmlns:a="http://schemas.openxmlformats.org/drawingml/2006/main">
              <a:ext uri="{FF2B5EF4-FFF2-40B4-BE49-F238E27FC236}">
                <a16:creationId xmlns:a16="http://schemas.microsoft.com/office/drawing/2014/main" id="{EE7B3F09-54F8-480A-93A9-7081AE02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D7E1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D7E1EF"/>
                </a:solidFill>
                <a:latin typeface="Microsoft YaHei"/>
                <a:ea typeface="Microsoft YaHei"/>
                <a:cs typeface="Microsoft YaHei"/>
              </a:rPr>
              <a:t>本次开题评审的核心判断</a:t>
            </a:r>
          </a:p>
        </p:txBody>
      </p:sp>
      <p:sp>
        <p:nvSpPr>
          <p:cNvPr id="15" name="milestone-focus-question">
            <a:extLst xmlns:a="http://schemas.openxmlformats.org/drawingml/2006/main">
              <a:ext uri="{FF2B5EF4-FFF2-40B4-BE49-F238E27FC236}">
                <a16:creationId xmlns:a16="http://schemas.microsoft.com/office/drawing/2014/main" id="{D2603FCE-2098-4A45-82BE-84B77AC4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434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本研究是否已形成值得开展、可被验证且能按期交付的闭环？</a:t>
            </a:r>
          </a:p>
        </p:txBody>
      </p:sp>
      <p:sp>
        <p:nvSpPr>
          <p:cNvPr id="16" name="milestone-focus-index-1">
            <a:extLst xmlns:a="http://schemas.openxmlformats.org/drawingml/2006/main">
              <a:ext uri="{FF2B5EF4-FFF2-40B4-BE49-F238E27FC236}">
                <a16:creationId xmlns:a16="http://schemas.microsoft.com/office/drawing/2014/main" id="{AF127B93-FC60-4C49-9FEE-F11D3CBE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51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milestone-focus-title-1">
            <a:extLst xmlns:a="http://schemas.openxmlformats.org/drawingml/2006/main">
              <a:ext uri="{FF2B5EF4-FFF2-40B4-BE49-F238E27FC236}">
                <a16:creationId xmlns:a16="http://schemas.microsoft.com/office/drawing/2014/main" id="{D4831F7E-A08F-4C5D-A678-C7B96E65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526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25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问题是否成立</a:t>
            </a:r>
          </a:p>
        </p:txBody>
      </p:sp>
      <p:sp>
        <p:nvSpPr>
          <p:cNvPr id="18" name="milestone-focus-body-1">
            <a:extLst xmlns:a="http://schemas.openxmlformats.org/drawingml/2006/main">
              <a:ext uri="{FF2B5EF4-FFF2-40B4-BE49-F238E27FC236}">
                <a16:creationId xmlns:a16="http://schemas.microsoft.com/office/drawing/2014/main" id="{34FFFBAD-5E50-4AEC-B3AE-8E2A730B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缺口和边界是否有证据支持</a:t>
            </a:r>
          </a:p>
        </p:txBody>
      </p:sp>
      <p:sp>
        <p:nvSpPr>
          <p:cNvPr id="19" name="milestone-focus-rule-1">
            <a:extLst xmlns:a="http://schemas.openxmlformats.org/drawingml/2006/main">
              <a:ext uri="{FF2B5EF4-FFF2-40B4-BE49-F238E27FC236}">
                <a16:creationId xmlns:a16="http://schemas.microsoft.com/office/drawing/2014/main" id="{70781C36-A606-475F-8B44-4BB14C54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908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0" name="milestone-focus-index-2">
            <a:extLst xmlns:a="http://schemas.openxmlformats.org/drawingml/2006/main">
              <a:ext uri="{FF2B5EF4-FFF2-40B4-BE49-F238E27FC236}">
                <a16:creationId xmlns:a16="http://schemas.microsoft.com/office/drawing/2014/main" id="{12F81B1B-EE42-4A25-8407-671853B4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51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milestone-focus-title-2">
            <a:extLst xmlns:a="http://schemas.openxmlformats.org/drawingml/2006/main">
              <a:ext uri="{FF2B5EF4-FFF2-40B4-BE49-F238E27FC236}">
                <a16:creationId xmlns:a16="http://schemas.microsoft.com/office/drawing/2014/main" id="{E9A9EEC0-327C-490D-AA4B-0551D9A0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25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方案是否闭环</a:t>
            </a:r>
          </a:p>
        </p:txBody>
      </p:sp>
      <p:sp>
        <p:nvSpPr>
          <p:cNvPr id="22" name="milestone-focus-body-2">
            <a:extLst xmlns:a="http://schemas.openxmlformats.org/drawingml/2006/main">
              <a:ext uri="{FF2B5EF4-FFF2-40B4-BE49-F238E27FC236}">
                <a16:creationId xmlns:a16="http://schemas.microsoft.com/office/drawing/2014/main" id="{6D8C0D10-2534-494F-A061-3BF89971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方法、数据与验证能否对应问题</a:t>
            </a:r>
          </a:p>
        </p:txBody>
      </p:sp>
      <p:sp>
        <p:nvSpPr>
          <p:cNvPr id="23" name="milestone-focus-rule-2">
            <a:extLst xmlns:a="http://schemas.openxmlformats.org/drawingml/2006/main">
              <a:ext uri="{FF2B5EF4-FFF2-40B4-BE49-F238E27FC236}">
                <a16:creationId xmlns:a16="http://schemas.microsoft.com/office/drawing/2014/main" id="{C88DC8C4-A209-41AA-8105-F2B69EF6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4" name="milestone-focus-index-3">
            <a:extLst xmlns:a="http://schemas.openxmlformats.org/drawingml/2006/main">
              <a:ext uri="{FF2B5EF4-FFF2-40B4-BE49-F238E27FC236}">
                <a16:creationId xmlns:a16="http://schemas.microsoft.com/office/drawing/2014/main" id="{FB9CDC5E-388B-4D8F-8874-0D055F79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51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milestone-focus-title-3">
            <a:extLst xmlns:a="http://schemas.openxmlformats.org/drawingml/2006/main">
              <a:ext uri="{FF2B5EF4-FFF2-40B4-BE49-F238E27FC236}">
                <a16:creationId xmlns:a16="http://schemas.microsoft.com/office/drawing/2014/main" id="{7E71053A-B9B2-4B5C-ADC6-539BAF7C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25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计划是否可交付</a:t>
            </a:r>
          </a:p>
        </p:txBody>
      </p:sp>
      <p:sp>
        <p:nvSpPr>
          <p:cNvPr id="26" name="milestone-focus-body-3">
            <a:extLst xmlns:a="http://schemas.openxmlformats.org/drawingml/2006/main">
              <a:ext uri="{FF2B5EF4-FFF2-40B4-BE49-F238E27FC236}">
                <a16:creationId xmlns:a16="http://schemas.microsoft.com/office/drawing/2014/main" id="{A209A7D2-3C28-467B-94BC-66645FDE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资源、风险和里程碑是否可控</a:t>
            </a:r>
          </a:p>
        </p:txBody>
      </p:sp>
      <p:sp>
        <p:nvSpPr>
          <p:cNvPr id="27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923467D0-1BF6-443B-9A0B-BDF5DC50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8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4D0CFF39-CE63-47D1-A3AB-97A4C7E9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请评委重点判断核心假设、验证强度和时间边界。</a:t>
            </a:r>
          </a:p>
        </p:txBody>
      </p:sp>
    </p:spTree>
    <p:extLst>
      <p:ext uri="{BB962C8B-B14F-4D97-AF65-F5344CB8AC3E}">
        <p14:creationId xmlns:p14="http://schemas.microsoft.com/office/powerpoint/2010/main" val="1855491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milestone-closing-institution">
            <a:extLst xmlns:a="http://schemas.openxmlformats.org/drawingml/2006/main">
              <a:ext uri="{FF2B5EF4-FFF2-40B4-BE49-F238E27FC236}">
                <a16:creationId xmlns:a16="http://schemas.microsoft.com/office/drawing/2014/main" id="{61741CA0-40B9-489C-A5F3-63589AB3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2" name="milestone-closing-top-rule">
            <a:extLst xmlns:a="http://schemas.openxmlformats.org/drawingml/2006/main">
              <a:ext uri="{FF2B5EF4-FFF2-40B4-BE49-F238E27FC236}">
                <a16:creationId xmlns:a16="http://schemas.microsoft.com/office/drawing/2014/main" id="{327B2AD9-252E-4B9A-8F7B-CACEC503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3" name="milestone-closing-band">
            <a:extLst xmlns:a="http://schemas.openxmlformats.org/drawingml/2006/main">
              <a:ext uri="{FF2B5EF4-FFF2-40B4-BE49-F238E27FC236}">
                <a16:creationId xmlns:a16="http://schemas.microsoft.com/office/drawing/2014/main" id="{3CB8A8F3-5A15-4DF3-8D43-9A8DFCEA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4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16FE80EC-20F6-4C55-8EB5-98C13CB4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2954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5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5A77A5D7-0D82-42F5-B745-9A685C46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480" y="1383030"/>
            <a:ext cx="701040" cy="701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10D5ADBA-0312-4FB2-8C1E-57B933B0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29540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7" name="milestone-closing-title">
            <a:extLst xmlns:a="http://schemas.openxmlformats.org/drawingml/2006/main">
              <a:ext uri="{FF2B5EF4-FFF2-40B4-BE49-F238E27FC236}">
                <a16:creationId xmlns:a16="http://schemas.microsoft.com/office/drawing/2014/main" id="{60AFEC57-B017-478A-B5E1-4A639A78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994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敬请各位老师批评指正</a:t>
            </a:r>
          </a:p>
        </p:txBody>
      </p:sp>
      <p:sp>
        <p:nvSpPr>
          <p:cNvPr id="8" name="milestone-closing-title-rule">
            <a:extLst xmlns:a="http://schemas.openxmlformats.org/drawingml/2006/main">
              <a:ext uri="{FF2B5EF4-FFF2-40B4-BE49-F238E27FC236}">
                <a16:creationId xmlns:a16="http://schemas.microsoft.com/office/drawing/2014/main" id="{D33521F5-B698-4F1A-A849-75F590DC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48100"/>
            <a:ext cx="758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2C1"/>
          </a:solidFill>
          <a:ln xmlns:a="http://schemas.openxmlformats.org/drawingml/2006/main" w="0">
            <a:solidFill>
              <a:srgbClr val="8EA2C1"/>
            </a:solidFill>
            <a:prstDash val="solid"/>
          </a:ln>
        </p:spPr>
      </p:sp>
      <p:sp>
        <p:nvSpPr>
          <p:cNvPr id="9" name="milestone-closing-takeaway">
            <a:extLst xmlns:a="http://schemas.openxmlformats.org/drawingml/2006/main">
              <a:ext uri="{FF2B5EF4-FFF2-40B4-BE49-F238E27FC236}">
                <a16:creationId xmlns:a16="http://schemas.microsoft.com/office/drawing/2014/main" id="{AC597BA0-20D9-4FA7-83FE-F15B099F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76700"/>
            <a:ext cx="8839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00" b="0" i="0">
                <a:solidFill>
                  <a:srgbClr val="E5EB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 i="0">
                <a:solidFill>
                  <a:srgbClr val="E5EBF5"/>
                </a:solidFill>
                <a:latin typeface="Microsoft YaHei"/>
                <a:ea typeface="Microsoft YaHei"/>
                <a:cs typeface="Microsoft YaHei"/>
              </a:rPr>
              <a:t>结束页简洁收束，实质结论和评审请求应在前一页完成。</a:t>
            </a:r>
          </a:p>
        </p:txBody>
      </p:sp>
      <p:sp>
        <p:nvSpPr>
          <p:cNvPr id="10" name="milestone-closing-meta">
            <a:extLst xmlns:a="http://schemas.openxmlformats.org/drawingml/2006/main">
              <a:ext uri="{FF2B5EF4-FFF2-40B4-BE49-F238E27FC236}">
                <a16:creationId xmlns:a16="http://schemas.microsoft.com/office/drawing/2014/main" id="{F4178675-0694-4707-90CA-0F200E0D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817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开题答辩  ·  示范姓名 · 学术答辩</a:t>
            </a:r>
          </a:p>
        </p:txBody>
      </p:sp>
    </p:spTree>
    <p:extLst>
      <p:ext uri="{BB962C8B-B14F-4D97-AF65-F5344CB8AC3E}">
        <p14:creationId xmlns:p14="http://schemas.microsoft.com/office/powerpoint/2010/main" val="1661216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120E1A36-255C-41C3-BA58-B7BA445B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CFE20EF3-4407-475E-BEDB-476ED59D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A37E0E5C-CF11-4999-9297-543AE6AF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问题与逻辑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00128CB8-83FD-4FB3-926E-F5A2C0C1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C2D91787-A74F-464E-BFEE-8C7FFA68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05869C59-CB09-4362-BCF6-DB749192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2EF16FCC-2833-4561-993A-43C56930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CF304328-56C5-48EB-87CD-88BAC28F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4F9CE625-8663-4180-BA1E-6E02ECEC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C314A9-2086-4ABC-A91E-F7D1A2C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现实信号和技术限制共同定义了研究问题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AE7F6534-6EE2-41EA-A9B3-9CA64C3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D95BC1-7881-4333-9AE5-5361BBEF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overview-banner">
            <a:extLst xmlns:a="http://schemas.openxmlformats.org/drawingml/2006/main">
              <a:ext uri="{FF2B5EF4-FFF2-40B4-BE49-F238E27FC236}">
                <a16:creationId xmlns:a16="http://schemas.microsoft.com/office/drawing/2014/main" id="{C52FCD4C-31E4-4E34-B8CA-E9479C01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43050"/>
            <a:ext cx="9410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4" name="overview-banner-text">
            <a:extLst xmlns:a="http://schemas.openxmlformats.org/drawingml/2006/main">
              <a:ext uri="{FF2B5EF4-FFF2-40B4-BE49-F238E27FC236}">
                <a16:creationId xmlns:a16="http://schemas.microsoft.com/office/drawing/2014/main" id="{08564F7C-067D-4769-95BD-E0F7939F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09725"/>
            <a:ext cx="887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真正的研究必要性来自证据之间的张力，不是泛化意义。</a:t>
            </a:r>
          </a:p>
        </p:txBody>
      </p:sp>
      <p:sp>
        <p:nvSpPr>
          <p:cNvPr id="15" name="overview-card-1">
            <a:extLst xmlns:a="http://schemas.openxmlformats.org/drawingml/2006/main">
              <a:ext uri="{FF2B5EF4-FFF2-40B4-BE49-F238E27FC236}">
                <a16:creationId xmlns:a16="http://schemas.microsoft.com/office/drawing/2014/main" id="{840A1929-482C-4DC0-9D2C-19B05D66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718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877A2"/>
            </a:solidFill>
            <a:prstDash val="solid"/>
          </a:ln>
        </p:spPr>
      </p:sp>
      <p:sp>
        <p:nvSpPr>
          <p:cNvPr id="16" name="overview-number-1">
            <a:extLst xmlns:a="http://schemas.openxmlformats.org/drawingml/2006/main">
              <a:ext uri="{FF2B5EF4-FFF2-40B4-BE49-F238E27FC236}">
                <a16:creationId xmlns:a16="http://schemas.microsoft.com/office/drawing/2014/main" id="{0FE8768A-9C3F-4F5E-9B99-43935F0A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9107"/>
          </a:bodyPr>
          <a:lstStyle xmlns:a="http://schemas.openxmlformats.org/drawingml/2006/main"/>
          <a:p xmlns:a="http://schemas.openxmlformats.org/drawingml/2006/main">
            <a:pPr algn="ctr">
              <a:defRPr sz="28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XX%</a:t>
            </a:r>
          </a:p>
        </p:txBody>
      </p:sp>
      <p:sp>
        <p:nvSpPr>
          <p:cNvPr id="17" name="overview-title-1">
            <a:extLst xmlns:a="http://schemas.openxmlformats.org/drawingml/2006/main">
              <a:ext uri="{FF2B5EF4-FFF2-40B4-BE49-F238E27FC236}">
                <a16:creationId xmlns:a16="http://schemas.microsoft.com/office/drawing/2014/main" id="{78C71D4D-2ED8-4234-A23C-10B4DFD7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现实信号</a:t>
            </a:r>
          </a:p>
        </p:txBody>
      </p:sp>
      <p:sp>
        <p:nvSpPr>
          <p:cNvPr id="18" name="overview-rule-1">
            <a:extLst xmlns:a="http://schemas.openxmlformats.org/drawingml/2006/main">
              <a:ext uri="{FF2B5EF4-FFF2-40B4-BE49-F238E27FC236}">
                <a16:creationId xmlns:a16="http://schemas.microsoft.com/office/drawing/2014/main" id="{732A4977-D22F-49C8-9E11-0424C61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9525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19" name="overview-body-1">
            <a:extLst xmlns:a="http://schemas.openxmlformats.org/drawingml/2006/main">
              <a:ext uri="{FF2B5EF4-FFF2-40B4-BE49-F238E27FC236}">
                <a16:creationId xmlns:a16="http://schemas.microsoft.com/office/drawing/2014/main" id="{2C2F714B-E5E3-47C4-8286-8BC497D0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来源明确的趋势或影响</a:t>
            </a:r>
          </a:p>
        </p:txBody>
      </p:sp>
      <p:sp>
        <p:nvSpPr>
          <p:cNvPr id="20" name="overview-card-2">
            <a:extLst xmlns:a="http://schemas.openxmlformats.org/drawingml/2006/main">
              <a:ext uri="{FF2B5EF4-FFF2-40B4-BE49-F238E27FC236}">
                <a16:creationId xmlns:a16="http://schemas.microsoft.com/office/drawing/2014/main" id="{8455BDBE-F38B-48B7-BA70-D80723DE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66950"/>
            <a:ext cx="33718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877A2"/>
            </a:solidFill>
            <a:prstDash val="solid"/>
          </a:ln>
        </p:spPr>
      </p:sp>
      <p:sp>
        <p:nvSpPr>
          <p:cNvPr id="21" name="overview-number-2">
            <a:extLst xmlns:a="http://schemas.openxmlformats.org/drawingml/2006/main">
              <a:ext uri="{FF2B5EF4-FFF2-40B4-BE49-F238E27FC236}">
                <a16:creationId xmlns:a16="http://schemas.microsoft.com/office/drawing/2014/main" id="{3F0A73CE-DC58-480F-AD38-4D0BB096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574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9107"/>
          </a:bodyPr>
          <a:lstStyle xmlns:a="http://schemas.openxmlformats.org/drawingml/2006/main"/>
          <a:p xmlns:a="http://schemas.openxmlformats.org/drawingml/2006/main">
            <a:pPr algn="ctr">
              <a:defRPr sz="28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3 项</a:t>
            </a:r>
          </a:p>
        </p:txBody>
      </p:sp>
      <p:sp>
        <p:nvSpPr>
          <p:cNvPr id="22" name="overview-title-2">
            <a:extLst xmlns:a="http://schemas.openxmlformats.org/drawingml/2006/main">
              <a:ext uri="{FF2B5EF4-FFF2-40B4-BE49-F238E27FC236}">
                <a16:creationId xmlns:a16="http://schemas.microsoft.com/office/drawing/2014/main" id="{1A33DD2F-1D85-4883-9073-11012DED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6705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技术约束</a:t>
            </a:r>
          </a:p>
        </p:txBody>
      </p:sp>
      <p:sp>
        <p:nvSpPr>
          <p:cNvPr id="23" name="overview-rule-2">
            <a:extLst xmlns:a="http://schemas.openxmlformats.org/drawingml/2006/main">
              <a:ext uri="{FF2B5EF4-FFF2-40B4-BE49-F238E27FC236}">
                <a16:creationId xmlns:a16="http://schemas.microsoft.com/office/drawing/2014/main" id="{36BF9E56-11A1-4DF3-AD27-35169C30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819525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4" name="overview-body-2">
            <a:extLst xmlns:a="http://schemas.openxmlformats.org/drawingml/2006/main">
              <a:ext uri="{FF2B5EF4-FFF2-40B4-BE49-F238E27FC236}">
                <a16:creationId xmlns:a16="http://schemas.microsoft.com/office/drawing/2014/main" id="{98194640-77A2-4C39-97D7-03D30896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00500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当前方法的关键失效点</a:t>
            </a:r>
          </a:p>
        </p:txBody>
      </p:sp>
      <p:sp>
        <p:nvSpPr>
          <p:cNvPr id="25" name="overview-card-3">
            <a:extLst xmlns:a="http://schemas.openxmlformats.org/drawingml/2006/main">
              <a:ext uri="{FF2B5EF4-FFF2-40B4-BE49-F238E27FC236}">
                <a16:creationId xmlns:a16="http://schemas.microsoft.com/office/drawing/2014/main" id="{FCB398B8-8B44-4CF1-A73E-47DF706A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3718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877A2"/>
            </a:solidFill>
            <a:prstDash val="solid"/>
          </a:ln>
        </p:spPr>
      </p:sp>
      <p:sp>
        <p:nvSpPr>
          <p:cNvPr id="26" name="overview-number-3">
            <a:extLst xmlns:a="http://schemas.openxmlformats.org/drawingml/2006/main">
              <a:ext uri="{FF2B5EF4-FFF2-40B4-BE49-F238E27FC236}">
                <a16:creationId xmlns:a16="http://schemas.microsoft.com/office/drawing/2014/main" id="{6EF2CB91-131C-42BA-9B6A-E38C774E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574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9107"/>
          </a:bodyPr>
          <a:lstStyle xmlns:a="http://schemas.openxmlformats.org/drawingml/2006/main"/>
          <a:p xmlns:a="http://schemas.openxmlformats.org/drawingml/2006/main">
            <a:pPr algn="ctr">
              <a:defRPr sz="28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1 个</a:t>
            </a:r>
          </a:p>
        </p:txBody>
      </p:sp>
      <p:sp>
        <p:nvSpPr>
          <p:cNvPr id="27" name="overview-title-3">
            <a:extLst xmlns:a="http://schemas.openxmlformats.org/drawingml/2006/main">
              <a:ext uri="{FF2B5EF4-FFF2-40B4-BE49-F238E27FC236}">
                <a16:creationId xmlns:a16="http://schemas.microsoft.com/office/drawing/2014/main" id="{5B1E2E5A-60B1-461C-AE49-D5A7E614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研究切口</a:t>
            </a:r>
          </a:p>
        </p:txBody>
      </p:sp>
      <p:sp>
        <p:nvSpPr>
          <p:cNvPr id="28" name="overview-rule-3">
            <a:extLst xmlns:a="http://schemas.openxmlformats.org/drawingml/2006/main">
              <a:ext uri="{FF2B5EF4-FFF2-40B4-BE49-F238E27FC236}">
                <a16:creationId xmlns:a16="http://schemas.microsoft.com/office/drawing/2014/main" id="{C1D24274-5C40-402F-9570-DB85888D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9525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9" name="overview-body-3">
            <a:extLst xmlns:a="http://schemas.openxmlformats.org/drawingml/2006/main">
              <a:ext uri="{FF2B5EF4-FFF2-40B4-BE49-F238E27FC236}">
                <a16:creationId xmlns:a16="http://schemas.microsoft.com/office/drawing/2014/main" id="{7DB322D5-73AC-40D9-8658-5BDC40C9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本项目能直接验证的问题</a:t>
            </a:r>
          </a:p>
        </p:txBody>
      </p:sp>
    </p:spTree>
    <p:extLst>
      <p:ext uri="{BB962C8B-B14F-4D97-AF65-F5344CB8AC3E}">
        <p14:creationId xmlns:p14="http://schemas.microsoft.com/office/powerpoint/2010/main" val="1669997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D61B24FF-B49B-43EE-8F40-E5DDC9F3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A0390DDB-FE17-4E3C-AC1E-53B480AF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E8CB3149-A7EF-4DF2-B721-7520A269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问题与逻辑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5DF18465-4469-402E-935C-537ED806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813987FE-8A37-48C8-B8E7-96C5E285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6624F568-934A-445B-BA38-ED9BE28F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B9E01149-6388-4E3F-9638-A628FDCC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080F2809-C8D3-4163-A127-4A60FD8E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F127572F-35D3-4EBC-8FC6-6E6F8A24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22D69A-BAE4-4E7E-8509-0F98C632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三条研究路线在证据直接性上仍有断层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E72C03C5-9F75-4A45-A9A8-CE32BC21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F48CB7-239F-4C96-BA74-198EDDBD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3657600"/>
                <a:gridCol w="3657600"/>
                <a:gridCol w="365760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研究路线 / 流派</a:t>
                      </a:r>
                    </a:p>
                  </a:txBody>
                  <a:tcPr marL="91440" marR="91440" marT="45720" marB="45720">
                    <a:solidFill>
                      <a:srgbClr val="183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形成的共识或证据</a:t>
                      </a:r>
                    </a:p>
                  </a:txBody>
                  <a:tcPr marL="91440" marR="91440" marT="45720" marB="45720">
                    <a:solidFill>
                      <a:srgbClr val="183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仍未解决的边界</a:t>
                      </a:r>
                    </a:p>
                  </a:txBody>
                  <a:tcPr marL="91440" marR="91440" marT="45720" marB="45720">
                    <a:solidFill>
                      <a:srgbClr val="183A6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理论解释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确认关键关系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缺少直接操作化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数据驱动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可以提升预测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外部适用性不清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提供因果线索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样本与情境有限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00BDC6F3-9B10-4E6A-B674-4452937A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15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C53381F1-B270-42F7-8F00-5355D0D9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007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文献综述应按共同维度比较，而不是默认分成国内与国外。</a:t>
            </a:r>
          </a:p>
        </p:txBody>
      </p:sp>
    </p:spTree>
    <p:extLst>
      <p:ext uri="{BB962C8B-B14F-4D97-AF65-F5344CB8AC3E}">
        <p14:creationId xmlns:p14="http://schemas.microsoft.com/office/powerpoint/2010/main" val="20862525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7483A00B-5285-46AA-AE96-A537E214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145F475C-C1EA-4E32-9527-07B7390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EF28DC2E-E3D3-4FC4-BA06-180624AA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问题与逻辑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0F6A6B61-68DF-464A-870F-DB36D257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6C46EF8E-ED90-4B01-B730-45135821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64DB880F-A044-433E-A561-A4855625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B2976AE5-5F04-4958-B1FF-A00AB7FE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0C1FB68A-8C02-4544-9937-F0488591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B436719B-0076-456B-8AB7-65DC891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C0ED77-9E45-432B-925C-D8815A21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已知结论无法直接回答目标场景中的机制问题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AF36AA89-6EAF-4DA5-97E4-B5EBC0B5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F204EC-A0D3-47BA-8F28-3F087517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3" name="known-gap-card-1">
            <a:extLst xmlns:a="http://schemas.openxmlformats.org/drawingml/2006/main">
              <a:ext uri="{FF2B5EF4-FFF2-40B4-BE49-F238E27FC236}">
                <a16:creationId xmlns:a16="http://schemas.microsoft.com/office/drawing/2014/main" id="{8D71207C-4A78-42A8-89A0-C6ADC7C4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1242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E7EBF0"/>
          </a:solidFill>
          <a:ln xmlns:a="http://schemas.openxmlformats.org/drawingml/2006/main" w="9525">
            <a:solidFill>
              <a:srgbClr val="183A6A"/>
            </a:solidFill>
            <a:prstDash val="solid"/>
          </a:ln>
        </p:spPr>
      </p:sp>
      <p:sp>
        <p:nvSpPr>
          <p:cNvPr id="14" name="known-gap-label-1">
            <a:extLst xmlns:a="http://schemas.openxmlformats.org/drawingml/2006/main">
              <a:ext uri="{FF2B5EF4-FFF2-40B4-BE49-F238E27FC236}">
                <a16:creationId xmlns:a16="http://schemas.microsoft.com/office/drawing/2014/main" id="{E786C20C-D35D-4627-8A56-393020F1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9525">
            <a:solidFill>
              <a:srgbClr val="183A6A"/>
            </a:solidFill>
            <a:prstDash val="solid"/>
          </a:ln>
        </p:spPr>
        <p:txBody>
          <a:bodyPr xmlns:a="http://schemas.openxmlformats.org/drawingml/2006/main" anchor="ctr">
            <a:normAutofit fontScale="64472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15" name="known-gap-text-1">
            <a:extLst xmlns:a="http://schemas.openxmlformats.org/drawingml/2006/main">
              <a:ext uri="{FF2B5EF4-FFF2-40B4-BE49-F238E27FC236}">
                <a16:creationId xmlns:a16="http://schemas.microsoft.com/office/drawing/2014/main" id="{7C7905EF-3779-4ECB-8231-0EE352BA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667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现有研究在单一数据源上已证明现象存在。</a:t>
            </a:r>
          </a:p>
        </p:txBody>
      </p:sp>
      <p:sp>
        <p:nvSpPr>
          <p:cNvPr id="16" name="known-gap-arrow-1">
            <a:extLst xmlns:a="http://schemas.openxmlformats.org/drawingml/2006/main">
              <a:ext uri="{FF2B5EF4-FFF2-40B4-BE49-F238E27FC236}">
                <a16:creationId xmlns:a16="http://schemas.microsoft.com/office/drawing/2014/main" id="{AE71E0D3-DE3F-42A7-93A0-08A49B3F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0515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7" name="known-gap-card-2">
            <a:extLst xmlns:a="http://schemas.openxmlformats.org/drawingml/2006/main">
              <a:ext uri="{FF2B5EF4-FFF2-40B4-BE49-F238E27FC236}">
                <a16:creationId xmlns:a16="http://schemas.microsoft.com/office/drawing/2014/main" id="{0E72936A-693F-4CA2-8595-7AD18B02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31242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7145">
            <a:solidFill>
              <a:srgbClr val="B77A2E"/>
            </a:solidFill>
            <a:prstDash val="solid"/>
          </a:ln>
        </p:spPr>
      </p:sp>
      <p:sp>
        <p:nvSpPr>
          <p:cNvPr id="18" name="known-gap-label-2">
            <a:extLst xmlns:a="http://schemas.openxmlformats.org/drawingml/2006/main">
              <a:ext uri="{FF2B5EF4-FFF2-40B4-BE49-F238E27FC236}">
                <a16:creationId xmlns:a16="http://schemas.microsoft.com/office/drawing/2014/main" id="{A9260A5C-765A-4E2D-9ABB-E77C08B8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383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A2E"/>
          </a:solidFill>
          <a:ln xmlns:a="http://schemas.openxmlformats.org/drawingml/2006/main" w="9525">
            <a:solidFill>
              <a:srgbClr val="B77A2E"/>
            </a:solidFill>
            <a:prstDash val="solid"/>
          </a:ln>
        </p:spPr>
        <p:txBody>
          <a:bodyPr xmlns:a="http://schemas.openxmlformats.org/drawingml/2006/main" anchor="ctr">
            <a:normAutofit fontScale="64472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19" name="known-gap-text-2">
            <a:extLst xmlns:a="http://schemas.openxmlformats.org/drawingml/2006/main">
              <a:ext uri="{FF2B5EF4-FFF2-40B4-BE49-F238E27FC236}">
                <a16:creationId xmlns:a16="http://schemas.microsoft.com/office/drawing/2014/main" id="{4123A56C-1F49-4471-90C4-92E1BF33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2667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仍不清楚哪条机制驱动差异，也缺少外部验证。</a:t>
            </a:r>
          </a:p>
        </p:txBody>
      </p:sp>
      <p:sp>
        <p:nvSpPr>
          <p:cNvPr id="20" name="known-gap-arrow-2">
            <a:extLst xmlns:a="http://schemas.openxmlformats.org/drawingml/2006/main">
              <a:ext uri="{FF2B5EF4-FFF2-40B4-BE49-F238E27FC236}">
                <a16:creationId xmlns:a16="http://schemas.microsoft.com/office/drawing/2014/main" id="{DF5F0399-DAA5-4E9C-914D-3A945273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21" name="known-gap-card-3">
            <a:extLst xmlns:a="http://schemas.openxmlformats.org/drawingml/2006/main">
              <a:ext uri="{FF2B5EF4-FFF2-40B4-BE49-F238E27FC236}">
                <a16:creationId xmlns:a16="http://schemas.microsoft.com/office/drawing/2014/main" id="{4E560632-6EE0-4B8A-BF85-BF53633C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31242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183A6A"/>
            </a:solidFill>
            <a:prstDash val="solid"/>
          </a:ln>
        </p:spPr>
      </p:sp>
      <p:sp>
        <p:nvSpPr>
          <p:cNvPr id="22" name="known-gap-label-3">
            <a:extLst xmlns:a="http://schemas.openxmlformats.org/drawingml/2006/main">
              <a:ext uri="{FF2B5EF4-FFF2-40B4-BE49-F238E27FC236}">
                <a16:creationId xmlns:a16="http://schemas.microsoft.com/office/drawing/2014/main" id="{5F4D057B-21CB-47B8-82CA-0F570D49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9525">
            <a:solidFill>
              <a:srgbClr val="183A6A"/>
            </a:solidFill>
            <a:prstDash val="solid"/>
          </a:ln>
        </p:spPr>
        <p:txBody>
          <a:bodyPr xmlns:a="http://schemas.openxmlformats.org/drawingml/2006/main" anchor="ctr">
            <a:normAutofit fontScale="64472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23" name="known-gap-text-3">
            <a:extLst xmlns:a="http://schemas.openxmlformats.org/drawingml/2006/main">
              <a:ext uri="{FF2B5EF4-FFF2-40B4-BE49-F238E27FC236}">
                <a16:creationId xmlns:a16="http://schemas.microsoft.com/office/drawing/2014/main" id="{73AD6EAA-CF18-4C93-A25E-100A9431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2667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哪个可检验机制能同时解释差异和适用边界？</a:t>
            </a:r>
          </a:p>
        </p:txBody>
      </p:sp>
      <p:sp>
        <p:nvSpPr>
          <p:cNvPr id="24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6154EAB9-7E46-4D47-A6E3-EB62409A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5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4EEF33A8-7E3F-4F23-ACD0-73C5118E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1051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测量时间窗、样本结构和对照方式不一致。</a:t>
            </a:r>
          </a:p>
        </p:txBody>
      </p:sp>
    </p:spTree>
    <p:extLst>
      <p:ext uri="{BB962C8B-B14F-4D97-AF65-F5344CB8AC3E}">
        <p14:creationId xmlns:p14="http://schemas.microsoft.com/office/powerpoint/2010/main" val="67715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C70E28D5-C22B-4BBF-BC50-6B1A0D38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88709797-8F73-42D2-991D-3ED31AF8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21F6CDED-4788-44B4-ACC1-C1D19060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问题与逻辑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C71C7AE4-A1A1-4A56-B937-025D590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EB0CA428-4229-4FB9-B125-7270981C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A03CED7F-5B00-42D5-ADB7-F5E05E22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E64E489A-EFA1-4E5E-B007-0C8D624F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29CE0B74-0459-4802-9791-15BDFC73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FC78503A-2170-4C10-8ED9-1D060D61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6F17FB-06A3-493D-BB44-48BC7CA2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核心假设将研究问题转化为可否证的预测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7B64F35C-61F8-43C5-9C25-A2128924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A635A7-9E69-465C-BAB1-F3F6288B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3" name="hypothesis-question-band">
            <a:extLst xmlns:a="http://schemas.openxmlformats.org/drawingml/2006/main">
              <a:ext uri="{FF2B5EF4-FFF2-40B4-BE49-F238E27FC236}">
                <a16:creationId xmlns:a16="http://schemas.microsoft.com/office/drawing/2014/main" id="{29F78F21-24A2-4DF9-8736-C0AAFC1A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1125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1D8E1"/>
            </a:solidFill>
            <a:prstDash val="solid"/>
          </a:ln>
        </p:spPr>
      </p:sp>
      <p:sp>
        <p:nvSpPr>
          <p:cNvPr id="14" name="hypothesis-question">
            <a:extLst xmlns:a="http://schemas.openxmlformats.org/drawingml/2006/main">
              <a:ext uri="{FF2B5EF4-FFF2-40B4-BE49-F238E27FC236}">
                <a16:creationId xmlns:a16="http://schemas.microsoft.com/office/drawing/2014/main" id="{E6C8007F-D804-44C5-B7FC-D2640098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062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研究问题｜在目标条件下，关键因素 X 是否通过机制 M 改变结果 Y？</a:t>
            </a:r>
          </a:p>
        </p:txBody>
      </p:sp>
      <p:sp>
        <p:nvSpPr>
          <p:cNvPr id="15" name="hypothesis-core-panel">
            <a:extLst xmlns:a="http://schemas.openxmlformats.org/drawingml/2006/main">
              <a:ext uri="{FF2B5EF4-FFF2-40B4-BE49-F238E27FC236}">
                <a16:creationId xmlns:a16="http://schemas.microsoft.com/office/drawing/2014/main" id="{367B9125-A87E-4DF3-806F-B1BEFEAA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4686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6" name="hypothesis-core-label">
            <a:extLst xmlns:a="http://schemas.openxmlformats.org/drawingml/2006/main">
              <a:ext uri="{FF2B5EF4-FFF2-40B4-BE49-F238E27FC236}">
                <a16:creationId xmlns:a16="http://schemas.microsoft.com/office/drawing/2014/main" id="{571D0008-838E-4AE5-B486-85B81E6E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8E2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D8E2F0"/>
                </a:solidFill>
                <a:latin typeface="Microsoft YaHei"/>
                <a:ea typeface="Microsoft YaHei"/>
                <a:cs typeface="Microsoft YaHei"/>
              </a:rPr>
              <a:t>核心假设</a:t>
            </a:r>
          </a:p>
        </p:txBody>
      </p:sp>
      <p:sp>
        <p:nvSpPr>
          <p:cNvPr id="17" name="hypothesis-core-text">
            <a:extLst xmlns:a="http://schemas.openxmlformats.org/drawingml/2006/main">
              <a:ext uri="{FF2B5EF4-FFF2-40B4-BE49-F238E27FC236}">
                <a16:creationId xmlns:a16="http://schemas.microsoft.com/office/drawing/2014/main" id="{2C3178A0-0425-4CD9-917E-73D06385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4152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若 X 通过 M 作用，则控制 M 后 X 对 Y 的效应应显著减弱。</a:t>
            </a:r>
          </a:p>
        </p:txBody>
      </p:sp>
      <p:sp>
        <p:nvSpPr>
          <p:cNvPr id="18" name="hypothesis-prediction-dot-1">
            <a:extLst xmlns:a="http://schemas.openxmlformats.org/drawingml/2006/main">
              <a:ext uri="{FF2B5EF4-FFF2-40B4-BE49-F238E27FC236}">
                <a16:creationId xmlns:a16="http://schemas.microsoft.com/office/drawing/2014/main" id="{9C7882B3-8761-48E0-A82A-4DC2A759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9525">
            <a:solidFill>
              <a:srgbClr val="183A6A"/>
            </a:solidFill>
            <a:prstDash val="solid"/>
          </a:ln>
        </p:spPr>
      </p:sp>
      <p:sp>
        <p:nvSpPr>
          <p:cNvPr id="19" name="hypothesis-prediction-index-1">
            <a:extLst xmlns:a="http://schemas.openxmlformats.org/drawingml/2006/main">
              <a:ext uri="{FF2B5EF4-FFF2-40B4-BE49-F238E27FC236}">
                <a16:creationId xmlns:a16="http://schemas.microsoft.com/office/drawing/2014/main" id="{172DC804-9D0C-4F55-A8E3-16C2F133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hypothesis-prediction-1">
            <a:extLst xmlns:a="http://schemas.openxmlformats.org/drawingml/2006/main">
              <a:ext uri="{FF2B5EF4-FFF2-40B4-BE49-F238E27FC236}">
                <a16:creationId xmlns:a16="http://schemas.microsoft.com/office/drawing/2014/main" id="{7E85325A-A600-4758-B487-904722B7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489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关键中介随 X 变化</a:t>
            </a:r>
          </a:p>
        </p:txBody>
      </p:sp>
      <p:sp>
        <p:nvSpPr>
          <p:cNvPr id="21" name="hypothesis-prediction-rule-1">
            <a:extLst xmlns:a="http://schemas.openxmlformats.org/drawingml/2006/main">
              <a:ext uri="{FF2B5EF4-FFF2-40B4-BE49-F238E27FC236}">
                <a16:creationId xmlns:a16="http://schemas.microsoft.com/office/drawing/2014/main" id="{83A2014B-3CE2-4747-87AF-7AAF70ED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9090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2" name="hypothesis-prediction-dot-2">
            <a:extLst xmlns:a="http://schemas.openxmlformats.org/drawingml/2006/main">
              <a:ext uri="{FF2B5EF4-FFF2-40B4-BE49-F238E27FC236}">
                <a16:creationId xmlns:a16="http://schemas.microsoft.com/office/drawing/2014/main" id="{FFDA5274-BDD8-49F4-9B34-08C25361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183A6A"/>
            </a:solidFill>
            <a:prstDash val="solid"/>
          </a:ln>
        </p:spPr>
      </p:sp>
      <p:sp>
        <p:nvSpPr>
          <p:cNvPr id="23" name="hypothesis-prediction-index-2">
            <a:extLst xmlns:a="http://schemas.openxmlformats.org/drawingml/2006/main">
              <a:ext uri="{FF2B5EF4-FFF2-40B4-BE49-F238E27FC236}">
                <a16:creationId xmlns:a16="http://schemas.microsoft.com/office/drawing/2014/main" id="{D47FC29B-E59F-48E2-868E-ECC5CEA1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43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hypothesis-prediction-2">
            <a:extLst xmlns:a="http://schemas.openxmlformats.org/drawingml/2006/main">
              <a:ext uri="{FF2B5EF4-FFF2-40B4-BE49-F238E27FC236}">
                <a16:creationId xmlns:a16="http://schemas.microsoft.com/office/drawing/2014/main" id="{FAC0D33F-6FF5-49B2-AC8E-912F7C95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489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干预中介后 Y 同步变化</a:t>
            </a:r>
          </a:p>
        </p:txBody>
      </p:sp>
      <p:sp>
        <p:nvSpPr>
          <p:cNvPr id="25" name="hypothesis-prediction-rule-2">
            <a:extLst xmlns:a="http://schemas.openxmlformats.org/drawingml/2006/main">
              <a:ext uri="{FF2B5EF4-FFF2-40B4-BE49-F238E27FC236}">
                <a16:creationId xmlns:a16="http://schemas.microsoft.com/office/drawing/2014/main" id="{859C2BEA-450C-4AF0-A402-265D6DE4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6" name="hypothesis-prediction-dot-3">
            <a:extLst xmlns:a="http://schemas.openxmlformats.org/drawingml/2006/main">
              <a:ext uri="{FF2B5EF4-FFF2-40B4-BE49-F238E27FC236}">
                <a16:creationId xmlns:a16="http://schemas.microsoft.com/office/drawing/2014/main" id="{4785A235-CE06-47C1-B601-DAE285E1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10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183A6A"/>
            </a:solidFill>
            <a:prstDash val="solid"/>
          </a:ln>
        </p:spPr>
      </p:sp>
      <p:sp>
        <p:nvSpPr>
          <p:cNvPr id="27" name="hypothesis-prediction-index-3">
            <a:extLst xmlns:a="http://schemas.openxmlformats.org/drawingml/2006/main">
              <a:ext uri="{FF2B5EF4-FFF2-40B4-BE49-F238E27FC236}">
                <a16:creationId xmlns:a16="http://schemas.microsoft.com/office/drawing/2014/main" id="{217CACC1-6CED-4026-B759-E450B588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10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hypothesis-prediction-3">
            <a:extLst xmlns:a="http://schemas.openxmlformats.org/drawingml/2006/main">
              <a:ext uri="{FF2B5EF4-FFF2-40B4-BE49-F238E27FC236}">
                <a16:creationId xmlns:a16="http://schemas.microsoft.com/office/drawing/2014/main" id="{1F44785B-C512-4653-ACFC-206E6508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89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独立样本中方向一致</a:t>
            </a:r>
          </a:p>
        </p:txBody>
      </p:sp>
      <p:sp>
        <p:nvSpPr>
          <p:cNvPr id="29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39A3609-634D-48A8-91AA-EA508CB2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9525">
            <a:solidFill>
              <a:srgbClr val="B56A2E"/>
            </a:solidFill>
            <a:prstDash val="solid"/>
          </a:ln>
        </p:spPr>
      </p:sp>
      <p:sp>
        <p:nvSpPr>
          <p:cNvPr id="3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ED66D65F-FE52-463C-90CF-60A54C29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9775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B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B56A2E"/>
                </a:solidFill>
                <a:latin typeface="Microsoft YaHei"/>
                <a:ea typeface="Microsoft YaHei"/>
                <a:cs typeface="Microsoft YaHei"/>
              </a:rPr>
              <a:t>预测中任一关键环节失败时，必须修正或否定假设。</a:t>
            </a:r>
          </a:p>
        </p:txBody>
      </p:sp>
    </p:spTree>
    <p:extLst>
      <p:ext uri="{BB962C8B-B14F-4D97-AF65-F5344CB8AC3E}">
        <p14:creationId xmlns:p14="http://schemas.microsoft.com/office/powerpoint/2010/main" val="1358252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9D6B257F-3ABC-4399-AA91-E3276E19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5A22633D-6402-4647-8018-24E4892C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96AD37CB-974F-4956-B60D-40A2A689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问题与逻辑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D29084C1-58FE-4C16-8274-5A8ED313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7D049EFB-F3DF-43EE-B65E-85B41877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6DEE788F-D339-4C22-BA0D-84C771F8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1D412412-7B40-43B1-8ED9-1455C963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F0F59981-43D3-447A-BD3F-7979DC4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DD0DAC22-6592-422D-9D39-6F787DAC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D83975-02EA-4E36-B9B4-89C81879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三个工作包逐步回答总目标，但数量不由模板固定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7E13FCAD-359F-4E80-A608-0DB034F6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419C4FB-E119-49BE-B5E6-3536F899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3" name="milestone-objective-band">
            <a:extLst xmlns:a="http://schemas.openxmlformats.org/drawingml/2006/main">
              <a:ext uri="{FF2B5EF4-FFF2-40B4-BE49-F238E27FC236}">
                <a16:creationId xmlns:a16="http://schemas.microsoft.com/office/drawing/2014/main" id="{C1E6B5B1-7B76-406F-85B4-5C9F1A15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4" name="milestone-objective-text">
            <a:extLst xmlns:a="http://schemas.openxmlformats.org/drawingml/2006/main">
              <a:ext uri="{FF2B5EF4-FFF2-40B4-BE49-F238E27FC236}">
                <a16:creationId xmlns:a16="http://schemas.microsoft.com/office/drawing/2014/main" id="{BE9C8285-235C-4C73-98EE-5F57AD1D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059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总目标｜建立可解释、可验证并能跨场景检验的方法体系。</a:t>
            </a:r>
          </a:p>
        </p:txBody>
      </p:sp>
      <p:sp>
        <p:nvSpPr>
          <p:cNvPr id="15" name="milestone-work-package-1">
            <a:extLst xmlns:a="http://schemas.openxmlformats.org/drawingml/2006/main">
              <a:ext uri="{FF2B5EF4-FFF2-40B4-BE49-F238E27FC236}">
                <a16:creationId xmlns:a16="http://schemas.microsoft.com/office/drawing/2014/main" id="{B1F3FE29-861F-41FB-8A6A-3AE4182C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360680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11430">
            <a:solidFill>
              <a:srgbClr val="183A6A"/>
            </a:solidFill>
            <a:prstDash val="solid"/>
          </a:ln>
        </p:spPr>
      </p:sp>
      <p:sp>
        <p:nvSpPr>
          <p:cNvPr id="16" name="milestone-work-package-number-1">
            <a:extLst xmlns:a="http://schemas.openxmlformats.org/drawingml/2006/main">
              <a:ext uri="{FF2B5EF4-FFF2-40B4-BE49-F238E27FC236}">
                <a16:creationId xmlns:a16="http://schemas.microsoft.com/office/drawing/2014/main" id="{D489F344-2F62-4436-A2ED-87353183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milestone-work-package-title-1">
            <a:extLst xmlns:a="http://schemas.openxmlformats.org/drawingml/2006/main">
              <a:ext uri="{FF2B5EF4-FFF2-40B4-BE49-F238E27FC236}">
                <a16:creationId xmlns:a16="http://schemas.microsoft.com/office/drawing/2014/main" id="{CE4A908A-8761-4FFA-8352-E3B7E629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326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WP1｜数据与表征</a:t>
            </a:r>
          </a:p>
        </p:txBody>
      </p:sp>
      <p:sp>
        <p:nvSpPr>
          <p:cNvPr id="18" name="milestone-work-package-body-1">
            <a:extLst xmlns:a="http://schemas.openxmlformats.org/drawingml/2006/main">
              <a:ext uri="{FF2B5EF4-FFF2-40B4-BE49-F238E27FC236}">
                <a16:creationId xmlns:a16="http://schemas.microsoft.com/office/drawing/2014/main" id="{13D4E380-D1FE-43A8-9175-E399A1E6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326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现象是否稳定存在？</a:t>
            </a:r>
          </a:p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交付：标准化数据与基线</a:t>
            </a:r>
          </a:p>
        </p:txBody>
      </p:sp>
      <p:sp>
        <p:nvSpPr>
          <p:cNvPr id="19" name="milestone-work-package-2">
            <a:extLst xmlns:a="http://schemas.openxmlformats.org/drawingml/2006/main">
              <a:ext uri="{FF2B5EF4-FFF2-40B4-BE49-F238E27FC236}">
                <a16:creationId xmlns:a16="http://schemas.microsoft.com/office/drawing/2014/main" id="{C4F6EFF3-B9D1-4575-A13F-BA09C86D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2686050"/>
            <a:ext cx="360680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sp>
        <p:nvSpPr>
          <p:cNvPr id="20" name="milestone-work-package-number-2">
            <a:extLst xmlns:a="http://schemas.openxmlformats.org/drawingml/2006/main">
              <a:ext uri="{FF2B5EF4-FFF2-40B4-BE49-F238E27FC236}">
                <a16:creationId xmlns:a16="http://schemas.microsoft.com/office/drawing/2014/main" id="{FEEEE2DB-98FD-49D7-A352-0F298727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8575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milestone-work-package-title-2">
            <a:extLst xmlns:a="http://schemas.openxmlformats.org/drawingml/2006/main">
              <a:ext uri="{FF2B5EF4-FFF2-40B4-BE49-F238E27FC236}">
                <a16:creationId xmlns:a16="http://schemas.microsoft.com/office/drawing/2014/main" id="{38C3DAAD-43DA-4513-A1D6-B30F8986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314700"/>
            <a:ext cx="326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WP2｜机制与方法</a:t>
            </a:r>
          </a:p>
        </p:txBody>
      </p:sp>
      <p:sp>
        <p:nvSpPr>
          <p:cNvPr id="22" name="milestone-work-package-body-2">
            <a:extLst xmlns:a="http://schemas.openxmlformats.org/drawingml/2006/main">
              <a:ext uri="{FF2B5EF4-FFF2-40B4-BE49-F238E27FC236}">
                <a16:creationId xmlns:a16="http://schemas.microsoft.com/office/drawing/2014/main" id="{5D831FCB-43D8-4DB7-89EA-CFDBE9A5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095750"/>
            <a:ext cx="326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哪条机制能解释差异？</a:t>
            </a:r>
          </a:p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交付：可检验模型与假设</a:t>
            </a:r>
          </a:p>
        </p:txBody>
      </p:sp>
      <p:sp>
        <p:nvSpPr>
          <p:cNvPr id="23" name="milestone-work-package-3">
            <a:extLst xmlns:a="http://schemas.openxmlformats.org/drawingml/2006/main">
              <a:ext uri="{FF2B5EF4-FFF2-40B4-BE49-F238E27FC236}">
                <a16:creationId xmlns:a16="http://schemas.microsoft.com/office/drawing/2014/main" id="{B34301EA-063B-4F18-BA4C-A3D25391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86050"/>
            <a:ext cx="360680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sp>
        <p:nvSpPr>
          <p:cNvPr id="24" name="milestone-work-package-number-3">
            <a:extLst xmlns:a="http://schemas.openxmlformats.org/drawingml/2006/main">
              <a:ext uri="{FF2B5EF4-FFF2-40B4-BE49-F238E27FC236}">
                <a16:creationId xmlns:a16="http://schemas.microsoft.com/office/drawing/2014/main" id="{C123A84C-D9FD-4B90-9DE3-546D0D53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8575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milestone-work-package-title-3">
            <a:extLst xmlns:a="http://schemas.openxmlformats.org/drawingml/2006/main">
              <a:ext uri="{FF2B5EF4-FFF2-40B4-BE49-F238E27FC236}">
                <a16:creationId xmlns:a16="http://schemas.microsoft.com/office/drawing/2014/main" id="{7EA7B543-FE02-46C0-A0DA-00EC0648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314700"/>
            <a:ext cx="326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WP3｜验证与边界</a:t>
            </a:r>
          </a:p>
        </p:txBody>
      </p:sp>
      <p:sp>
        <p:nvSpPr>
          <p:cNvPr id="26" name="milestone-work-package-body-3">
            <a:extLst xmlns:a="http://schemas.openxmlformats.org/drawingml/2006/main">
              <a:ext uri="{FF2B5EF4-FFF2-40B4-BE49-F238E27FC236}">
                <a16:creationId xmlns:a16="http://schemas.microsoft.com/office/drawing/2014/main" id="{A815CD99-814B-47AD-9629-4ABCFF8D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4095750"/>
            <a:ext cx="326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结论在何种条件下成立？</a:t>
            </a:r>
          </a:p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交付：外部验证与边界</a:t>
            </a:r>
          </a:p>
        </p:txBody>
      </p:sp>
      <p:sp>
        <p:nvSpPr>
          <p:cNvPr id="27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58B93F5B-1252-48B6-A911-0C5C52D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8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F039A7E0-9451-4815-B454-ED6111C0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86425"/>
            <a:ext cx="1051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形成从数据基线、机制方法到外部验证的完整证据链。</a:t>
            </a:r>
          </a:p>
        </p:txBody>
      </p:sp>
    </p:spTree>
    <p:extLst>
      <p:ext uri="{BB962C8B-B14F-4D97-AF65-F5344CB8AC3E}">
        <p14:creationId xmlns:p14="http://schemas.microsoft.com/office/powerpoint/2010/main" val="11503183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B3C3041F-2A23-4925-8939-38072DDE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7CDB7908-0432-4305-8FE1-D9D63552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81C862C5-96F2-4795-96D7-F48573C6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问题与逻辑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5CC4671B-2099-4604-9EB9-8C26F5AC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B7CD0A9F-C14E-4879-B365-76D857BF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A1184A7E-C0BC-4E28-8CFA-7776FD5D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9F05EFD5-7F6F-4FDA-AAAB-B94BF971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33777EF6-3920-4405-BA1C-20D7E46D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66EB8AB0-4D43-457E-8127-7264A9B3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C3D2FB-CE10-4551-AC6A-00649ADF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输入通过核心机制影响结果，并受边界条件调节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45672F5D-1154-446B-B055-A2124D27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020ACB-E4BC-483C-B884-3207D43B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3" name="framework-link-input-core">
            <a:extLst xmlns:a="http://schemas.openxmlformats.org/drawingml/2006/main">
              <a:ext uri="{FF2B5EF4-FFF2-40B4-BE49-F238E27FC236}">
                <a16:creationId xmlns:a16="http://schemas.microsoft.com/office/drawing/2014/main" id="{ECA73FE8-136F-4F7E-BB0B-1C604D10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4" name="framework-arrow-input-core">
            <a:extLst xmlns:a="http://schemas.openxmlformats.org/drawingml/2006/main">
              <a:ext uri="{FF2B5EF4-FFF2-40B4-BE49-F238E27FC236}">
                <a16:creationId xmlns:a16="http://schemas.microsoft.com/office/drawing/2014/main" id="{24299015-B059-4303-B066-062B4D87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5" name="framework-link-core-output">
            <a:extLst xmlns:a="http://schemas.openxmlformats.org/drawingml/2006/main">
              <a:ext uri="{FF2B5EF4-FFF2-40B4-BE49-F238E27FC236}">
                <a16:creationId xmlns:a16="http://schemas.microsoft.com/office/drawing/2014/main" id="{9BAAC154-15AF-4F05-B270-B2416EB2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6" name="framework-arrow-core-output">
            <a:extLst xmlns:a="http://schemas.openxmlformats.org/drawingml/2006/main">
              <a:ext uri="{FF2B5EF4-FFF2-40B4-BE49-F238E27FC236}">
                <a16:creationId xmlns:a16="http://schemas.microsoft.com/office/drawing/2014/main" id="{DBBFDD8D-B3F5-4E17-8D23-8464C386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7" name="framework-link-boundary">
            <a:extLst xmlns:a="http://schemas.openxmlformats.org/drawingml/2006/main">
              <a:ext uri="{FF2B5EF4-FFF2-40B4-BE49-F238E27FC236}">
                <a16:creationId xmlns:a16="http://schemas.microsoft.com/office/drawing/2014/main" id="{4843A11C-1CE1-4D3E-9A8F-5B0ACB46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E"/>
          </a:solidFill>
          <a:ln xmlns:a="http://schemas.openxmlformats.org/drawingml/2006/main" w="0">
            <a:solidFill>
              <a:srgbClr val="B77A2E"/>
            </a:solidFill>
            <a:prstDash val="solid"/>
          </a:ln>
        </p:spPr>
      </p:sp>
      <p:sp>
        <p:nvSpPr>
          <p:cNvPr id="18" name="framework-node-input">
            <a:extLst xmlns:a="http://schemas.openxmlformats.org/drawingml/2006/main">
              <a:ext uri="{FF2B5EF4-FFF2-40B4-BE49-F238E27FC236}">
                <a16:creationId xmlns:a16="http://schemas.microsoft.com/office/drawing/2014/main" id="{B6AD7AC5-B8B9-4548-8219-7CA8350F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5877A2"/>
            </a:solidFill>
            <a:prstDash val="solid"/>
          </a:ln>
        </p:spPr>
      </p:sp>
      <p:sp>
        <p:nvSpPr>
          <p:cNvPr id="19" name="framework-label-input">
            <a:extLst xmlns:a="http://schemas.openxmlformats.org/drawingml/2006/main">
              <a:ext uri="{FF2B5EF4-FFF2-40B4-BE49-F238E27FC236}">
                <a16:creationId xmlns:a16="http://schemas.microsoft.com/office/drawing/2014/main" id="{298DF205-4A09-45CD-9C6A-0BB9F531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研究输入</a:t>
            </a:r>
          </a:p>
        </p:txBody>
      </p:sp>
      <p:sp>
        <p:nvSpPr>
          <p:cNvPr id="20" name="framework-detail-input">
            <a:extLst xmlns:a="http://schemas.openxmlformats.org/drawingml/2006/main">
              <a:ext uri="{FF2B5EF4-FFF2-40B4-BE49-F238E27FC236}">
                <a16:creationId xmlns:a16="http://schemas.microsoft.com/office/drawing/2014/main" id="{D10160F9-2359-4ED5-8794-09C16D40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从研究问题与证据出发</a:t>
            </a:r>
          </a:p>
        </p:txBody>
      </p:sp>
      <p:sp>
        <p:nvSpPr>
          <p:cNvPr id="21" name="framework-node-core">
            <a:extLst xmlns:a="http://schemas.openxmlformats.org/drawingml/2006/main">
              <a:ext uri="{FF2B5EF4-FFF2-40B4-BE49-F238E27FC236}">
                <a16:creationId xmlns:a16="http://schemas.microsoft.com/office/drawing/2014/main" id="{5376CC5D-DDBE-4677-A2F7-90B0F734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15240">
            <a:solidFill>
              <a:srgbClr val="183A6A"/>
            </a:solidFill>
            <a:prstDash val="solid"/>
          </a:ln>
        </p:spPr>
      </p:sp>
      <p:sp>
        <p:nvSpPr>
          <p:cNvPr id="22" name="framework-label-core">
            <a:extLst xmlns:a="http://schemas.openxmlformats.org/drawingml/2006/main">
              <a:ext uri="{FF2B5EF4-FFF2-40B4-BE49-F238E27FC236}">
                <a16:creationId xmlns:a16="http://schemas.microsoft.com/office/drawing/2014/main" id="{E52A697E-E3B0-4960-BCD4-9E2A700F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7000"/>
            <a:ext cx="289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23" name="framework-node-output">
            <a:extLst xmlns:a="http://schemas.openxmlformats.org/drawingml/2006/main">
              <a:ext uri="{FF2B5EF4-FFF2-40B4-BE49-F238E27FC236}">
                <a16:creationId xmlns:a16="http://schemas.microsoft.com/office/drawing/2014/main" id="{3134E1AF-DF23-459B-8A62-82945340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5877A2"/>
            </a:solidFill>
            <a:prstDash val="solid"/>
          </a:ln>
        </p:spPr>
      </p:sp>
      <p:sp>
        <p:nvSpPr>
          <p:cNvPr id="24" name="framework-label-output">
            <a:extLst xmlns:a="http://schemas.openxmlformats.org/drawingml/2006/main">
              <a:ext uri="{FF2B5EF4-FFF2-40B4-BE49-F238E27FC236}">
                <a16:creationId xmlns:a16="http://schemas.microsoft.com/office/drawing/2014/main" id="{25ADE07C-4947-4E88-ADB0-3B0014FE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213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可观测结果</a:t>
            </a:r>
          </a:p>
        </p:txBody>
      </p:sp>
      <p:sp>
        <p:nvSpPr>
          <p:cNvPr id="25" name="framework-node-boundary">
            <a:extLst xmlns:a="http://schemas.openxmlformats.org/drawingml/2006/main">
              <a:ext uri="{FF2B5EF4-FFF2-40B4-BE49-F238E27FC236}">
                <a16:creationId xmlns:a16="http://schemas.microsoft.com/office/drawing/2014/main" id="{CA59E36D-1B44-4ADC-BD6F-802815D1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323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5240">
            <a:solidFill>
              <a:srgbClr val="B77A2E"/>
            </a:solidFill>
            <a:prstDash val="solid"/>
          </a:ln>
        </p:spPr>
      </p:sp>
      <p:sp>
        <p:nvSpPr>
          <p:cNvPr id="26" name="framework-label-boundary">
            <a:extLst xmlns:a="http://schemas.openxmlformats.org/drawingml/2006/main">
              <a:ext uri="{FF2B5EF4-FFF2-40B4-BE49-F238E27FC236}">
                <a16:creationId xmlns:a16="http://schemas.microsoft.com/office/drawing/2014/main" id="{63ADD557-682C-4F41-8B28-F8DF6EBD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8155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边界条件</a:t>
            </a:r>
          </a:p>
        </p:txBody>
      </p:sp>
      <p:sp>
        <p:nvSpPr>
          <p:cNvPr id="27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1E9FD4FD-6985-407D-A4FA-879F95A2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8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12A78FD9-0AA4-470B-8C36-FDF92A30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概念框架只显示可被证据追踪的真实关系。</a:t>
            </a:r>
          </a:p>
        </p:txBody>
      </p:sp>
    </p:spTree>
    <p:extLst>
      <p:ext uri="{BB962C8B-B14F-4D97-AF65-F5344CB8AC3E}">
        <p14:creationId xmlns:p14="http://schemas.microsoft.com/office/powerpoint/2010/main" val="12060599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E03CE306-9CE0-47BA-937B-F603FD51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204B49C5-F353-4CB1-B7B7-8B06F915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3EDD5A6F-1F98-4BE4-BA30-6A090AE9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问题与逻辑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08D89211-C7AE-4141-9B6F-071906BD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75D2CFB3-AAF1-4635-915B-1538BE79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E614BA6C-A84F-48FD-929A-2DE12D36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CD689E52-919C-46BB-B4B9-CAB75E77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D28624B9-D4F7-4D8E-94CE-F536915B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08DC4A56-8435-48F5-A0F9-358EA559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10695F-56C7-41D3-946C-15996792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结论的有效范围由对象、情境和时间窗共同限定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8E3EBBE9-428F-4662-A8D9-C9E36F3D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06EFAA9-2EEA-4094-845E-D99274CA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3" name="scope-column-1">
            <a:extLst xmlns:a="http://schemas.openxmlformats.org/drawingml/2006/main">
              <a:ext uri="{FF2B5EF4-FFF2-40B4-BE49-F238E27FC236}">
                <a16:creationId xmlns:a16="http://schemas.microsoft.com/office/drawing/2014/main" id="{D6E940B4-E450-4B6F-AB2E-CD5ECC63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4102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11430">
            <a:solidFill>
              <a:srgbClr val="183A6A"/>
            </a:solidFill>
            <a:prstDash val="solid"/>
          </a:ln>
        </p:spPr>
      </p:sp>
      <p:sp>
        <p:nvSpPr>
          <p:cNvPr id="14" name="scope-column-label-1">
            <a:extLst xmlns:a="http://schemas.openxmlformats.org/drawingml/2006/main">
              <a:ext uri="{FF2B5EF4-FFF2-40B4-BE49-F238E27FC236}">
                <a16:creationId xmlns:a16="http://schemas.microsoft.com/office/drawing/2014/main" id="{E4DE05FD-D4BE-43F6-864C-2837EC41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纳入研究范围</a:t>
            </a:r>
          </a:p>
        </p:txBody>
      </p:sp>
      <p:sp>
        <p:nvSpPr>
          <p:cNvPr id="15" name="scope-column-items-1">
            <a:extLst xmlns:a="http://schemas.openxmlformats.org/drawingml/2006/main">
              <a:ext uri="{FF2B5EF4-FFF2-40B4-BE49-F238E27FC236}">
                <a16:creationId xmlns:a16="http://schemas.microsoft.com/office/drawing/2014/main" id="{23C2C2E1-B584-462B-AAAD-F159EC3E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8387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目标人群或对象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明确场景与工况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可观测时间窗</a:t>
            </a:r>
          </a:p>
        </p:txBody>
      </p:sp>
      <p:sp>
        <p:nvSpPr>
          <p:cNvPr id="16" name="scope-column-2">
            <a:extLst xmlns:a="http://schemas.openxmlformats.org/drawingml/2006/main">
              <a:ext uri="{FF2B5EF4-FFF2-40B4-BE49-F238E27FC236}">
                <a16:creationId xmlns:a16="http://schemas.microsoft.com/office/drawing/2014/main" id="{A6037D8A-3E18-424F-9546-F9DEEA08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52600"/>
            <a:ext cx="54102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11430">
            <a:solidFill>
              <a:srgbClr val="B56A2E"/>
            </a:solidFill>
            <a:prstDash val="solid"/>
          </a:ln>
        </p:spPr>
      </p:sp>
      <p:sp>
        <p:nvSpPr>
          <p:cNvPr id="17" name="scope-column-label-2">
            <a:extLst xmlns:a="http://schemas.openxmlformats.org/drawingml/2006/main">
              <a:ext uri="{FF2B5EF4-FFF2-40B4-BE49-F238E27FC236}">
                <a16:creationId xmlns:a16="http://schemas.microsoft.com/office/drawing/2014/main" id="{5D99D871-A273-4EE7-A873-334CC607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B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B56A2E"/>
                </a:solidFill>
                <a:latin typeface="Microsoft YaHei"/>
                <a:ea typeface="Microsoft YaHei"/>
                <a:cs typeface="Microsoft YaHei"/>
              </a:rPr>
              <a:t>暂不纳入 / 外推边界</a:t>
            </a:r>
          </a:p>
        </p:txBody>
      </p:sp>
      <p:sp>
        <p:nvSpPr>
          <p:cNvPr id="18" name="scope-column-items-2">
            <a:extLst xmlns:a="http://schemas.openxmlformats.org/drawingml/2006/main">
              <a:ext uri="{FF2B5EF4-FFF2-40B4-BE49-F238E27FC236}">
                <a16:creationId xmlns:a16="http://schemas.microsoft.com/office/drawing/2014/main" id="{69D9CED8-15C1-4AF9-B71B-D258335C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8387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不具备必要数据的对象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 与主要问题无关的特殊情境</a:t>
            </a:r>
          </a:p>
        </p:txBody>
      </p:sp>
      <p:sp>
        <p:nvSpPr>
          <p:cNvPr id="19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722020F3-FC34-413F-A7BF-B31BA16A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8035EFBF-7FBF-4918-86CF-557FF882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研究结论先针对定义范围成立，外推需要独立验证。</a:t>
            </a:r>
          </a:p>
        </p:txBody>
      </p:sp>
    </p:spTree>
    <p:extLst>
      <p:ext uri="{BB962C8B-B14F-4D97-AF65-F5344CB8AC3E}">
        <p14:creationId xmlns:p14="http://schemas.microsoft.com/office/powerpoint/2010/main" val="8147101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1B530D8A-EA17-47AC-B172-699E0080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BE53C165-B512-4E90-B3DF-9C60515B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EF608A8E-56EC-4E3A-8253-79810575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问题与逻辑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F0D90651-0C94-48FA-B283-6D1D900C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9BAAB76C-E80E-4A8C-8940-831A0E18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CB4AC567-F3EB-470D-A7DC-7510E736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6D46E897-E97B-475F-B758-D3DB04E6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ABF4B2CF-127C-4943-93B4-5417CF9C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F1BCBDBF-A001-4D83-A81B-F22DB0B1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4C8AE1-9C7B-4C92-AFC8-E97FB118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研究价值来自可验证的新解释，而不是泛化的学术意义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9B0E53E6-14E8-46A8-B2B0-E71415FC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F79F190-46BF-471B-BBEB-A8438074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3" name="contribution-number-1">
            <a:extLst xmlns:a="http://schemas.openxmlformats.org/drawingml/2006/main">
              <a:ext uri="{FF2B5EF4-FFF2-40B4-BE49-F238E27FC236}">
                <a16:creationId xmlns:a16="http://schemas.microsoft.com/office/drawing/2014/main" id="{6E568AE1-C034-4781-8952-A7D34093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contribution-title-1">
            <a:extLst xmlns:a="http://schemas.openxmlformats.org/drawingml/2006/main">
              <a:ext uri="{FF2B5EF4-FFF2-40B4-BE49-F238E27FC236}">
                <a16:creationId xmlns:a16="http://schemas.microsoft.com/office/drawing/2014/main" id="{6B6FD8EC-B317-4DC4-8C22-C0F022EE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954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理论价值</a:t>
            </a:r>
          </a:p>
        </p:txBody>
      </p:sp>
      <p:sp>
        <p:nvSpPr>
          <p:cNvPr id="15" name="contribution-link-1">
            <a:extLst xmlns:a="http://schemas.openxmlformats.org/drawingml/2006/main">
              <a:ext uri="{FF2B5EF4-FFF2-40B4-BE49-F238E27FC236}">
                <a16:creationId xmlns:a16="http://schemas.microsoft.com/office/drawing/2014/main" id="{4981032E-C058-4312-BBAB-6174216F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6" name="contribution-evidence-1">
            <a:extLst xmlns:a="http://schemas.openxmlformats.org/drawingml/2006/main">
              <a:ext uri="{FF2B5EF4-FFF2-40B4-BE49-F238E27FC236}">
                <a16:creationId xmlns:a16="http://schemas.microsoft.com/office/drawing/2014/main" id="{CA2D73D9-23B5-497B-8104-C5724099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把现象性相关转成可检验机制命题｜边界：待外部样本验证</a:t>
            </a:r>
          </a:p>
        </p:txBody>
      </p:sp>
      <p:sp>
        <p:nvSpPr>
          <p:cNvPr id="17" name="contribution-number-2">
            <a:extLst xmlns:a="http://schemas.openxmlformats.org/drawingml/2006/main">
              <a:ext uri="{FF2B5EF4-FFF2-40B4-BE49-F238E27FC236}">
                <a16:creationId xmlns:a16="http://schemas.microsoft.com/office/drawing/2014/main" id="{9EFBC16E-BD06-41C6-9E25-DE1034BB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contribution-title-2">
            <a:extLst xmlns:a="http://schemas.openxmlformats.org/drawingml/2006/main">
              <a:ext uri="{FF2B5EF4-FFF2-40B4-BE49-F238E27FC236}">
                <a16:creationId xmlns:a16="http://schemas.microsoft.com/office/drawing/2014/main" id="{69A20785-E073-490A-A303-9C620ACC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65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方法价值</a:t>
            </a:r>
          </a:p>
        </p:txBody>
      </p:sp>
      <p:sp>
        <p:nvSpPr>
          <p:cNvPr id="19" name="contribution-link-2">
            <a:extLst xmlns:a="http://schemas.openxmlformats.org/drawingml/2006/main">
              <a:ext uri="{FF2B5EF4-FFF2-40B4-BE49-F238E27FC236}">
                <a16:creationId xmlns:a16="http://schemas.microsoft.com/office/drawing/2014/main" id="{DEE34811-AECD-4A0D-8A99-BBAC8995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20" name="contribution-evidence-2">
            <a:extLst xmlns:a="http://schemas.openxmlformats.org/drawingml/2006/main">
              <a:ext uri="{FF2B5EF4-FFF2-40B4-BE49-F238E27FC236}">
                <a16:creationId xmlns:a16="http://schemas.microsoft.com/office/drawing/2014/main" id="{EF7AECBE-E6AE-4077-A03E-3EECDF3F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建立方法—证据—边界的闭环｜边界：依赖数据质量</a:t>
            </a:r>
          </a:p>
        </p:txBody>
      </p:sp>
      <p:sp>
        <p:nvSpPr>
          <p:cNvPr id="21" name="contribution-number-3">
            <a:extLst xmlns:a="http://schemas.openxmlformats.org/drawingml/2006/main">
              <a:ext uri="{FF2B5EF4-FFF2-40B4-BE49-F238E27FC236}">
                <a16:creationId xmlns:a16="http://schemas.microsoft.com/office/drawing/2014/main" id="{BC024354-0CB0-4A16-B3A6-EAAE1E36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contribution-title-3">
            <a:extLst xmlns:a="http://schemas.openxmlformats.org/drawingml/2006/main">
              <a:ext uri="{FF2B5EF4-FFF2-40B4-BE49-F238E27FC236}">
                <a16:creationId xmlns:a16="http://schemas.microsoft.com/office/drawing/2014/main" id="{8C8BC924-0E5C-4B9C-8030-1446A271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57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实践价值</a:t>
            </a:r>
          </a:p>
        </p:txBody>
      </p:sp>
      <p:sp>
        <p:nvSpPr>
          <p:cNvPr id="23" name="contribution-link-3">
            <a:extLst xmlns:a="http://schemas.openxmlformats.org/drawingml/2006/main">
              <a:ext uri="{FF2B5EF4-FFF2-40B4-BE49-F238E27FC236}">
                <a16:creationId xmlns:a16="http://schemas.microsoft.com/office/drawing/2014/main" id="{985F1362-FAE3-4DAE-BCA7-8DA38ED7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24" name="contribution-evidence-3">
            <a:extLst xmlns:a="http://schemas.openxmlformats.org/drawingml/2006/main">
              <a:ext uri="{FF2B5EF4-FFF2-40B4-BE49-F238E27FC236}">
                <a16:creationId xmlns:a16="http://schemas.microsoft.com/office/drawing/2014/main" id="{C918F74C-503B-4A75-8E93-1810D0AF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给出可复核的决策指标与适用条件｜边界：不直接替代现场判断</a:t>
            </a:r>
          </a:p>
        </p:txBody>
      </p:sp>
      <p:sp>
        <p:nvSpPr>
          <p:cNvPr id="25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A387760A-5BD5-45C8-8D53-407780A0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6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88F79F1E-AB0F-4B36-9CE0-12A63D1E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贡献与价值必须连接缺口、新做法、验证和边界。</a:t>
            </a:r>
          </a:p>
        </p:txBody>
      </p:sp>
    </p:spTree>
    <p:extLst>
      <p:ext uri="{BB962C8B-B14F-4D97-AF65-F5344CB8AC3E}">
        <p14:creationId xmlns:p14="http://schemas.microsoft.com/office/powerpoint/2010/main" val="4769241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18C4F255-7B84-456C-8D77-CC9ED0DC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A8F0F1A0-255F-4C6F-AFE7-43B6DC9E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68663D65-90EB-4C04-9E08-8796E77E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方法与可行性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90713746-5B23-4877-A8F2-8A7DA5BC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DC6375BD-037A-4D61-87E5-240B3426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9B643B3B-119F-4575-80F2-82BE1C51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53E3CAA1-A401-42A0-A59D-77366414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EE59275A-5139-4F8C-9BAB-02F86D40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0D17D19C-6DB2-4C94-8E10-6BC8D9D6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EE15B7-0A3A-4161-B5C9-FB30044F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技术路线从问题出发，通过验证和边界检查形成结论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B3884298-6228-467F-BF37-061DD9F6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12F6174-C9BF-49BD-9A5F-11980A6B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3" name="process-link-1">
            <a:extLst xmlns:a="http://schemas.openxmlformats.org/drawingml/2006/main">
              <a:ext uri="{FF2B5EF4-FFF2-40B4-BE49-F238E27FC236}">
                <a16:creationId xmlns:a16="http://schemas.microsoft.com/office/drawing/2014/main" id="{92EE0EC0-348A-4D20-96D8-50D26A02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31813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4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0CC77B8B-A2CB-42A4-BC8F-5CC3F644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545" y="3124200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5" name="process-link-2">
            <a:extLst xmlns:a="http://schemas.openxmlformats.org/drawingml/2006/main">
              <a:ext uri="{FF2B5EF4-FFF2-40B4-BE49-F238E27FC236}">
                <a16:creationId xmlns:a16="http://schemas.microsoft.com/office/drawing/2014/main" id="{A836E6CF-BEB5-4151-8C8C-208135EF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31813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6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5FB71F1E-D311-4513-9E74-53A17AAC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815" y="3124200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7" name="process-link-3">
            <a:extLst xmlns:a="http://schemas.openxmlformats.org/drawingml/2006/main">
              <a:ext uri="{FF2B5EF4-FFF2-40B4-BE49-F238E27FC236}">
                <a16:creationId xmlns:a16="http://schemas.microsoft.com/office/drawing/2014/main" id="{350F121A-2313-49B0-91BA-09F24F12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1813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8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5168D111-A002-499F-98A1-C0D0065D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124200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9" name="process-link-4">
            <a:extLst xmlns:a="http://schemas.openxmlformats.org/drawingml/2006/main">
              <a:ext uri="{FF2B5EF4-FFF2-40B4-BE49-F238E27FC236}">
                <a16:creationId xmlns:a16="http://schemas.microsoft.com/office/drawing/2014/main" id="{EEA659AC-3410-4675-99FD-02D81B5A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1630" y="31813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20" name="process-arrow-4">
            <a:extLst xmlns:a="http://schemas.openxmlformats.org/drawingml/2006/main">
              <a:ext uri="{FF2B5EF4-FFF2-40B4-BE49-F238E27FC236}">
                <a16:creationId xmlns:a16="http://schemas.microsoft.com/office/drawing/2014/main" id="{9BD19B26-7648-4708-8051-61F3784B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355" y="3124200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21" name="process-node-q">
            <a:extLst xmlns:a="http://schemas.openxmlformats.org/drawingml/2006/main">
              <a:ext uri="{FF2B5EF4-FFF2-40B4-BE49-F238E27FC236}">
                <a16:creationId xmlns:a16="http://schemas.microsoft.com/office/drawing/2014/main" id="{A2305C73-2E91-4357-86BA-EBA1D1F6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95072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5877A2"/>
            </a:solidFill>
            <a:prstDash val="solid"/>
          </a:ln>
        </p:spPr>
      </p:sp>
      <p:sp>
        <p:nvSpPr>
          <p:cNvPr id="22" name="process-index-1">
            <a:extLst xmlns:a="http://schemas.openxmlformats.org/drawingml/2006/main">
              <a:ext uri="{FF2B5EF4-FFF2-40B4-BE49-F238E27FC236}">
                <a16:creationId xmlns:a16="http://schemas.microsoft.com/office/drawing/2014/main" id="{0F9C5BCC-0027-4051-BA01-B4E0F463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3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3808CB7F-4C6E-4583-92E9-74AD8D31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6078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4" name="process-detail-1">
            <a:extLst xmlns:a="http://schemas.openxmlformats.org/drawingml/2006/main">
              <a:ext uri="{FF2B5EF4-FFF2-40B4-BE49-F238E27FC236}">
                <a16:creationId xmlns:a16="http://schemas.microsoft.com/office/drawing/2014/main" id="{1189C3F3-7D30-4D4E-87AD-41AEB9C8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6459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378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从研究问题与证据出发</a:t>
            </a:r>
          </a:p>
        </p:txBody>
      </p:sp>
      <p:sp>
        <p:nvSpPr>
          <p:cNvPr id="25" name="process-node-data">
            <a:extLst xmlns:a="http://schemas.openxmlformats.org/drawingml/2006/main">
              <a:ext uri="{FF2B5EF4-FFF2-40B4-BE49-F238E27FC236}">
                <a16:creationId xmlns:a16="http://schemas.microsoft.com/office/drawing/2014/main" id="{EE83C7CD-3D9E-4F3D-8A6D-384936B1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370" y="2571750"/>
            <a:ext cx="195072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5877A2"/>
            </a:solidFill>
            <a:prstDash val="solid"/>
          </a:ln>
        </p:spPr>
      </p:sp>
      <p:sp>
        <p:nvSpPr>
          <p:cNvPr id="26" name="process-index-2">
            <a:extLst xmlns:a="http://schemas.openxmlformats.org/drawingml/2006/main">
              <a:ext uri="{FF2B5EF4-FFF2-40B4-BE49-F238E27FC236}">
                <a16:creationId xmlns:a16="http://schemas.microsoft.com/office/drawing/2014/main" id="{6009CFA8-4094-4477-9856-5E490848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686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7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8F558095-7753-4D83-9CFB-D1837853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2952750"/>
            <a:ext cx="160782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数据与样本</a:t>
            </a:r>
          </a:p>
        </p:txBody>
      </p:sp>
      <p:sp>
        <p:nvSpPr>
          <p:cNvPr id="28" name="process-node-method">
            <a:extLst xmlns:a="http://schemas.openxmlformats.org/drawingml/2006/main">
              <a:ext uri="{FF2B5EF4-FFF2-40B4-BE49-F238E27FC236}">
                <a16:creationId xmlns:a16="http://schemas.microsoft.com/office/drawing/2014/main" id="{7ABCAD93-0FF0-4E6F-90F6-803181AF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571750"/>
            <a:ext cx="195072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5877A2"/>
            </a:solidFill>
            <a:prstDash val="solid"/>
          </a:ln>
        </p:spPr>
      </p:sp>
      <p:sp>
        <p:nvSpPr>
          <p:cNvPr id="29" name="process-index-3">
            <a:extLst xmlns:a="http://schemas.openxmlformats.org/drawingml/2006/main">
              <a:ext uri="{FF2B5EF4-FFF2-40B4-BE49-F238E27FC236}">
                <a16:creationId xmlns:a16="http://schemas.microsoft.com/office/drawing/2014/main" id="{EDA73842-D508-4EBE-9343-D67A5C92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686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21A9FE62-2B24-47BD-9A16-ACCA9237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952750"/>
            <a:ext cx="160782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核心方法</a:t>
            </a:r>
          </a:p>
        </p:txBody>
      </p:sp>
      <p:sp>
        <p:nvSpPr>
          <p:cNvPr id="31" name="process-node-validation">
            <a:extLst xmlns:a="http://schemas.openxmlformats.org/drawingml/2006/main">
              <a:ext uri="{FF2B5EF4-FFF2-40B4-BE49-F238E27FC236}">
                <a16:creationId xmlns:a16="http://schemas.microsoft.com/office/drawing/2014/main" id="{8F65C572-F1A4-4A99-A6FC-B57011B0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571750"/>
            <a:ext cx="195072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5877A2"/>
            </a:solidFill>
            <a:prstDash val="solid"/>
          </a:ln>
        </p:spPr>
      </p:sp>
      <p:sp>
        <p:nvSpPr>
          <p:cNvPr id="32" name="process-index-4">
            <a:extLst xmlns:a="http://schemas.openxmlformats.org/drawingml/2006/main">
              <a:ext uri="{FF2B5EF4-FFF2-40B4-BE49-F238E27FC236}">
                <a16:creationId xmlns:a16="http://schemas.microsoft.com/office/drawing/2014/main" id="{1CBC34C9-DC32-4FD0-B321-93108B73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2686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3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7CB83228-0C02-4FB9-941A-F8EECEBB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952750"/>
            <a:ext cx="160782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验证与稳健性</a:t>
            </a:r>
          </a:p>
        </p:txBody>
      </p:sp>
      <p:sp>
        <p:nvSpPr>
          <p:cNvPr id="34" name="process-node-boundary">
            <a:extLst xmlns:a="http://schemas.openxmlformats.org/drawingml/2006/main">
              <a:ext uri="{FF2B5EF4-FFF2-40B4-BE49-F238E27FC236}">
                <a16:creationId xmlns:a16="http://schemas.microsoft.com/office/drawing/2014/main" id="{9E03D42D-FBD0-4DFA-BCD9-7BEBB407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2571750"/>
            <a:ext cx="195072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15240">
            <a:solidFill>
              <a:srgbClr val="183A6A"/>
            </a:solidFill>
            <a:prstDash val="solid"/>
          </a:ln>
        </p:spPr>
      </p:sp>
      <p:sp>
        <p:nvSpPr>
          <p:cNvPr id="35" name="process-index-5">
            <a:extLst xmlns:a="http://schemas.openxmlformats.org/drawingml/2006/main">
              <a:ext uri="{FF2B5EF4-FFF2-40B4-BE49-F238E27FC236}">
                <a16:creationId xmlns:a16="http://schemas.microsoft.com/office/drawing/2014/main" id="{D836BA5A-A8CC-4991-B712-2CE2CF47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686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E8EDF4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E8EDF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process-label-5">
            <a:extLst xmlns:a="http://schemas.openxmlformats.org/drawingml/2006/main">
              <a:ext uri="{FF2B5EF4-FFF2-40B4-BE49-F238E27FC236}">
                <a16:creationId xmlns:a16="http://schemas.microsoft.com/office/drawing/2014/main" id="{77DD1FF2-3092-40B0-AF34-5EE30F8A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952750"/>
            <a:ext cx="160782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结论与边界</a:t>
            </a:r>
          </a:p>
        </p:txBody>
      </p:sp>
      <p:sp>
        <p:nvSpPr>
          <p:cNvPr id="37" name="process-intro">
            <a:extLst xmlns:a="http://schemas.openxmlformats.org/drawingml/2006/main">
              <a:ext uri="{FF2B5EF4-FFF2-40B4-BE49-F238E27FC236}">
                <a16:creationId xmlns:a16="http://schemas.microsoft.com/office/drawing/2014/main" id="{D1DEAF94-4620-4DCE-8857-3C954DE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内容存在三步以上的真实顺序、依赖或调节关系。</a:t>
            </a:r>
          </a:p>
        </p:txBody>
      </p:sp>
      <p:sp>
        <p:nvSpPr>
          <p:cNvPr id="3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72CC116E-F2ED-4A73-A792-8FF88F1E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9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38DDE575-229D-47C6-89A6-B208FD5F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步骤数量由真实依赖决定，不固定为五步。</a:t>
            </a:r>
          </a:p>
        </p:txBody>
      </p:sp>
    </p:spTree>
    <p:extLst>
      <p:ext uri="{BB962C8B-B14F-4D97-AF65-F5344CB8AC3E}">
        <p14:creationId xmlns:p14="http://schemas.microsoft.com/office/powerpoint/2010/main" val="13108425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6AE26E23-01C3-469F-937A-443504FC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803659AC-6340-482F-B77A-03983B06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D6CBD299-C5A4-4173-A8ED-1FE435A1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方法与可行性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C31D95AF-2341-4E13-A2F6-04ABC1F2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E00065C1-7A6A-491E-93B4-1F5A2FAE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8625DAE9-8A44-4FD5-B2DA-1D596E91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538D6DFE-FCB7-427A-A52F-901BCB67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6B80AB25-D943-4ECB-A83E-44900DD1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CBEC4798-5EC4-4E4C-AFCB-7A31893A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D7C139-5598-4B8A-8DCE-40F12C6D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三层方法架构把数据、分析和验证连成可追踪闭环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ADB36ED7-A5F3-4A42-9045-05D2ADE6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6FE0F34-079F-4B7C-99FB-348F4743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3" name="framework-link-input-core">
            <a:extLst xmlns:a="http://schemas.openxmlformats.org/drawingml/2006/main">
              <a:ext uri="{FF2B5EF4-FFF2-40B4-BE49-F238E27FC236}">
                <a16:creationId xmlns:a16="http://schemas.microsoft.com/office/drawing/2014/main" id="{E1AE498D-B6F3-48CB-9C6A-B80A41B6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4" name="framework-arrow-input-core">
            <a:extLst xmlns:a="http://schemas.openxmlformats.org/drawingml/2006/main">
              <a:ext uri="{FF2B5EF4-FFF2-40B4-BE49-F238E27FC236}">
                <a16:creationId xmlns:a16="http://schemas.microsoft.com/office/drawing/2014/main" id="{FB4A5E2E-362B-4F3D-8A23-B7604E70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5" name="framework-link-core-output">
            <a:extLst xmlns:a="http://schemas.openxmlformats.org/drawingml/2006/main">
              <a:ext uri="{FF2B5EF4-FFF2-40B4-BE49-F238E27FC236}">
                <a16:creationId xmlns:a16="http://schemas.microsoft.com/office/drawing/2014/main" id="{4D49E228-2F0F-4951-90D4-FDE7DBFB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6" name="framework-arrow-core-output">
            <a:extLst xmlns:a="http://schemas.openxmlformats.org/drawingml/2006/main">
              <a:ext uri="{FF2B5EF4-FFF2-40B4-BE49-F238E27FC236}">
                <a16:creationId xmlns:a16="http://schemas.microsoft.com/office/drawing/2014/main" id="{0C0EE8A6-9994-40B4-9F12-8EF37C35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7" name="framework-link-evidence">
            <a:extLst xmlns:a="http://schemas.openxmlformats.org/drawingml/2006/main">
              <a:ext uri="{FF2B5EF4-FFF2-40B4-BE49-F238E27FC236}">
                <a16:creationId xmlns:a16="http://schemas.microsoft.com/office/drawing/2014/main" id="{CB6AEFAE-5F35-4D5D-813C-03966BB6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050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8" name="framework-node-input">
            <a:extLst xmlns:a="http://schemas.openxmlformats.org/drawingml/2006/main">
              <a:ext uri="{FF2B5EF4-FFF2-40B4-BE49-F238E27FC236}">
                <a16:creationId xmlns:a16="http://schemas.microsoft.com/office/drawing/2014/main" id="{E732C99A-9254-4C4E-BF08-73F346E9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5877A2"/>
            </a:solidFill>
            <a:prstDash val="solid"/>
          </a:ln>
        </p:spPr>
      </p:sp>
      <p:sp>
        <p:nvSpPr>
          <p:cNvPr id="19" name="framework-label-input">
            <a:extLst xmlns:a="http://schemas.openxmlformats.org/drawingml/2006/main">
              <a:ext uri="{FF2B5EF4-FFF2-40B4-BE49-F238E27FC236}">
                <a16:creationId xmlns:a16="http://schemas.microsoft.com/office/drawing/2014/main" id="{358C5F9D-3583-445A-B3DC-53BDCC4B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0" name="framework-detail-input">
            <a:extLst xmlns:a="http://schemas.openxmlformats.org/drawingml/2006/main">
              <a:ext uri="{FF2B5EF4-FFF2-40B4-BE49-F238E27FC236}">
                <a16:creationId xmlns:a16="http://schemas.microsoft.com/office/drawing/2014/main" id="{FE57BA73-631A-4EA5-9008-15BE5F6C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从研究问题与证据出发</a:t>
            </a:r>
          </a:p>
        </p:txBody>
      </p:sp>
      <p:sp>
        <p:nvSpPr>
          <p:cNvPr id="21" name="framework-node-core">
            <a:extLst xmlns:a="http://schemas.openxmlformats.org/drawingml/2006/main">
              <a:ext uri="{FF2B5EF4-FFF2-40B4-BE49-F238E27FC236}">
                <a16:creationId xmlns:a16="http://schemas.microsoft.com/office/drawing/2014/main" id="{CDD78551-470D-4170-8B38-6FA97F55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15240">
            <a:solidFill>
              <a:srgbClr val="183A6A"/>
            </a:solidFill>
            <a:prstDash val="solid"/>
          </a:ln>
        </p:spPr>
      </p:sp>
      <p:sp>
        <p:nvSpPr>
          <p:cNvPr id="22" name="framework-label-core">
            <a:extLst xmlns:a="http://schemas.openxmlformats.org/drawingml/2006/main">
              <a:ext uri="{FF2B5EF4-FFF2-40B4-BE49-F238E27FC236}">
                <a16:creationId xmlns:a16="http://schemas.microsoft.com/office/drawing/2014/main" id="{6D96B25C-0DD2-4BB2-82A0-A5F7DF9C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7000"/>
            <a:ext cx="289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分析层</a:t>
            </a:r>
          </a:p>
        </p:txBody>
      </p:sp>
      <p:sp>
        <p:nvSpPr>
          <p:cNvPr id="23" name="framework-node-output">
            <a:extLst xmlns:a="http://schemas.openxmlformats.org/drawingml/2006/main">
              <a:ext uri="{FF2B5EF4-FFF2-40B4-BE49-F238E27FC236}">
                <a16:creationId xmlns:a16="http://schemas.microsoft.com/office/drawing/2014/main" id="{7267054B-3EEB-4F84-B235-A1781DC3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5877A2"/>
            </a:solidFill>
            <a:prstDash val="solid"/>
          </a:ln>
        </p:spPr>
      </p:sp>
      <p:sp>
        <p:nvSpPr>
          <p:cNvPr id="24" name="framework-label-output">
            <a:extLst xmlns:a="http://schemas.openxmlformats.org/drawingml/2006/main">
              <a:ext uri="{FF2B5EF4-FFF2-40B4-BE49-F238E27FC236}">
                <a16:creationId xmlns:a16="http://schemas.microsoft.com/office/drawing/2014/main" id="{2C14206B-DB42-4C95-A3F9-E51DA67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213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结论与边界</a:t>
            </a:r>
          </a:p>
        </p:txBody>
      </p:sp>
      <p:sp>
        <p:nvSpPr>
          <p:cNvPr id="25" name="framework-node-evidence">
            <a:extLst xmlns:a="http://schemas.openxmlformats.org/drawingml/2006/main">
              <a:ext uri="{FF2B5EF4-FFF2-40B4-BE49-F238E27FC236}">
                <a16:creationId xmlns:a16="http://schemas.microsoft.com/office/drawing/2014/main" id="{761FAD15-B380-4EF3-9FA6-4A1BB7DD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5877A2"/>
            </a:solidFill>
            <a:prstDash val="solid"/>
          </a:ln>
        </p:spPr>
      </p:sp>
      <p:sp>
        <p:nvSpPr>
          <p:cNvPr id="26" name="framework-label-evidence">
            <a:extLst xmlns:a="http://schemas.openxmlformats.org/drawingml/2006/main">
              <a:ext uri="{FF2B5EF4-FFF2-40B4-BE49-F238E27FC236}">
                <a16:creationId xmlns:a16="http://schemas.microsoft.com/office/drawing/2014/main" id="{6D4B6E06-5510-4DBE-9E47-1DFE5087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验证层</a:t>
            </a:r>
          </a:p>
        </p:txBody>
      </p:sp>
      <p:sp>
        <p:nvSpPr>
          <p:cNvPr id="27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A756553E-AE8A-4BE7-8CE4-7D7FFC7B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8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8C02FBB6-C09C-4A4B-AFF7-AC2CDFCC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架构页强调模块之间的输入输出和验证接口。</a:t>
            </a:r>
          </a:p>
        </p:txBody>
      </p:sp>
    </p:spTree>
    <p:extLst>
      <p:ext uri="{BB962C8B-B14F-4D97-AF65-F5344CB8AC3E}">
        <p14:creationId xmlns:p14="http://schemas.microsoft.com/office/powerpoint/2010/main" val="17664518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6121E04A-F7EF-4D01-9494-D76CEAB1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7CB55023-186B-4AC6-8AAF-3FA28BEA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C116C827-496A-40A1-A9B3-6F9BD1FE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方法与可行性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207A6D25-FAD7-454F-9146-118323BB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8B45C195-8DC3-4B14-A9C8-4F905D1E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1E43B477-CDE2-4B78-801C-2B758D29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D76548FB-F7BE-41F1-B1F2-F2162E7D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8F0A3292-3A7C-46DE-AF77-72999190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1FF4E2EB-8265-441F-8274-F09D3369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FF9EF2-4658-42C4-A756-48B3EB6F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对照、处理和判据共同决定研究设计是否能回答问题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9B025A35-6199-4388-8FB7-AB7CE27B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B47B9CC-B5D6-4663-B89B-EA86044F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3" name="selection-card-1">
            <a:extLst xmlns:a="http://schemas.openxmlformats.org/drawingml/2006/main">
              <a:ext uri="{FF2B5EF4-FFF2-40B4-BE49-F238E27FC236}">
                <a16:creationId xmlns:a16="http://schemas.microsoft.com/office/drawing/2014/main" id="{D6E34C20-AF60-44D1-AA2D-E1543C96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609850" cy="32766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11430">
            <a:solidFill>
              <a:srgbClr val="183A6A"/>
            </a:solidFill>
            <a:prstDash val="solid"/>
          </a:ln>
        </p:spPr>
      </p:sp>
      <p:sp>
        <p:nvSpPr>
          <p:cNvPr id="14" name="selection-index-1">
            <a:extLst xmlns:a="http://schemas.openxmlformats.org/drawingml/2006/main">
              <a:ext uri="{FF2B5EF4-FFF2-40B4-BE49-F238E27FC236}">
                <a16:creationId xmlns:a16="http://schemas.microsoft.com/office/drawing/2014/main" id="{97DAC0F7-38D5-4588-BFF6-E756C5B6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selection-title-1">
            <a:extLst xmlns:a="http://schemas.openxmlformats.org/drawingml/2006/main">
              <a:ext uri="{FF2B5EF4-FFF2-40B4-BE49-F238E27FC236}">
                <a16:creationId xmlns:a16="http://schemas.microsoft.com/office/drawing/2014/main" id="{45E6A922-C90A-4A3B-93DF-93436710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对象与分组</a:t>
            </a:r>
          </a:p>
        </p:txBody>
      </p:sp>
      <p:sp>
        <p:nvSpPr>
          <p:cNvPr id="16" name="selection-accent-1">
            <a:extLst xmlns:a="http://schemas.openxmlformats.org/drawingml/2006/main">
              <a:ext uri="{FF2B5EF4-FFF2-40B4-BE49-F238E27FC236}">
                <a16:creationId xmlns:a16="http://schemas.microsoft.com/office/drawing/2014/main" id="{82AD644A-CE7A-45FB-882A-7BED8B96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E"/>
          </a:solidFill>
          <a:ln xmlns:a="http://schemas.openxmlformats.org/drawingml/2006/main" w="0">
            <a:solidFill>
              <a:srgbClr val="B77A2E"/>
            </a:solidFill>
            <a:prstDash val="solid"/>
          </a:ln>
        </p:spPr>
      </p:sp>
      <p:sp>
        <p:nvSpPr>
          <p:cNvPr id="17" name="selection-body-1">
            <a:extLst xmlns:a="http://schemas.openxmlformats.org/drawingml/2006/main">
              <a:ext uri="{FF2B5EF4-FFF2-40B4-BE49-F238E27FC236}">
                <a16:creationId xmlns:a16="http://schemas.microsoft.com/office/drawing/2014/main" id="{6449F8BB-397E-469A-B592-4E8A5C6D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纳入条件、分层和对照</a:t>
            </a:r>
          </a:p>
        </p:txBody>
      </p:sp>
      <p:sp>
        <p:nvSpPr>
          <p:cNvPr id="18" name="selection-card-2">
            <a:extLst xmlns:a="http://schemas.openxmlformats.org/drawingml/2006/main">
              <a:ext uri="{FF2B5EF4-FFF2-40B4-BE49-F238E27FC236}">
                <a16:creationId xmlns:a16="http://schemas.microsoft.com/office/drawing/2014/main" id="{BDDB3990-963A-456D-A1D6-9C3D360F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43050"/>
            <a:ext cx="2609850" cy="32766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sp>
        <p:nvSpPr>
          <p:cNvPr id="19" name="selection-index-2">
            <a:extLst xmlns:a="http://schemas.openxmlformats.org/drawingml/2006/main">
              <a:ext uri="{FF2B5EF4-FFF2-40B4-BE49-F238E27FC236}">
                <a16:creationId xmlns:a16="http://schemas.microsoft.com/office/drawing/2014/main" id="{E135D096-9BF4-4546-8EA0-883761CF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526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selection-title-2">
            <a:extLst xmlns:a="http://schemas.openxmlformats.org/drawingml/2006/main">
              <a:ext uri="{FF2B5EF4-FFF2-40B4-BE49-F238E27FC236}">
                <a16:creationId xmlns:a16="http://schemas.microsoft.com/office/drawing/2014/main" id="{AF63E4C3-E159-4EC2-9C01-F5B2F3D5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241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处理与测量</a:t>
            </a:r>
          </a:p>
        </p:txBody>
      </p:sp>
      <p:sp>
        <p:nvSpPr>
          <p:cNvPr id="21" name="selection-accent-2">
            <a:extLst xmlns:a="http://schemas.openxmlformats.org/drawingml/2006/main">
              <a:ext uri="{FF2B5EF4-FFF2-40B4-BE49-F238E27FC236}">
                <a16:creationId xmlns:a16="http://schemas.microsoft.com/office/drawing/2014/main" id="{97271A95-2240-42C1-8861-797F00D1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E"/>
          </a:solidFill>
          <a:ln xmlns:a="http://schemas.openxmlformats.org/drawingml/2006/main" w="0">
            <a:solidFill>
              <a:srgbClr val="B77A2E"/>
            </a:solidFill>
            <a:prstDash val="solid"/>
          </a:ln>
        </p:spPr>
      </p:sp>
      <p:sp>
        <p:nvSpPr>
          <p:cNvPr id="22" name="selection-body-2">
            <a:extLst xmlns:a="http://schemas.openxmlformats.org/drawingml/2006/main">
              <a:ext uri="{FF2B5EF4-FFF2-40B4-BE49-F238E27FC236}">
                <a16:creationId xmlns:a16="http://schemas.microsoft.com/office/drawing/2014/main" id="{0839861B-0202-42D2-9CF6-70C37AD7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9090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干预、时间窗和观察指标</a:t>
            </a:r>
          </a:p>
        </p:txBody>
      </p:sp>
      <p:sp>
        <p:nvSpPr>
          <p:cNvPr id="23" name="selection-card-3">
            <a:extLst xmlns:a="http://schemas.openxmlformats.org/drawingml/2006/main">
              <a:ext uri="{FF2B5EF4-FFF2-40B4-BE49-F238E27FC236}">
                <a16:creationId xmlns:a16="http://schemas.microsoft.com/office/drawing/2014/main" id="{3349B696-7766-4D86-8334-BA4FCD14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43050"/>
            <a:ext cx="2609850" cy="32766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sp>
        <p:nvSpPr>
          <p:cNvPr id="24" name="selection-index-3">
            <a:extLst xmlns:a="http://schemas.openxmlformats.org/drawingml/2006/main">
              <a:ext uri="{FF2B5EF4-FFF2-40B4-BE49-F238E27FC236}">
                <a16:creationId xmlns:a16="http://schemas.microsoft.com/office/drawing/2014/main" id="{FAAED222-1A38-4278-9C59-A2F5FF25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selection-title-3">
            <a:extLst xmlns:a="http://schemas.openxmlformats.org/drawingml/2006/main">
              <a:ext uri="{FF2B5EF4-FFF2-40B4-BE49-F238E27FC236}">
                <a16:creationId xmlns:a16="http://schemas.microsoft.com/office/drawing/2014/main" id="{C4361D82-7C0A-4C0B-AD44-3C09CACB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分析与验证</a:t>
            </a:r>
          </a:p>
        </p:txBody>
      </p:sp>
      <p:sp>
        <p:nvSpPr>
          <p:cNvPr id="26" name="selection-accent-3">
            <a:extLst xmlns:a="http://schemas.openxmlformats.org/drawingml/2006/main">
              <a:ext uri="{FF2B5EF4-FFF2-40B4-BE49-F238E27FC236}">
                <a16:creationId xmlns:a16="http://schemas.microsoft.com/office/drawing/2014/main" id="{08512D8F-886D-4E62-BD72-35F853CF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E"/>
          </a:solidFill>
          <a:ln xmlns:a="http://schemas.openxmlformats.org/drawingml/2006/main" w="0">
            <a:solidFill>
              <a:srgbClr val="B77A2E"/>
            </a:solidFill>
            <a:prstDash val="solid"/>
          </a:ln>
        </p:spPr>
      </p:sp>
      <p:sp>
        <p:nvSpPr>
          <p:cNvPr id="27" name="selection-body-3">
            <a:extLst xmlns:a="http://schemas.openxmlformats.org/drawingml/2006/main">
              <a:ext uri="{FF2B5EF4-FFF2-40B4-BE49-F238E27FC236}">
                <a16:creationId xmlns:a16="http://schemas.microsoft.com/office/drawing/2014/main" id="{38FE3ABA-EBEC-4464-B1ED-3E75093E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9090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主要模型、负对照和稳健性</a:t>
            </a:r>
          </a:p>
        </p:txBody>
      </p:sp>
      <p:sp>
        <p:nvSpPr>
          <p:cNvPr id="28" name="selection-card-4">
            <a:extLst xmlns:a="http://schemas.openxmlformats.org/drawingml/2006/main">
              <a:ext uri="{FF2B5EF4-FFF2-40B4-BE49-F238E27FC236}">
                <a16:creationId xmlns:a16="http://schemas.microsoft.com/office/drawing/2014/main" id="{0D576D8B-1884-4BF7-8017-84601F6A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43050"/>
            <a:ext cx="2609850" cy="32766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sp>
        <p:nvSpPr>
          <p:cNvPr id="29" name="selection-index-4">
            <a:extLst xmlns:a="http://schemas.openxmlformats.org/drawingml/2006/main">
              <a:ext uri="{FF2B5EF4-FFF2-40B4-BE49-F238E27FC236}">
                <a16:creationId xmlns:a16="http://schemas.microsoft.com/office/drawing/2014/main" id="{1B876867-9B5A-4739-9F6C-94E89DD9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526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selection-title-4">
            <a:extLst xmlns:a="http://schemas.openxmlformats.org/drawingml/2006/main">
              <a:ext uri="{FF2B5EF4-FFF2-40B4-BE49-F238E27FC236}">
                <a16:creationId xmlns:a16="http://schemas.microsoft.com/office/drawing/2014/main" id="{E192FFE4-8758-4C96-AA5A-F4DD7235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结论判据</a:t>
            </a:r>
          </a:p>
        </p:txBody>
      </p:sp>
      <p:sp>
        <p:nvSpPr>
          <p:cNvPr id="31" name="selection-accent-4">
            <a:extLst xmlns:a="http://schemas.openxmlformats.org/drawingml/2006/main">
              <a:ext uri="{FF2B5EF4-FFF2-40B4-BE49-F238E27FC236}">
                <a16:creationId xmlns:a16="http://schemas.microsoft.com/office/drawing/2014/main" id="{17A6BEB4-CD17-48A3-B105-CE6C5D8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2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E"/>
          </a:solidFill>
          <a:ln xmlns:a="http://schemas.openxmlformats.org/drawingml/2006/main" w="0">
            <a:solidFill>
              <a:srgbClr val="B77A2E"/>
            </a:solidFill>
            <a:prstDash val="solid"/>
          </a:ln>
        </p:spPr>
      </p:sp>
      <p:sp>
        <p:nvSpPr>
          <p:cNvPr id="32" name="selection-body-4">
            <a:extLst xmlns:a="http://schemas.openxmlformats.org/drawingml/2006/main">
              <a:ext uri="{FF2B5EF4-FFF2-40B4-BE49-F238E27FC236}">
                <a16:creationId xmlns:a16="http://schemas.microsoft.com/office/drawing/2014/main" id="{54FCF150-7FBE-4846-BE2D-92B17DE3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支持、修正或否定假设的条件</a:t>
            </a:r>
          </a:p>
        </p:txBody>
      </p:sp>
      <p:sp>
        <p:nvSpPr>
          <p:cNvPr id="33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11960E47-458D-427A-A68F-977B9CED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4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C11E2841-7B81-41F1-A14D-6F4CFFCC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051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设计页不罗列工具，只保留影响证据强度的关键选择。</a:t>
            </a:r>
          </a:p>
        </p:txBody>
      </p:sp>
    </p:spTree>
    <p:extLst>
      <p:ext uri="{BB962C8B-B14F-4D97-AF65-F5344CB8AC3E}">
        <p14:creationId xmlns:p14="http://schemas.microsoft.com/office/powerpoint/2010/main" val="1464656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A12B52DD-49A0-4E03-B116-52277E42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25C166B2-2BA1-4DBD-B02B-D8C9BE6F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830316F9-751B-438E-B6C2-4F2C95BC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方法与可行性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60224670-FE40-4762-A5C5-EC208A8F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8C240529-CAEE-4BE9-8358-82354559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CF408EA1-32E9-402A-9244-149BD516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31645D80-1F4A-41EC-95A8-D42CA9D5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1760F0C3-3217-48D6-A352-136B2553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AC858B7A-00E8-478E-957C-C67D8221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1FA05D-CA03-4B32-807C-051121DD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样本结构和质量控制决定结论能够外推多远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3EA129F2-2C85-4F90-A890-F2722B46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F79A66-EB18-45EC-B2AA-6310B9C0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3" name="sample-profile-panel">
            <a:extLst xmlns:a="http://schemas.openxmlformats.org/drawingml/2006/main">
              <a:ext uri="{FF2B5EF4-FFF2-40B4-BE49-F238E27FC236}">
                <a16:creationId xmlns:a16="http://schemas.microsoft.com/office/drawing/2014/main" id="{5C2D4E70-4D51-409C-82FF-E921E207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3810000" cy="43243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4" name="sample-profile-label">
            <a:extLst xmlns:a="http://schemas.openxmlformats.org/drawingml/2006/main">
              <a:ext uri="{FF2B5EF4-FFF2-40B4-BE49-F238E27FC236}">
                <a16:creationId xmlns:a16="http://schemas.microsoft.com/office/drawing/2014/main" id="{BFDA111A-6CBE-4437-B548-2BB9985B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7727"/>
          </a:bodyPr>
          <a:lstStyle xmlns:a="http://schemas.openxmlformats.org/drawingml/2006/main"/>
          <a:p xmlns:a="http://schemas.openxmlformats.org/drawingml/2006/main">
            <a:pPr algn="l"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 / 数据概况</a:t>
            </a:r>
          </a:p>
        </p:txBody>
      </p:sp>
      <p:sp>
        <p:nvSpPr>
          <p:cNvPr id="15" name="sample-metric-value-1">
            <a:extLst xmlns:a="http://schemas.openxmlformats.org/drawingml/2006/main">
              <a:ext uri="{FF2B5EF4-FFF2-40B4-BE49-F238E27FC236}">
                <a16:creationId xmlns:a16="http://schemas.microsoft.com/office/drawing/2014/main" id="{35A44146-6D71-4B84-87B0-7C70173D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4531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N=XXX</a:t>
            </a:r>
          </a:p>
        </p:txBody>
      </p:sp>
      <p:sp>
        <p:nvSpPr>
          <p:cNvPr id="16" name="sample-metric-label-1">
            <a:extLst xmlns:a="http://schemas.openxmlformats.org/drawingml/2006/main">
              <a:ext uri="{FF2B5EF4-FFF2-40B4-BE49-F238E27FC236}">
                <a16:creationId xmlns:a16="http://schemas.microsoft.com/office/drawing/2014/main" id="{B4802943-7454-4F28-A27B-33DEAEB4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rPr>
              <a:t>样本量</a:t>
            </a:r>
          </a:p>
        </p:txBody>
      </p:sp>
      <p:sp>
        <p:nvSpPr>
          <p:cNvPr id="17" name="sample-metric-value-2">
            <a:extLst xmlns:a="http://schemas.openxmlformats.org/drawingml/2006/main">
              <a:ext uri="{FF2B5EF4-FFF2-40B4-BE49-F238E27FC236}">
                <a16:creationId xmlns:a16="http://schemas.microsoft.com/office/drawing/2014/main" id="{3E58583E-EECD-46F5-A8F3-D4523528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860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4531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组</a:t>
            </a:r>
          </a:p>
        </p:txBody>
      </p:sp>
      <p:sp>
        <p:nvSpPr>
          <p:cNvPr id="18" name="sample-metric-label-2">
            <a:extLst xmlns:a="http://schemas.openxmlformats.org/drawingml/2006/main">
              <a:ext uri="{FF2B5EF4-FFF2-40B4-BE49-F238E27FC236}">
                <a16:creationId xmlns:a16="http://schemas.microsoft.com/office/drawing/2014/main" id="{54190749-CC18-4DD0-8A28-53D7792E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rPr>
              <a:t>关键分组</a:t>
            </a:r>
          </a:p>
        </p:txBody>
      </p:sp>
      <p:sp>
        <p:nvSpPr>
          <p:cNvPr id="19" name="sample-metric-value-3">
            <a:extLst xmlns:a="http://schemas.openxmlformats.org/drawingml/2006/main">
              <a:ext uri="{FF2B5EF4-FFF2-40B4-BE49-F238E27FC236}">
                <a16:creationId xmlns:a16="http://schemas.microsoft.com/office/drawing/2014/main" id="{C6E9AADF-CD9C-49CB-85C0-1A997F09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4531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 类</a:t>
            </a:r>
          </a:p>
        </p:txBody>
      </p:sp>
      <p:sp>
        <p:nvSpPr>
          <p:cNvPr id="20" name="sample-metric-label-3">
            <a:extLst xmlns:a="http://schemas.openxmlformats.org/drawingml/2006/main">
              <a:ext uri="{FF2B5EF4-FFF2-40B4-BE49-F238E27FC236}">
                <a16:creationId xmlns:a16="http://schemas.microsoft.com/office/drawing/2014/main" id="{38958FDE-3539-45FE-BBCE-C2916CF9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rPr>
              <a:t>数据模态</a:t>
            </a:r>
          </a:p>
        </p:txBody>
      </p:sp>
      <p:sp>
        <p:nvSpPr>
          <p:cNvPr id="21" name="sample-metric-value-4">
            <a:extLst xmlns:a="http://schemas.openxmlformats.org/drawingml/2006/main">
              <a:ext uri="{FF2B5EF4-FFF2-40B4-BE49-F238E27FC236}">
                <a16:creationId xmlns:a16="http://schemas.microsoft.com/office/drawing/2014/main" id="{B4A7669F-5F47-441C-8978-5FC18A70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052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4531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 月</a:t>
            </a:r>
          </a:p>
        </p:txBody>
      </p:sp>
      <p:sp>
        <p:nvSpPr>
          <p:cNvPr id="22" name="sample-metric-label-4">
            <a:extLst xmlns:a="http://schemas.openxmlformats.org/drawingml/2006/main">
              <a:ext uri="{FF2B5EF4-FFF2-40B4-BE49-F238E27FC236}">
                <a16:creationId xmlns:a16="http://schemas.microsoft.com/office/drawing/2014/main" id="{03AC3B42-DF9A-4C10-9443-027BCF6D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76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rPr>
              <a:t>观察窗口</a:t>
            </a:r>
          </a:p>
        </p:txBody>
      </p:sp>
      <p:sp>
        <p:nvSpPr>
          <p:cNvPr id="23" name="data-layer-index-1">
            <a:extLst xmlns:a="http://schemas.openxmlformats.org/drawingml/2006/main">
              <a:ext uri="{FF2B5EF4-FFF2-40B4-BE49-F238E27FC236}">
                <a16:creationId xmlns:a16="http://schemas.microsoft.com/office/drawing/2014/main" id="{92B32F93-67DA-4BC2-B9BE-99B7BC4E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811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4" name="data-layer-title-1">
            <a:extLst xmlns:a="http://schemas.openxmlformats.org/drawingml/2006/main">
              <a:ext uri="{FF2B5EF4-FFF2-40B4-BE49-F238E27FC236}">
                <a16:creationId xmlns:a16="http://schemas.microsoft.com/office/drawing/2014/main" id="{598A89DD-3E4F-4C0F-8EEF-B9D2FEF8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668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来源与纳入</a:t>
            </a:r>
          </a:p>
        </p:txBody>
      </p:sp>
      <p:sp>
        <p:nvSpPr>
          <p:cNvPr id="25" name="data-layer-body-1">
            <a:extLst xmlns:a="http://schemas.openxmlformats.org/drawingml/2006/main">
              <a:ext uri="{FF2B5EF4-FFF2-40B4-BE49-F238E27FC236}">
                <a16:creationId xmlns:a16="http://schemas.microsoft.com/office/drawing/2014/main" id="{0CB596D1-BE54-467D-9019-DDB24CCA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来源、抽样、纳入排除与代表性</a:t>
            </a:r>
          </a:p>
        </p:txBody>
      </p:sp>
      <p:sp>
        <p:nvSpPr>
          <p:cNvPr id="26" name="data-layer-rule-1">
            <a:extLst xmlns:a="http://schemas.openxmlformats.org/drawingml/2006/main">
              <a:ext uri="{FF2B5EF4-FFF2-40B4-BE49-F238E27FC236}">
                <a16:creationId xmlns:a16="http://schemas.microsoft.com/office/drawing/2014/main" id="{A4F647F5-AFBE-4648-8408-D1B3C7CF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7" name="data-layer-index-2">
            <a:extLst xmlns:a="http://schemas.openxmlformats.org/drawingml/2006/main">
              <a:ext uri="{FF2B5EF4-FFF2-40B4-BE49-F238E27FC236}">
                <a16:creationId xmlns:a16="http://schemas.microsoft.com/office/drawing/2014/main" id="{3F1A06C4-C452-4810-8DA1-713DC322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051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data-layer-title-2">
            <a:extLst xmlns:a="http://schemas.openxmlformats.org/drawingml/2006/main">
              <a:ext uri="{FF2B5EF4-FFF2-40B4-BE49-F238E27FC236}">
                <a16:creationId xmlns:a16="http://schemas.microsoft.com/office/drawing/2014/main" id="{B66A4C45-21FF-456C-AB54-D442560C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90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变量与测量</a:t>
            </a:r>
          </a:p>
        </p:txBody>
      </p:sp>
      <p:sp>
        <p:nvSpPr>
          <p:cNvPr id="29" name="data-layer-body-2">
            <a:extLst xmlns:a="http://schemas.openxmlformats.org/drawingml/2006/main">
              <a:ext uri="{FF2B5EF4-FFF2-40B4-BE49-F238E27FC236}">
                <a16:creationId xmlns:a16="http://schemas.microsoft.com/office/drawing/2014/main" id="{16BB3330-8393-44EB-B7FC-AB6C687C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输入、结果、共变量、单位和时间尺度</a:t>
            </a:r>
          </a:p>
        </p:txBody>
      </p:sp>
      <p:sp>
        <p:nvSpPr>
          <p:cNvPr id="30" name="data-layer-rule-2">
            <a:extLst xmlns:a="http://schemas.openxmlformats.org/drawingml/2006/main">
              <a:ext uri="{FF2B5EF4-FFF2-40B4-BE49-F238E27FC236}">
                <a16:creationId xmlns:a16="http://schemas.microsoft.com/office/drawing/2014/main" id="{E9B93C6D-BACF-484E-B578-66F9F62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290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31" name="data-layer-index-3">
            <a:extLst xmlns:a="http://schemas.openxmlformats.org/drawingml/2006/main">
              <a:ext uri="{FF2B5EF4-FFF2-40B4-BE49-F238E27FC236}">
                <a16:creationId xmlns:a16="http://schemas.microsoft.com/office/drawing/2014/main" id="{999A9F96-7B21-4EC0-92BA-E195711A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290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data-layer-title-3">
            <a:extLst xmlns:a="http://schemas.openxmlformats.org/drawingml/2006/main">
              <a:ext uri="{FF2B5EF4-FFF2-40B4-BE49-F238E27FC236}">
                <a16:creationId xmlns:a16="http://schemas.microsoft.com/office/drawing/2014/main" id="{980C3683-BCAC-4A95-A593-8ACFBF88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14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质量与偏差</a:t>
            </a:r>
          </a:p>
        </p:txBody>
      </p:sp>
      <p:sp>
        <p:nvSpPr>
          <p:cNvPr id="33" name="data-layer-body-3">
            <a:extLst xmlns:a="http://schemas.openxmlformats.org/drawingml/2006/main">
              <a:ext uri="{FF2B5EF4-FFF2-40B4-BE49-F238E27FC236}">
                <a16:creationId xmlns:a16="http://schemas.microsoft.com/office/drawing/2014/main" id="{F8D3E4C9-B0C4-4766-B675-7EE9DA7A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缺失、批次、测量误差和偏差控制</a:t>
            </a:r>
          </a:p>
        </p:txBody>
      </p:sp>
      <p:sp>
        <p:nvSpPr>
          <p:cNvPr id="34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7C7DDAEB-534A-439A-AA63-0E2AA82D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5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1409736B-902E-4D0E-8B9A-22708C63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051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先交代对象、规模、变量和质量，再进入模型结果。</a:t>
            </a:r>
          </a:p>
        </p:txBody>
      </p:sp>
    </p:spTree>
    <p:extLst>
      <p:ext uri="{BB962C8B-B14F-4D97-AF65-F5344CB8AC3E}">
        <p14:creationId xmlns:p14="http://schemas.microsoft.com/office/powerpoint/2010/main" val="16337126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FE5F03A4-00AD-443D-B215-6CB02271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590719D2-9ED5-4799-A55A-9E85D44F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3AE0B99F-E3B7-4C3C-B206-F327B88C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方法与可行性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E7359BE6-AFF9-4F0B-9AFF-961B2C5B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08F834D4-FCF5-48FE-98AE-14E4B5D2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98010697-0577-478D-B371-6E775142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EA0DF1FC-FC7B-4DD1-9A01-803BB798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1E46D14C-657E-4F44-9368-F758D13C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468B3EDD-06D8-485E-85D0-650D30CB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6F62B9-4EEE-4E2B-A959-2B0F2A52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核心模型用一个参数表达目标关系，其余细节留在论文中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14A11835-30C4-480C-9935-C2B0F80B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8620A49-4A40-4B5E-91C3-0A8BD4A7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3" name="formula-surface">
            <a:extLst xmlns:a="http://schemas.openxmlformats.org/drawingml/2006/main">
              <a:ext uri="{FF2B5EF4-FFF2-40B4-BE49-F238E27FC236}">
                <a16:creationId xmlns:a16="http://schemas.microsoft.com/office/drawing/2014/main" id="{BCF3089F-8B43-4681-8A0A-1600D1D6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1D8E1"/>
            </a:solidFill>
            <a:prstDash val="solid"/>
          </a:ln>
        </p:spPr>
      </p:sp>
      <p:sp>
        <p:nvSpPr>
          <p:cNvPr id="14" name="formula-image-frame">
            <a:extLst xmlns:a="http://schemas.openxmlformats.org/drawingml/2006/main">
              <a:ext uri="{FF2B5EF4-FFF2-40B4-BE49-F238E27FC236}">
                <a16:creationId xmlns:a16="http://schemas.microsoft.com/office/drawing/2014/main" id="{325B0C5F-4D4E-4B24-95F3-C1944AF2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0363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b29024b2c4c2d"/>
          <a:stretch xmlns:a="http://schemas.openxmlformats.org/drawingml/2006/main"/>
        </p:blipFill>
        <p:spPr>
          <a:xfrm xmlns:a="http://schemas.openxmlformats.org/drawingml/2006/main">
            <a:off x="4138083" y="1933575"/>
            <a:ext cx="3915833" cy="704850"/>
          </a:xfrm>
          <a:prstGeom xmlns:a="http://schemas.openxmlformats.org/drawingml/2006/main" prst="rect">
            <a:avLst/>
          </a:prstGeom>
        </p:spPr>
      </p:pic>
      <p:sp>
        <p:nvSpPr>
          <p:cNvPr id="16" name="formula-meaning">
            <a:extLst xmlns:a="http://schemas.openxmlformats.org/drawingml/2006/main">
              <a:ext uri="{FF2B5EF4-FFF2-40B4-BE49-F238E27FC236}">
                <a16:creationId xmlns:a16="http://schemas.microsoft.com/office/drawing/2014/main" id="{16C78149-D678-4227-90BC-9EE9F6BC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495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35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β₁ 的方向和不确定性用于检验核心假设。</a:t>
            </a:r>
          </a:p>
        </p:txBody>
      </p:sp>
      <p:sp>
        <p:nvSpPr>
          <p:cNvPr id="17" name="formula-variables">
            <a:extLst xmlns:a="http://schemas.openxmlformats.org/drawingml/2006/main">
              <a:ext uri="{FF2B5EF4-FFF2-40B4-BE49-F238E27FC236}">
                <a16:creationId xmlns:a16="http://schemas.microsoft.com/office/drawing/2014/main" id="{150FF99F-C51C-48C9-A401-7700ECA4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495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•  β₁：在控制其他条件后 x 对 y 的边际影响</a:t>
            </a:r>
          </a:p>
        </p:txBody>
      </p:sp>
      <p:sp>
        <p:nvSpPr>
          <p:cNvPr id="18" name="formula-linked-visual-frame">
            <a:extLst xmlns:a="http://schemas.openxmlformats.org/drawingml/2006/main">
              <a:ext uri="{FF2B5EF4-FFF2-40B4-BE49-F238E27FC236}">
                <a16:creationId xmlns:a16="http://schemas.microsoft.com/office/drawing/2014/main" id="{DE3D8AAC-A88F-4A78-BC57-0B6EC1B6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24200"/>
            <a:ext cx="613410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sp>
        <p:nvSpPr>
          <p:cNvPr id="19" name="formula-linked-visual-placeholder">
            <a:extLst xmlns:a="http://schemas.openxmlformats.org/drawingml/2006/main">
              <a:ext uri="{FF2B5EF4-FFF2-40B4-BE49-F238E27FC236}">
                <a16:creationId xmlns:a16="http://schemas.microsoft.com/office/drawing/2014/main" id="{4D404765-906B-426F-BEE6-4FCF6241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190875"/>
            <a:ext cx="6000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与公式直接对应的图、曲线或结果</a:t>
            </a:r>
          </a:p>
        </p:txBody>
      </p:sp>
      <p:sp>
        <p:nvSpPr>
          <p:cNvPr id="20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F1EA7293-F236-4A9F-9129-2E802314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1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7345910B-A6DA-4D95-9DFA-CFD7F31D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公式页只解释答辩需要理解的变量、方向、单位和边界。</a:t>
            </a:r>
          </a:p>
        </p:txBody>
      </p:sp>
    </p:spTree>
    <p:extLst>
      <p:ext uri="{BB962C8B-B14F-4D97-AF65-F5344CB8AC3E}">
        <p14:creationId xmlns:p14="http://schemas.microsoft.com/office/powerpoint/2010/main" val="3946488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380DE5B5-9E0F-4B4A-AA75-F8A132AB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B90E3558-4295-4CC6-9E66-C00F3875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63BE00A4-10CB-4271-9FAF-D16BBA64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方法与可行性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99EC5E92-389F-4373-93AC-C97525A3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中期汇报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D296DF97-BABC-449C-8503-F64B03B4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C86E295C-C084-428A-8C58-A9D393EA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21BD2BC4-0141-40AD-A990-22FCADF4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ED8CE43D-50BB-4CA2-9AD1-0A6E1A4C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9705AAFB-C3D2-4942-A44A-CFF59FAE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3275EF-D688-43CF-B78F-1C33A34C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验证矩阵同时交代方法、判据和实际状态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C6B2A74B-BF6E-4678-96EA-C86ED549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5D8EDC3-1F90-489A-B36D-54C8F829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3" name="repro-index-1">
            <a:extLst xmlns:a="http://schemas.openxmlformats.org/drawingml/2006/main">
              <a:ext uri="{FF2B5EF4-FFF2-40B4-BE49-F238E27FC236}">
                <a16:creationId xmlns:a16="http://schemas.microsoft.com/office/drawing/2014/main" id="{B20C780C-90FF-46A3-8844-B82341FB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7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repro-title-1">
            <a:extLst xmlns:a="http://schemas.openxmlformats.org/drawingml/2006/main">
              <a:ext uri="{FF2B5EF4-FFF2-40B4-BE49-F238E27FC236}">
                <a16:creationId xmlns:a16="http://schemas.microsoft.com/office/drawing/2014/main" id="{4C092335-436D-4F80-94CB-8FD2FAFB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049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基线效应</a:t>
            </a:r>
          </a:p>
        </p:txBody>
      </p:sp>
      <p:sp>
        <p:nvSpPr>
          <p:cNvPr id="15" name="repro-body-1">
            <a:extLst xmlns:a="http://schemas.openxmlformats.org/drawingml/2006/main">
              <a:ext uri="{FF2B5EF4-FFF2-40B4-BE49-F238E27FC236}">
                <a16:creationId xmlns:a16="http://schemas.microsoft.com/office/drawing/2014/main" id="{7173D112-FC81-4C31-BFA6-26B5D7DB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0495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主分析｜效应与方向达到预定判据｜图 3 / 表 2</a:t>
            </a:r>
          </a:p>
        </p:txBody>
      </p:sp>
      <p:sp>
        <p:nvSpPr>
          <p:cNvPr id="16" name="repro-status-1">
            <a:extLst xmlns:a="http://schemas.openxmlformats.org/drawingml/2006/main">
              <a:ext uri="{FF2B5EF4-FFF2-40B4-BE49-F238E27FC236}">
                <a16:creationId xmlns:a16="http://schemas.microsoft.com/office/drawing/2014/main" id="{F09B3E63-D589-493B-9BCC-5DB11759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2877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9E8"/>
          </a:solidFill>
          <a:ln xmlns:a="http://schemas.openxmlformats.org/drawingml/2006/main" w="9525">
            <a:solidFill>
              <a:srgbClr val="39786E"/>
            </a:solidFill>
            <a:prstDash val="solid"/>
          </a:ln>
        </p:spPr>
        <p:txBody>
          <a:bodyPr xmlns:a="http://schemas.openxmlformats.org/drawingml/2006/main" anchor="ctr">
            <a:normAutofit fontScale="77099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397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9786E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7" name="repro-rule-1">
            <a:extLst xmlns:a="http://schemas.openxmlformats.org/drawingml/2006/main">
              <a:ext uri="{FF2B5EF4-FFF2-40B4-BE49-F238E27FC236}">
                <a16:creationId xmlns:a16="http://schemas.microsoft.com/office/drawing/2014/main" id="{752AD896-7374-4423-AB8E-48C71C26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18" name="repro-index-2">
            <a:extLst xmlns:a="http://schemas.openxmlformats.org/drawingml/2006/main">
              <a:ext uri="{FF2B5EF4-FFF2-40B4-BE49-F238E27FC236}">
                <a16:creationId xmlns:a16="http://schemas.microsoft.com/office/drawing/2014/main" id="{F6076F76-5A1E-4B05-85EC-3826C29F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7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repro-title-2">
            <a:extLst xmlns:a="http://schemas.openxmlformats.org/drawingml/2006/main">
              <a:ext uri="{FF2B5EF4-FFF2-40B4-BE49-F238E27FC236}">
                <a16:creationId xmlns:a16="http://schemas.microsoft.com/office/drawing/2014/main" id="{708DCDD0-B2F6-49C5-8DDE-9D5E68E9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稳健性</a:t>
            </a:r>
          </a:p>
        </p:txBody>
      </p:sp>
      <p:sp>
        <p:nvSpPr>
          <p:cNvPr id="20" name="repro-body-2">
            <a:extLst xmlns:a="http://schemas.openxmlformats.org/drawingml/2006/main">
              <a:ext uri="{FF2B5EF4-FFF2-40B4-BE49-F238E27FC236}">
                <a16:creationId xmlns:a16="http://schemas.microsoft.com/office/drawing/2014/main" id="{683A5959-5545-4EBC-9475-FADC2E6C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替代参数与负对照｜核心结论不反转｜已完成2/3</a:t>
            </a:r>
          </a:p>
        </p:txBody>
      </p:sp>
      <p:sp>
        <p:nvSpPr>
          <p:cNvPr id="21" name="repro-status-2">
            <a:extLst xmlns:a="http://schemas.openxmlformats.org/drawingml/2006/main">
              <a:ext uri="{FF2B5EF4-FFF2-40B4-BE49-F238E27FC236}">
                <a16:creationId xmlns:a16="http://schemas.microsoft.com/office/drawing/2014/main" id="{FE39A8F7-8DD5-455C-90F7-1482645A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6697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DFE7"/>
          </a:solidFill>
          <a:ln xmlns:a="http://schemas.openxmlformats.org/drawingml/2006/main" w="9525">
            <a:solidFill>
              <a:srgbClr val="183A6A"/>
            </a:solidFill>
            <a:prstDash val="solid"/>
          </a:ln>
        </p:spPr>
        <p:txBody>
          <a:bodyPr xmlns:a="http://schemas.openxmlformats.org/drawingml/2006/main" anchor="ctr">
            <a:normAutofit fontScale="77099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22" name="repro-rule-2">
            <a:extLst xmlns:a="http://schemas.openxmlformats.org/drawingml/2006/main">
              <a:ext uri="{FF2B5EF4-FFF2-40B4-BE49-F238E27FC236}">
                <a16:creationId xmlns:a16="http://schemas.microsoft.com/office/drawing/2014/main" id="{62ABCB5B-608D-4E2B-8CC4-11127019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3" name="repro-index-3">
            <a:extLst xmlns:a="http://schemas.openxmlformats.org/drawingml/2006/main">
              <a:ext uri="{FF2B5EF4-FFF2-40B4-BE49-F238E27FC236}">
                <a16:creationId xmlns:a16="http://schemas.microsoft.com/office/drawing/2014/main" id="{A9DB9D0C-05F1-4FD8-96A6-7C3735CC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7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repro-title-3">
            <a:extLst xmlns:a="http://schemas.openxmlformats.org/drawingml/2006/main">
              <a:ext uri="{FF2B5EF4-FFF2-40B4-BE49-F238E27FC236}">
                <a16:creationId xmlns:a16="http://schemas.microsoft.com/office/drawing/2014/main" id="{AEE46DE2-576D-4824-BB7B-9714C820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外部适用性</a:t>
            </a:r>
          </a:p>
        </p:txBody>
      </p:sp>
      <p:sp>
        <p:nvSpPr>
          <p:cNvPr id="25" name="repro-body-3">
            <a:extLst xmlns:a="http://schemas.openxmlformats.org/drawingml/2006/main">
              <a:ext uri="{FF2B5EF4-FFF2-40B4-BE49-F238E27FC236}">
                <a16:creationId xmlns:a16="http://schemas.microsoft.com/office/drawing/2014/main" id="{6C42BE2B-66B2-49D4-9364-71E37EE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8135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独立样本复核｜方向一致且边界可解释｜样本到位延迟</a:t>
            </a:r>
          </a:p>
        </p:txBody>
      </p:sp>
      <p:sp>
        <p:nvSpPr>
          <p:cNvPr id="26" name="repro-status-3">
            <a:extLst xmlns:a="http://schemas.openxmlformats.org/drawingml/2006/main">
              <a:ext uri="{FF2B5EF4-FFF2-40B4-BE49-F238E27FC236}">
                <a16:creationId xmlns:a16="http://schemas.microsoft.com/office/drawing/2014/main" id="{255BDAE5-6A6B-4DDD-882F-D69C2617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0517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7DE"/>
          </a:solidFill>
          <a:ln xmlns:a="http://schemas.openxmlformats.org/drawingml/2006/main" w="9525">
            <a:solidFill>
              <a:srgbClr val="B56A2E"/>
            </a:solidFill>
            <a:prstDash val="solid"/>
          </a:ln>
        </p:spPr>
        <p:txBody>
          <a:bodyPr xmlns:a="http://schemas.openxmlformats.org/drawingml/2006/main" anchor="ctr">
            <a:normAutofit fontScale="77099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B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B56A2E"/>
                </a:solidFill>
                <a:latin typeface="Microsoft YaHei"/>
                <a:ea typeface="Microsoft YaHei"/>
                <a:cs typeface="Microsoft YaHei"/>
              </a:rPr>
              <a:t>有风险</a:t>
            </a:r>
          </a:p>
        </p:txBody>
      </p:sp>
      <p:sp>
        <p:nvSpPr>
          <p:cNvPr id="27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6A08460A-D020-4080-88E0-9795B285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8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0A95F44A-9B83-403F-BD9A-7742FCFC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开题显示拟验证路径，中期必须追加实际证据和未通过项。</a:t>
            </a:r>
          </a:p>
        </p:txBody>
      </p:sp>
    </p:spTree>
    <p:extLst>
      <p:ext uri="{BB962C8B-B14F-4D97-AF65-F5344CB8AC3E}">
        <p14:creationId xmlns:p14="http://schemas.microsoft.com/office/powerpoint/2010/main" val="4777550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4D1C3C42-5835-41BB-B896-BB419DD0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6398830E-090F-4AE0-A2C8-CB195E11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F0E28598-1134-4F43-A1B3-54847C3F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方法与可行性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A8B597EB-07BA-4A68-97E1-F3376318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DDAE5C49-A66E-439A-84DC-D98DA3B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0FB0DD87-30FA-4E4E-A224-3DB5B4E1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0AFF6C2C-53E5-4325-AEDC-337168D6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1A4311B4-B1ED-4A37-BCA3-C2CC31DD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5915B124-018F-4C81-A1DD-108D4BD7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EE7BC5-F2D5-4A44-A763-35A5800B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数据、方法和先行证据共同支撑方案可行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CE7A2B87-8A4C-46E0-81C0-31416645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D31FE60-F689-4A16-A094-0BC70B2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3" name="selection-card-1">
            <a:extLst xmlns:a="http://schemas.openxmlformats.org/drawingml/2006/main">
              <a:ext uri="{FF2B5EF4-FFF2-40B4-BE49-F238E27FC236}">
                <a16:creationId xmlns:a16="http://schemas.microsoft.com/office/drawing/2014/main" id="{A1E08B19-69D5-483A-B708-659BFD0F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35560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11430">
            <a:solidFill>
              <a:srgbClr val="183A6A"/>
            </a:solidFill>
            <a:prstDash val="solid"/>
          </a:ln>
        </p:spPr>
      </p:sp>
      <p:sp>
        <p:nvSpPr>
          <p:cNvPr id="14" name="selection-index-1">
            <a:extLst xmlns:a="http://schemas.openxmlformats.org/drawingml/2006/main">
              <a:ext uri="{FF2B5EF4-FFF2-40B4-BE49-F238E27FC236}">
                <a16:creationId xmlns:a16="http://schemas.microsoft.com/office/drawing/2014/main" id="{373DB4E6-C438-4B23-A0C4-94342F00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selection-title-1">
            <a:extLst xmlns:a="http://schemas.openxmlformats.org/drawingml/2006/main">
              <a:ext uri="{FF2B5EF4-FFF2-40B4-BE49-F238E27FC236}">
                <a16:creationId xmlns:a16="http://schemas.microsoft.com/office/drawing/2014/main" id="{12F922DB-5058-437C-8475-674A6FC9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13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数据可得</a:t>
            </a:r>
          </a:p>
        </p:txBody>
      </p:sp>
      <p:sp>
        <p:nvSpPr>
          <p:cNvPr id="16" name="selection-accent-1">
            <a:extLst xmlns:a="http://schemas.openxmlformats.org/drawingml/2006/main">
              <a:ext uri="{FF2B5EF4-FFF2-40B4-BE49-F238E27FC236}">
                <a16:creationId xmlns:a16="http://schemas.microsoft.com/office/drawing/2014/main" id="{BD240290-460F-48BC-87B5-E7CA8253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E"/>
          </a:solidFill>
          <a:ln xmlns:a="http://schemas.openxmlformats.org/drawingml/2006/main" w="0">
            <a:solidFill>
              <a:srgbClr val="B77A2E"/>
            </a:solidFill>
            <a:prstDash val="solid"/>
          </a:ln>
        </p:spPr>
      </p:sp>
      <p:sp>
        <p:nvSpPr>
          <p:cNvPr id="17" name="selection-body-1">
            <a:extLst xmlns:a="http://schemas.openxmlformats.org/drawingml/2006/main">
              <a:ext uri="{FF2B5EF4-FFF2-40B4-BE49-F238E27FC236}">
                <a16:creationId xmlns:a16="http://schemas.microsoft.com/office/drawing/2014/main" id="{5352BD10-ED26-4789-96AC-3E45D56B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3136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已完成授权或获取流程</a:t>
            </a:r>
          </a:p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边界：后续样本增量依赖外部协作</a:t>
            </a:r>
          </a:p>
        </p:txBody>
      </p:sp>
      <p:sp>
        <p:nvSpPr>
          <p:cNvPr id="18" name="selection-card-2">
            <a:extLst xmlns:a="http://schemas.openxmlformats.org/drawingml/2006/main">
              <a:ext uri="{FF2B5EF4-FFF2-40B4-BE49-F238E27FC236}">
                <a16:creationId xmlns:a16="http://schemas.microsoft.com/office/drawing/2014/main" id="{D8881A13-DBBC-4E02-89CA-62B34706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43050"/>
            <a:ext cx="35560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sp>
        <p:nvSpPr>
          <p:cNvPr id="19" name="selection-index-2">
            <a:extLst xmlns:a="http://schemas.openxmlformats.org/drawingml/2006/main">
              <a:ext uri="{FF2B5EF4-FFF2-40B4-BE49-F238E27FC236}">
                <a16:creationId xmlns:a16="http://schemas.microsoft.com/office/drawing/2014/main" id="{9CCCD8DB-9C65-4912-958A-5942775A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17526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selection-title-2">
            <a:extLst xmlns:a="http://schemas.openxmlformats.org/drawingml/2006/main">
              <a:ext uri="{FF2B5EF4-FFF2-40B4-BE49-F238E27FC236}">
                <a16:creationId xmlns:a16="http://schemas.microsoft.com/office/drawing/2014/main" id="{2D62FCEB-B0E6-4FCB-A1B8-65D93AB8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24100"/>
            <a:ext cx="313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方法可执行</a:t>
            </a:r>
          </a:p>
        </p:txBody>
      </p:sp>
      <p:sp>
        <p:nvSpPr>
          <p:cNvPr id="21" name="selection-accent-2">
            <a:extLst xmlns:a="http://schemas.openxmlformats.org/drawingml/2006/main">
              <a:ext uri="{FF2B5EF4-FFF2-40B4-BE49-F238E27FC236}">
                <a16:creationId xmlns:a16="http://schemas.microsoft.com/office/drawing/2014/main" id="{7FFF7520-3144-40F5-B3BD-934E95DC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432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E"/>
          </a:solidFill>
          <a:ln xmlns:a="http://schemas.openxmlformats.org/drawingml/2006/main" w="0">
            <a:solidFill>
              <a:srgbClr val="B77A2E"/>
            </a:solidFill>
            <a:prstDash val="solid"/>
          </a:ln>
        </p:spPr>
      </p:sp>
      <p:sp>
        <p:nvSpPr>
          <p:cNvPr id="22" name="selection-body-2">
            <a:extLst xmlns:a="http://schemas.openxmlformats.org/drawingml/2006/main">
              <a:ext uri="{FF2B5EF4-FFF2-40B4-BE49-F238E27FC236}">
                <a16:creationId xmlns:a16="http://schemas.microsoft.com/office/drawing/2014/main" id="{0581CC03-0B9A-4945-9C4D-77CE0A2E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90900"/>
            <a:ext cx="3136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核心方法已完成最小原型</a:t>
            </a:r>
          </a:p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边界：大规模验证仍需优化</a:t>
            </a:r>
          </a:p>
        </p:txBody>
      </p:sp>
      <p:sp>
        <p:nvSpPr>
          <p:cNvPr id="23" name="selection-card-3">
            <a:extLst xmlns:a="http://schemas.openxmlformats.org/drawingml/2006/main">
              <a:ext uri="{FF2B5EF4-FFF2-40B4-BE49-F238E27FC236}">
                <a16:creationId xmlns:a16="http://schemas.microsoft.com/office/drawing/2014/main" id="{078BE1C8-E6D5-480A-8A84-2EA52EEB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543050"/>
            <a:ext cx="35560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sp>
        <p:nvSpPr>
          <p:cNvPr id="24" name="selection-index-3">
            <a:extLst xmlns:a="http://schemas.openxmlformats.org/drawingml/2006/main">
              <a:ext uri="{FF2B5EF4-FFF2-40B4-BE49-F238E27FC236}">
                <a16:creationId xmlns:a16="http://schemas.microsoft.com/office/drawing/2014/main" id="{2650336E-BE99-49E8-AD07-D8B74FD0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7526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selection-title-3">
            <a:extLst xmlns:a="http://schemas.openxmlformats.org/drawingml/2006/main">
              <a:ext uri="{FF2B5EF4-FFF2-40B4-BE49-F238E27FC236}">
                <a16:creationId xmlns:a16="http://schemas.microsoft.com/office/drawing/2014/main" id="{68205F40-0512-4337-8DB7-F288EEF5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324100"/>
            <a:ext cx="313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前期证据</a:t>
            </a:r>
          </a:p>
        </p:txBody>
      </p:sp>
      <p:sp>
        <p:nvSpPr>
          <p:cNvPr id="26" name="selection-accent-3">
            <a:extLst xmlns:a="http://schemas.openxmlformats.org/drawingml/2006/main">
              <a:ext uri="{FF2B5EF4-FFF2-40B4-BE49-F238E27FC236}">
                <a16:creationId xmlns:a16="http://schemas.microsoft.com/office/drawing/2014/main" id="{3BA6937D-B37C-444B-A356-E1D486C6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1432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E"/>
          </a:solidFill>
          <a:ln xmlns:a="http://schemas.openxmlformats.org/drawingml/2006/main" w="0">
            <a:solidFill>
              <a:srgbClr val="B77A2E"/>
            </a:solidFill>
            <a:prstDash val="solid"/>
          </a:ln>
        </p:spPr>
      </p:sp>
      <p:sp>
        <p:nvSpPr>
          <p:cNvPr id="27" name="selection-body-3">
            <a:extLst xmlns:a="http://schemas.openxmlformats.org/drawingml/2006/main">
              <a:ext uri="{FF2B5EF4-FFF2-40B4-BE49-F238E27FC236}">
                <a16:creationId xmlns:a16="http://schemas.microsoft.com/office/drawing/2014/main" id="{D89D690B-9552-4F9B-A9CA-EFA37BDD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390900"/>
            <a:ext cx="3136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先导结果支持研究方向</a:t>
            </a:r>
          </a:p>
          <a:p xmlns:a="http://schemas.openxmlformats.org/drawingml/2006/main">
            <a:pPr algn="l">
              <a:def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边界：当前不足以支持最终结论</a:t>
            </a:r>
          </a:p>
        </p:txBody>
      </p:sp>
      <p:sp>
        <p:nvSpPr>
          <p:cNvPr id="2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63E91BAF-68BA-48D3-A37C-57CAEB7D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9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0B68F2F1-183B-421A-A455-2F745177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051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可行性需要可核对证据，不能只写‘条件成熟’。</a:t>
            </a:r>
          </a:p>
        </p:txBody>
      </p:sp>
    </p:spTree>
    <p:extLst>
      <p:ext uri="{BB962C8B-B14F-4D97-AF65-F5344CB8AC3E}">
        <p14:creationId xmlns:p14="http://schemas.microsoft.com/office/powerpoint/2010/main" val="3791173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C436564A-EC1E-47E0-B794-D5D448CF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6CCB8D7C-579A-4D96-BDF7-39AA90BC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06987051-51EA-4F22-A90E-D7BBFCF1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方法与可行性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6E4F7D78-8FEF-48A2-BEB7-99E89619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79297A51-47E0-446E-BEF2-B4D9F123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0D73BF09-B3C9-40A3-8F21-CF57C2FA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B206872C-4EEB-4182-B460-99538867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5756DF37-B45B-4D3C-AC41-3B3F3F13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AF86C5DB-85AE-4220-97B2-5BE9CBA1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F2C3A6-99C3-4BCC-9650-1D23AF2C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关键风险必须有触发指标、缓解动作和备选路径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83AD925A-E7D4-4A88-9591-2F289DA3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8D38B8-A8C0-43B4-AA43-EA23E096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533400" y="1733550"/>
          <a:ext xmlns:a="http://schemas.openxmlformats.org/drawingml/2006/main" cx="11125200" cy="23622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781300"/>
                <a:gridCol w="2781300"/>
                <a:gridCol w="2781300"/>
                <a:gridCol w="27813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 / 合规问题</a:t>
                      </a:r>
                    </a:p>
                  </a:txBody>
                  <a:tcPr marL="91440" marR="91440" marT="45720" marB="45720" anchor="ctr">
                    <a:solidFill>
                      <a:srgbClr val="183A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触发或判断依据</a:t>
                      </a:r>
                    </a:p>
                  </a:txBody>
                  <a:tcPr marL="91440" marR="91440" marT="45720" marB="45720" anchor="ctr">
                    <a:solidFill>
                      <a:srgbClr val="183A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预案 / 纠偏措施</a:t>
                      </a:r>
                    </a:p>
                  </a:txBody>
                  <a:tcPr marL="91440" marR="91440" marT="45720" marB="45720" anchor="ctr">
                    <a:solidFill>
                      <a:srgbClr val="183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责任与状态</a:t>
                      </a:r>
                    </a:p>
                  </a:txBody>
                  <a:tcPr marL="91440" marR="91440" marT="45720" marB="45720" anchor="ctr">
                    <a:solidFill>
                      <a:srgbClr val="183A6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样本到位不足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关键分层低于最小数量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扩展协作来源；若仍不足，将结论限定为探索性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数据负责人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核心方法不稳定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负对照下结果反转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定位假设与数据质量，必要时切换替代模型并降低结论强度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方法负责人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伦理或数据合规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授权范围与分析用途不一致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暂停相关分析并补充审查，必要时使用合规替代数据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52AD0534-341B-4603-93DB-1AD03B2D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15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D76BCEBF-284E-4A08-ABC5-7CCF7D30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风险页不追求穷尽所有问题，只处理会改变研究结论或交付的事项。</a:t>
            </a:r>
          </a:p>
        </p:txBody>
      </p:sp>
    </p:spTree>
    <p:extLst>
      <p:ext uri="{BB962C8B-B14F-4D97-AF65-F5344CB8AC3E}">
        <p14:creationId xmlns:p14="http://schemas.microsoft.com/office/powerpoint/2010/main" val="9206524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177D41B7-7246-4A3C-A6BF-B00685A0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288A47F4-7A85-4640-AF82-3FBEDC2F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667BB839-C003-4F41-A5D3-51C4E282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开题专属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56DAC80B-B84F-41A7-802A-FEA21F8C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06733527-8D30-4C2E-AA7F-92F0B00F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7C43A0AC-DD8E-4C3C-8BAC-1B2533FC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A5332D5B-08AD-4610-88D0-385564C2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81DC056C-15FC-40EA-B92A-CC6FAE22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0E22B6A2-F80F-40B3-8EC5-6708AA66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15EB5B-B8BB-421F-9089-24B8AB93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创新点必须能回到缺口、新做法和验证路径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9FFDB024-8A1E-4821-840B-651FADE8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1C3F6D4-3259-4CD8-873C-AE4097E3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3" name="innovation-disc">
            <a:extLst xmlns:a="http://schemas.openxmlformats.org/drawingml/2006/main">
              <a:ext uri="{FF2B5EF4-FFF2-40B4-BE49-F238E27FC236}">
                <a16:creationId xmlns:a16="http://schemas.microsoft.com/office/drawing/2014/main" id="{7CA217A0-A422-4DF9-8466-DE150041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4" name="innovation-disc-label">
            <a:extLst xmlns:a="http://schemas.openxmlformats.org/drawingml/2006/main">
              <a:ext uri="{FF2B5EF4-FFF2-40B4-BE49-F238E27FC236}">
                <a16:creationId xmlns:a16="http://schemas.microsoft.com/office/drawing/2014/main" id="{8BB48145-611F-408B-A1A2-7108D5E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1771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创新与贡献</a:t>
            </a:r>
          </a:p>
        </p:txBody>
      </p:sp>
      <p:sp>
        <p:nvSpPr>
          <p:cNvPr id="15" name="innovation-link-1">
            <a:extLst xmlns:a="http://schemas.openxmlformats.org/drawingml/2006/main">
              <a:ext uri="{FF2B5EF4-FFF2-40B4-BE49-F238E27FC236}">
                <a16:creationId xmlns:a16="http://schemas.microsoft.com/office/drawing/2014/main" id="{A30631B2-642C-4BB2-A2D9-11ADE799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193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6" name="innovation-row-1">
            <a:extLst xmlns:a="http://schemas.openxmlformats.org/drawingml/2006/main">
              <a:ext uri="{FF2B5EF4-FFF2-40B4-BE49-F238E27FC236}">
                <a16:creationId xmlns:a16="http://schemas.microsoft.com/office/drawing/2014/main" id="{F4D80C2F-5589-47E7-B8BF-8DFA549B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95450"/>
            <a:ext cx="7581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5877A2"/>
            </a:solidFill>
            <a:prstDash val="solid"/>
          </a:ln>
        </p:spPr>
      </p:sp>
      <p:sp>
        <p:nvSpPr>
          <p:cNvPr id="17" name="innovation-number-1">
            <a:extLst xmlns:a="http://schemas.openxmlformats.org/drawingml/2006/main">
              <a:ext uri="{FF2B5EF4-FFF2-40B4-BE49-F238E27FC236}">
                <a16:creationId xmlns:a16="http://schemas.microsoft.com/office/drawing/2014/main" id="{3EF59AA7-6CA8-41AF-B2E2-EC6B2B69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647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innovation-title-1">
            <a:extLst xmlns:a="http://schemas.openxmlformats.org/drawingml/2006/main">
              <a:ext uri="{FF2B5EF4-FFF2-40B4-BE49-F238E27FC236}">
                <a16:creationId xmlns:a16="http://schemas.microsoft.com/office/drawing/2014/main" id="{491AB9AE-C96F-477B-B2D8-D2C6A59F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提出可操作的机制假设</a:t>
            </a:r>
          </a:p>
        </p:txBody>
      </p:sp>
      <p:sp>
        <p:nvSpPr>
          <p:cNvPr id="19" name="innovation-body-1">
            <a:extLst xmlns:a="http://schemas.openxmlformats.org/drawingml/2006/main">
              <a:ext uri="{FF2B5EF4-FFF2-40B4-BE49-F238E27FC236}">
                <a16:creationId xmlns:a16="http://schemas.microsoft.com/office/drawing/2014/main" id="{3967A01E-A569-4CDC-879A-F630C96E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90750"/>
            <a:ext cx="621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缺口：现有研究只给出相关｜新做法：提出可操作的机制假设｜验证：通过干预和负对照验证</a:t>
            </a:r>
          </a:p>
        </p:txBody>
      </p:sp>
      <p:sp>
        <p:nvSpPr>
          <p:cNvPr id="20" name="innovation-link-2">
            <a:extLst xmlns:a="http://schemas.openxmlformats.org/drawingml/2006/main">
              <a:ext uri="{FF2B5EF4-FFF2-40B4-BE49-F238E27FC236}">
                <a16:creationId xmlns:a16="http://schemas.microsoft.com/office/drawing/2014/main" id="{C4EFFDAA-0948-4431-8050-59424AFD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528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21" name="innovation-row-2">
            <a:extLst xmlns:a="http://schemas.openxmlformats.org/drawingml/2006/main">
              <a:ext uri="{FF2B5EF4-FFF2-40B4-BE49-F238E27FC236}">
                <a16:creationId xmlns:a16="http://schemas.microsoft.com/office/drawing/2014/main" id="{A13BC22B-0381-47AC-B7DF-E6DB6403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28950"/>
            <a:ext cx="7581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11430">
            <a:solidFill>
              <a:srgbClr val="5877A2"/>
            </a:solidFill>
            <a:prstDash val="solid"/>
          </a:ln>
        </p:spPr>
      </p:sp>
      <p:sp>
        <p:nvSpPr>
          <p:cNvPr id="22" name="innovation-number-2">
            <a:extLst xmlns:a="http://schemas.openxmlformats.org/drawingml/2006/main">
              <a:ext uri="{FF2B5EF4-FFF2-40B4-BE49-F238E27FC236}">
                <a16:creationId xmlns:a16="http://schemas.microsoft.com/office/drawing/2014/main" id="{B72CD909-5F58-4EC8-9B00-A3BC9081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19450"/>
            <a:ext cx="647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innovation-title-2">
            <a:extLst xmlns:a="http://schemas.openxmlformats.org/drawingml/2006/main">
              <a:ext uri="{FF2B5EF4-FFF2-40B4-BE49-F238E27FC236}">
                <a16:creationId xmlns:a16="http://schemas.microsoft.com/office/drawing/2014/main" id="{955D841E-957A-4FC1-9E3F-514F4251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43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建立跨场景边界检验</a:t>
            </a:r>
          </a:p>
        </p:txBody>
      </p:sp>
      <p:sp>
        <p:nvSpPr>
          <p:cNvPr id="24" name="innovation-body-2">
            <a:extLst xmlns:a="http://schemas.openxmlformats.org/drawingml/2006/main">
              <a:ext uri="{FF2B5EF4-FFF2-40B4-BE49-F238E27FC236}">
                <a16:creationId xmlns:a16="http://schemas.microsoft.com/office/drawing/2014/main" id="{0E8AA286-A5EF-4458-940E-F002C2B1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24250"/>
            <a:ext cx="621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849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缺口：结论限于单一数据源｜新做法：建立跨场景边界检验｜验证：在独立样本中复核</a:t>
            </a:r>
          </a:p>
        </p:txBody>
      </p:sp>
      <p:sp>
        <p:nvSpPr>
          <p:cNvPr id="25" name="innovation-link-3">
            <a:extLst xmlns:a="http://schemas.openxmlformats.org/drawingml/2006/main">
              <a:ext uri="{FF2B5EF4-FFF2-40B4-BE49-F238E27FC236}">
                <a16:creationId xmlns:a16="http://schemas.microsoft.com/office/drawing/2014/main" id="{C854851A-36E3-4A19-8FC4-210F658C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863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26" name="innovation-row-3">
            <a:extLst xmlns:a="http://schemas.openxmlformats.org/drawingml/2006/main">
              <a:ext uri="{FF2B5EF4-FFF2-40B4-BE49-F238E27FC236}">
                <a16:creationId xmlns:a16="http://schemas.microsoft.com/office/drawing/2014/main" id="{F48E1F3F-A431-4F7C-850E-E974DF4C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62450"/>
            <a:ext cx="7581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5877A2"/>
            </a:solidFill>
            <a:prstDash val="solid"/>
          </a:ln>
        </p:spPr>
      </p:sp>
      <p:sp>
        <p:nvSpPr>
          <p:cNvPr id="27" name="innovation-number-3">
            <a:extLst xmlns:a="http://schemas.openxmlformats.org/drawingml/2006/main">
              <a:ext uri="{FF2B5EF4-FFF2-40B4-BE49-F238E27FC236}">
                <a16:creationId xmlns:a16="http://schemas.microsoft.com/office/drawing/2014/main" id="{11AB9A98-8441-425C-90AE-E8EF0B28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52950"/>
            <a:ext cx="647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innovation-title-3">
            <a:extLst xmlns:a="http://schemas.openxmlformats.org/drawingml/2006/main">
              <a:ext uri="{FF2B5EF4-FFF2-40B4-BE49-F238E27FC236}">
                <a16:creationId xmlns:a16="http://schemas.microsoft.com/office/drawing/2014/main" id="{B37EAE4E-C877-464B-A1A6-4F14E52F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76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将解释纳入方法约束</a:t>
            </a:r>
          </a:p>
        </p:txBody>
      </p:sp>
      <p:sp>
        <p:nvSpPr>
          <p:cNvPr id="29" name="innovation-body-3">
            <a:extLst xmlns:a="http://schemas.openxmlformats.org/drawingml/2006/main">
              <a:ext uri="{FF2B5EF4-FFF2-40B4-BE49-F238E27FC236}">
                <a16:creationId xmlns:a16="http://schemas.microsoft.com/office/drawing/2014/main" id="{847771EB-5519-4D7A-B995-7A2D28DB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0"/>
            <a:ext cx="621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5224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缺口：方法结果缺少解释｜新做法：将解释纳入方法约束｜验证：比较预测与机制一致性</a:t>
            </a:r>
          </a:p>
        </p:txBody>
      </p:sp>
      <p:sp>
        <p:nvSpPr>
          <p:cNvPr id="30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28A4105E-D793-4F41-BB52-D814B270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1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C7758FEF-B5AA-4488-819D-5E31B5BD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不使用没有检索与证据支持的‘首次’或‘填补空白’。</a:t>
            </a:r>
          </a:p>
        </p:txBody>
      </p:sp>
    </p:spTree>
    <p:extLst>
      <p:ext uri="{BB962C8B-B14F-4D97-AF65-F5344CB8AC3E}">
        <p14:creationId xmlns:p14="http://schemas.microsoft.com/office/powerpoint/2010/main" val="14774556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53318542-5C25-4ABC-A3C4-C3B7F9EE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5F9D7F1A-630A-40F0-9817-272AE8A7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88A88976-3103-49E3-91FD-B061B134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开题专属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3E7E2006-F3B6-42CD-9A21-EBA69D72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3990049F-B86C-40EA-9E14-3E6A5B82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0BE3EC8B-9FD8-46D2-9D8B-1D8F7268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E2822A94-37AA-48FA-93CD-68EB497B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228D9EF8-BEFF-4499-8861-33930827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62758124-8BA6-41BA-AB45-10841D36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25E768-910C-4E6C-8021-68293C75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预期成果用可验收交付物表达，不把计划写成既成事实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4820731B-58F6-417F-8234-4F71DCD3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76D819-76C1-4A1E-8D60-2E7D179B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3" name="conclusion-arc">
            <a:extLst xmlns:a="http://schemas.openxmlformats.org/drawingml/2006/main">
              <a:ext uri="{FF2B5EF4-FFF2-40B4-BE49-F238E27FC236}">
                <a16:creationId xmlns:a16="http://schemas.microsoft.com/office/drawing/2014/main" id="{FAE6F009-F338-4402-BBBB-9868DCD4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24193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4" name="conclusion-arc-label">
            <a:extLst xmlns:a="http://schemas.openxmlformats.org/drawingml/2006/main">
              <a:ext uri="{FF2B5EF4-FFF2-40B4-BE49-F238E27FC236}">
                <a16:creationId xmlns:a16="http://schemas.microsoft.com/office/drawing/2014/main" id="{4E50A98E-2A94-4245-B3E1-141604BA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99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0179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</p:txBody>
      </p:sp>
      <p:sp>
        <p:nvSpPr>
          <p:cNvPr id="15" name="conclusion-dot-1">
            <a:extLst xmlns:a="http://schemas.openxmlformats.org/drawingml/2006/main">
              <a:ext uri="{FF2B5EF4-FFF2-40B4-BE49-F238E27FC236}">
                <a16:creationId xmlns:a16="http://schemas.microsoft.com/office/drawing/2014/main" id="{B4DE59CA-557F-40CB-9BAC-27AB37C3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47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1430">
            <a:solidFill>
              <a:srgbClr val="183A6A"/>
            </a:solidFill>
            <a:prstDash val="solid"/>
          </a:ln>
        </p:spPr>
      </p:sp>
      <p:sp>
        <p:nvSpPr>
          <p:cNvPr id="16" name="conclusion-index-1">
            <a:extLst xmlns:a="http://schemas.openxmlformats.org/drawingml/2006/main">
              <a:ext uri="{FF2B5EF4-FFF2-40B4-BE49-F238E27FC236}">
                <a16:creationId xmlns:a16="http://schemas.microsoft.com/office/drawing/2014/main" id="{39387E96-AAB7-47EE-BF8C-06C32E81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47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conclusion-title-1">
            <a:extLst xmlns:a="http://schemas.openxmlformats.org/drawingml/2006/main">
              <a:ext uri="{FF2B5EF4-FFF2-40B4-BE49-F238E27FC236}">
                <a16:creationId xmlns:a16="http://schemas.microsoft.com/office/drawing/2014/main" id="{ED93ECAA-1217-47C1-A610-5B7E9FD2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717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数据与规范</a:t>
            </a:r>
          </a:p>
        </p:txBody>
      </p:sp>
      <p:sp>
        <p:nvSpPr>
          <p:cNvPr id="18" name="conclusion-body-1">
            <a:extLst xmlns:a="http://schemas.openxmlformats.org/drawingml/2006/main">
              <a:ext uri="{FF2B5EF4-FFF2-40B4-BE49-F238E27FC236}">
                <a16:creationId xmlns:a16="http://schemas.microsoft.com/office/drawing/2014/main" id="{DA718516-5926-4B96-B78B-97D63A92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7172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交付：可复核数据字典与质控报告｜验收：关键字段、来源和处理可追溯</a:t>
            </a:r>
          </a:p>
        </p:txBody>
      </p:sp>
      <p:sp>
        <p:nvSpPr>
          <p:cNvPr id="19" name="conclusion-rule-1">
            <a:extLst xmlns:a="http://schemas.openxmlformats.org/drawingml/2006/main">
              <a:ext uri="{FF2B5EF4-FFF2-40B4-BE49-F238E27FC236}">
                <a16:creationId xmlns:a16="http://schemas.microsoft.com/office/drawing/2014/main" id="{133F1446-FA11-48AE-9015-CD3023D8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81325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0" name="conclusion-dot-2">
            <a:extLst xmlns:a="http://schemas.openxmlformats.org/drawingml/2006/main">
              <a:ext uri="{FF2B5EF4-FFF2-40B4-BE49-F238E27FC236}">
                <a16:creationId xmlns:a16="http://schemas.microsoft.com/office/drawing/2014/main" id="{8B575BDB-FFFB-40D2-B269-C5A073FA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81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11430">
            <a:solidFill>
              <a:srgbClr val="183A6A"/>
            </a:solidFill>
            <a:prstDash val="solid"/>
          </a:ln>
        </p:spPr>
      </p:sp>
      <p:sp>
        <p:nvSpPr>
          <p:cNvPr id="21" name="conclusion-index-2">
            <a:extLst xmlns:a="http://schemas.openxmlformats.org/drawingml/2006/main">
              <a:ext uri="{FF2B5EF4-FFF2-40B4-BE49-F238E27FC236}">
                <a16:creationId xmlns:a16="http://schemas.microsoft.com/office/drawing/2014/main" id="{CE591DA5-D5DA-444A-A45E-D8853F31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813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conclusion-title-2">
            <a:extLst xmlns:a="http://schemas.openxmlformats.org/drawingml/2006/main">
              <a:ext uri="{FF2B5EF4-FFF2-40B4-BE49-F238E27FC236}">
                <a16:creationId xmlns:a16="http://schemas.microsoft.com/office/drawing/2014/main" id="{62B5761A-0203-4C48-9ACB-3EFA547E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0517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方法与证据</a:t>
            </a:r>
          </a:p>
        </p:txBody>
      </p:sp>
      <p:sp>
        <p:nvSpPr>
          <p:cNvPr id="23" name="conclusion-body-2">
            <a:extLst xmlns:a="http://schemas.openxmlformats.org/drawingml/2006/main">
              <a:ext uri="{FF2B5EF4-FFF2-40B4-BE49-F238E27FC236}">
                <a16:creationId xmlns:a16="http://schemas.microsoft.com/office/drawing/2014/main" id="{8D00B29A-F6D7-40D0-A825-8AAA1550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交付：核心模型、对照与外部验证｜验收：结论方向、不确定性和边界明确</a:t>
            </a:r>
          </a:p>
        </p:txBody>
      </p:sp>
      <p:sp>
        <p:nvSpPr>
          <p:cNvPr id="24" name="conclusion-rule-2">
            <a:extLst xmlns:a="http://schemas.openxmlformats.org/drawingml/2006/main">
              <a:ext uri="{FF2B5EF4-FFF2-40B4-BE49-F238E27FC236}">
                <a16:creationId xmlns:a16="http://schemas.microsoft.com/office/drawing/2014/main" id="{13E24C01-40F2-46BF-9D9E-622387B6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14775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5" name="conclusion-dot-3">
            <a:extLst xmlns:a="http://schemas.openxmlformats.org/drawingml/2006/main">
              <a:ext uri="{FF2B5EF4-FFF2-40B4-BE49-F238E27FC236}">
                <a16:creationId xmlns:a16="http://schemas.microsoft.com/office/drawing/2014/main" id="{6506D7BA-2068-4ABB-B805-29259B6D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148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11430">
            <a:solidFill>
              <a:srgbClr val="183A6A"/>
            </a:solidFill>
            <a:prstDash val="solid"/>
          </a:ln>
        </p:spPr>
      </p:sp>
      <p:sp>
        <p:nvSpPr>
          <p:cNvPr id="26" name="conclusion-index-3">
            <a:extLst xmlns:a="http://schemas.openxmlformats.org/drawingml/2006/main">
              <a:ext uri="{FF2B5EF4-FFF2-40B4-BE49-F238E27FC236}">
                <a16:creationId xmlns:a16="http://schemas.microsoft.com/office/drawing/2014/main" id="{617B1ADC-4274-4647-A22C-C6EBADDB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148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conclusion-title-3">
            <a:extLst xmlns:a="http://schemas.openxmlformats.org/drawingml/2006/main">
              <a:ext uri="{FF2B5EF4-FFF2-40B4-BE49-F238E27FC236}">
                <a16:creationId xmlns:a16="http://schemas.microsoft.com/office/drawing/2014/main" id="{AA8B2A9A-F732-4F8B-A0C2-1A170A76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386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学术与实践</a:t>
            </a:r>
          </a:p>
        </p:txBody>
      </p:sp>
      <p:sp>
        <p:nvSpPr>
          <p:cNvPr id="28" name="conclusion-body-3">
            <a:extLst xmlns:a="http://schemas.openxmlformats.org/drawingml/2006/main">
              <a:ext uri="{FF2B5EF4-FFF2-40B4-BE49-F238E27FC236}">
                <a16:creationId xmlns:a16="http://schemas.microsoft.com/office/drawing/2014/main" id="{3621E994-DAE7-44FA-86BA-0A28EC20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3862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交付：论文、软件或方法指南｜验收：与实际证据强度匹配</a:t>
            </a:r>
          </a:p>
        </p:txBody>
      </p:sp>
      <p:sp>
        <p:nvSpPr>
          <p:cNvPr id="29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3D7ABB86-751F-422D-BD59-557C8E64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DF023047-79F6-477E-B977-008D8945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每个交付物都需对应研究目标和验收判据。</a:t>
            </a:r>
          </a:p>
        </p:txBody>
      </p:sp>
    </p:spTree>
    <p:extLst>
      <p:ext uri="{BB962C8B-B14F-4D97-AF65-F5344CB8AC3E}">
        <p14:creationId xmlns:p14="http://schemas.microsoft.com/office/powerpoint/2010/main" val="4340784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570502F2-699A-417E-8479-64575406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A8DFF314-49A3-47F8-9661-387AA437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1EAD1F97-1757-46EF-B941-06296FCB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开题专属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BD4C1781-629A-4F85-8528-0C837FF9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5ECDA686-5BE7-4330-AAC4-779C1EEA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339D36C8-3B6A-4CCD-96EE-F6B4B772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89C4D896-A1E7-4006-93D4-8FB29434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8EDDA578-3206-4400-8BA5-786CD2EA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F6323566-13E0-4E81-8E7A-6EBF09E1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567A91-15F0-44F7-8724-38A788A8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基线计划用里程碑和交付物组织，而不是日常任务清单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AD531E2B-FB3D-4DCB-806A-CB6D70DD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6A75E65-84A6-473A-9D4B-AE4EDB0A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" name="milestone-gantt-period-1">
            <a:extLst xmlns:a="http://schemas.openxmlformats.org/drawingml/2006/main">
              <a:ext uri="{FF2B5EF4-FFF2-40B4-BE49-F238E27FC236}">
                <a16:creationId xmlns:a16="http://schemas.microsoft.com/office/drawing/2014/main" id="{55CDC9E6-BD2A-4B26-B98D-F2EFA7A1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136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milestone-gantt-period-label-1">
            <a:extLst xmlns:a="http://schemas.openxmlformats.org/drawingml/2006/main">
              <a:ext uri="{FF2B5EF4-FFF2-40B4-BE49-F238E27FC236}">
                <a16:creationId xmlns:a16="http://schemas.microsoft.com/office/drawing/2014/main" id="{A0EF94C5-5203-4171-A9E4-8CAF1832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19300"/>
            <a:ext cx="132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5" name="milestone-gantt-period-2">
            <a:extLst xmlns:a="http://schemas.openxmlformats.org/drawingml/2006/main">
              <a:ext uri="{FF2B5EF4-FFF2-40B4-BE49-F238E27FC236}">
                <a16:creationId xmlns:a16="http://schemas.microsoft.com/office/drawing/2014/main" id="{C9FBF088-B78C-4969-994E-0E13CFDF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019300"/>
            <a:ext cx="136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milestone-gantt-period-label-2">
            <a:extLst xmlns:a="http://schemas.openxmlformats.org/drawingml/2006/main">
              <a:ext uri="{FF2B5EF4-FFF2-40B4-BE49-F238E27FC236}">
                <a16:creationId xmlns:a16="http://schemas.microsoft.com/office/drawing/2014/main" id="{BB3272DA-59F6-46F1-824A-45F1969E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019300"/>
            <a:ext cx="132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7" name="milestone-gantt-period-3">
            <a:extLst xmlns:a="http://schemas.openxmlformats.org/drawingml/2006/main">
              <a:ext uri="{FF2B5EF4-FFF2-40B4-BE49-F238E27FC236}">
                <a16:creationId xmlns:a16="http://schemas.microsoft.com/office/drawing/2014/main" id="{84850FB4-2438-4643-AFDE-A856242D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2019300"/>
            <a:ext cx="136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milestone-gantt-period-label-3">
            <a:extLst xmlns:a="http://schemas.openxmlformats.org/drawingml/2006/main">
              <a:ext uri="{FF2B5EF4-FFF2-40B4-BE49-F238E27FC236}">
                <a16:creationId xmlns:a16="http://schemas.microsoft.com/office/drawing/2014/main" id="{75D1B9B3-C570-4776-8596-4CEC054C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50" y="2019300"/>
            <a:ext cx="132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9" name="milestone-gantt-period-4">
            <a:extLst xmlns:a="http://schemas.openxmlformats.org/drawingml/2006/main">
              <a:ext uri="{FF2B5EF4-FFF2-40B4-BE49-F238E27FC236}">
                <a16:creationId xmlns:a16="http://schemas.microsoft.com/office/drawing/2014/main" id="{5270B40C-AFF5-47F1-B267-F86A44AB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136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milestone-gantt-period-label-4">
            <a:extLst xmlns:a="http://schemas.openxmlformats.org/drawingml/2006/main">
              <a:ext uri="{FF2B5EF4-FFF2-40B4-BE49-F238E27FC236}">
                <a16:creationId xmlns:a16="http://schemas.microsoft.com/office/drawing/2014/main" id="{BD6396E1-C5B0-4546-838D-E932FA87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19300"/>
            <a:ext cx="132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1" name="milestone-gantt-period-5">
            <a:extLst xmlns:a="http://schemas.openxmlformats.org/drawingml/2006/main">
              <a:ext uri="{FF2B5EF4-FFF2-40B4-BE49-F238E27FC236}">
                <a16:creationId xmlns:a16="http://schemas.microsoft.com/office/drawing/2014/main" id="{E813A61F-E1DA-428A-938F-31774EC4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019300"/>
            <a:ext cx="136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milestone-gantt-period-label-5">
            <a:extLst xmlns:a="http://schemas.openxmlformats.org/drawingml/2006/main">
              <a:ext uri="{FF2B5EF4-FFF2-40B4-BE49-F238E27FC236}">
                <a16:creationId xmlns:a16="http://schemas.microsoft.com/office/drawing/2014/main" id="{F9248C29-5B29-42B6-8B53-1706A34D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2019300"/>
            <a:ext cx="132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Q5</a:t>
            </a:r>
          </a:p>
        </p:txBody>
      </p:sp>
      <p:sp>
        <p:nvSpPr>
          <p:cNvPr id="23" name="milestone-gantt-period-6">
            <a:extLst xmlns:a="http://schemas.openxmlformats.org/drawingml/2006/main">
              <a:ext uri="{FF2B5EF4-FFF2-40B4-BE49-F238E27FC236}">
                <a16:creationId xmlns:a16="http://schemas.microsoft.com/office/drawing/2014/main" id="{20992CAC-CCA9-4851-B5F0-F4935AD4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2019300"/>
            <a:ext cx="136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milestone-gantt-period-label-6">
            <a:extLst xmlns:a="http://schemas.openxmlformats.org/drawingml/2006/main">
              <a:ext uri="{FF2B5EF4-FFF2-40B4-BE49-F238E27FC236}">
                <a16:creationId xmlns:a16="http://schemas.microsoft.com/office/drawing/2014/main" id="{15E56DEF-6A13-4232-B80F-273B11BD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300" y="2019300"/>
            <a:ext cx="132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Q6</a:t>
            </a:r>
          </a:p>
        </p:txBody>
      </p:sp>
      <p:sp>
        <p:nvSpPr>
          <p:cNvPr id="25" name="milestone-gantt-task-1">
            <a:extLst xmlns:a="http://schemas.openxmlformats.org/drawingml/2006/main">
              <a:ext uri="{FF2B5EF4-FFF2-40B4-BE49-F238E27FC236}">
                <a16:creationId xmlns:a16="http://schemas.microsoft.com/office/drawing/2014/main" id="{CC98F7CE-0566-49BA-A50E-D0623A25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WP1｜数据与基线</a:t>
            </a:r>
          </a:p>
        </p:txBody>
      </p:sp>
      <p:sp>
        <p:nvSpPr>
          <p:cNvPr id="26" name="milestone-gantt-grid-1-1">
            <a:extLst xmlns:a="http://schemas.openxmlformats.org/drawingml/2006/main">
              <a:ext uri="{FF2B5EF4-FFF2-40B4-BE49-F238E27FC236}">
                <a16:creationId xmlns:a16="http://schemas.microsoft.com/office/drawing/2014/main" id="{B9EA552C-7819-4B27-9119-AEECCA83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5745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27" name="milestone-gantt-grid-1-2">
            <a:extLst xmlns:a="http://schemas.openxmlformats.org/drawingml/2006/main">
              <a:ext uri="{FF2B5EF4-FFF2-40B4-BE49-F238E27FC236}">
                <a16:creationId xmlns:a16="http://schemas.microsoft.com/office/drawing/2014/main" id="{CD1E37D9-0715-44D9-8C8C-39F2F266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45745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28" name="milestone-gantt-grid-1-3">
            <a:extLst xmlns:a="http://schemas.openxmlformats.org/drawingml/2006/main">
              <a:ext uri="{FF2B5EF4-FFF2-40B4-BE49-F238E27FC236}">
                <a16:creationId xmlns:a16="http://schemas.microsoft.com/office/drawing/2014/main" id="{B3C21A5F-F8A7-415B-954E-B2D73992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245745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29" name="milestone-gantt-grid-1-4">
            <a:extLst xmlns:a="http://schemas.openxmlformats.org/drawingml/2006/main">
              <a:ext uri="{FF2B5EF4-FFF2-40B4-BE49-F238E27FC236}">
                <a16:creationId xmlns:a16="http://schemas.microsoft.com/office/drawing/2014/main" id="{080E92AA-C437-403A-BA97-3F81B21D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30" name="milestone-gantt-grid-1-5">
            <a:extLst xmlns:a="http://schemas.openxmlformats.org/drawingml/2006/main">
              <a:ext uri="{FF2B5EF4-FFF2-40B4-BE49-F238E27FC236}">
                <a16:creationId xmlns:a16="http://schemas.microsoft.com/office/drawing/2014/main" id="{6FF9AA10-8B9B-4F8A-98CE-8680E32F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45745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31" name="milestone-gantt-grid-1-6">
            <a:extLst xmlns:a="http://schemas.openxmlformats.org/drawingml/2006/main">
              <a:ext uri="{FF2B5EF4-FFF2-40B4-BE49-F238E27FC236}">
                <a16:creationId xmlns:a16="http://schemas.microsoft.com/office/drawing/2014/main" id="{A4AF25C0-F534-402A-9BB7-983928A4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245745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32" name="milestone-gantt-bar-1">
            <a:extLst xmlns:a="http://schemas.openxmlformats.org/drawingml/2006/main">
              <a:ext uri="{FF2B5EF4-FFF2-40B4-BE49-F238E27FC236}">
                <a16:creationId xmlns:a16="http://schemas.microsoft.com/office/drawing/2014/main" id="{54C1CC39-B7B4-42CC-AAAE-FAC7110A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90800"/>
            <a:ext cx="2578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33" name="milestone-gantt-deliverable-1">
            <a:extLst xmlns:a="http://schemas.openxmlformats.org/drawingml/2006/main">
              <a:ext uri="{FF2B5EF4-FFF2-40B4-BE49-F238E27FC236}">
                <a16:creationId xmlns:a16="http://schemas.microsoft.com/office/drawing/2014/main" id="{CEED6B1A-995C-4298-9154-A82EA2F6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90800"/>
            <a:ext cx="242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M1｜基线冻结</a:t>
            </a:r>
          </a:p>
        </p:txBody>
      </p:sp>
      <p:sp>
        <p:nvSpPr>
          <p:cNvPr id="34" name="milestone-gantt-task-2">
            <a:extLst xmlns:a="http://schemas.openxmlformats.org/drawingml/2006/main">
              <a:ext uri="{FF2B5EF4-FFF2-40B4-BE49-F238E27FC236}">
                <a16:creationId xmlns:a16="http://schemas.microsoft.com/office/drawing/2014/main" id="{1C4E3F43-1C1E-48DD-9BE1-3411C659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WP2｜方法与机制</a:t>
            </a:r>
          </a:p>
        </p:txBody>
      </p:sp>
      <p:sp>
        <p:nvSpPr>
          <p:cNvPr id="35" name="milestone-gantt-grid-2-1">
            <a:extLst xmlns:a="http://schemas.openxmlformats.org/drawingml/2006/main">
              <a:ext uri="{FF2B5EF4-FFF2-40B4-BE49-F238E27FC236}">
                <a16:creationId xmlns:a16="http://schemas.microsoft.com/office/drawing/2014/main" id="{8CEFEF17-C347-427C-917E-2A8605AB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36" name="milestone-gantt-grid-2-2">
            <a:extLst xmlns:a="http://schemas.openxmlformats.org/drawingml/2006/main">
              <a:ext uri="{FF2B5EF4-FFF2-40B4-BE49-F238E27FC236}">
                <a16:creationId xmlns:a16="http://schemas.microsoft.com/office/drawing/2014/main" id="{26DDFD70-D99E-40B9-B517-695FAF32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00990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37" name="milestone-gantt-grid-2-3">
            <a:extLst xmlns:a="http://schemas.openxmlformats.org/drawingml/2006/main">
              <a:ext uri="{FF2B5EF4-FFF2-40B4-BE49-F238E27FC236}">
                <a16:creationId xmlns:a16="http://schemas.microsoft.com/office/drawing/2014/main" id="{386E8869-7853-4C37-BD14-5BD7CD14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300990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38" name="milestone-gantt-grid-2-4">
            <a:extLst xmlns:a="http://schemas.openxmlformats.org/drawingml/2006/main">
              <a:ext uri="{FF2B5EF4-FFF2-40B4-BE49-F238E27FC236}">
                <a16:creationId xmlns:a16="http://schemas.microsoft.com/office/drawing/2014/main" id="{14B362C7-81FA-4AF8-B103-F008DDC6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39" name="milestone-gantt-grid-2-5">
            <a:extLst xmlns:a="http://schemas.openxmlformats.org/drawingml/2006/main">
              <a:ext uri="{FF2B5EF4-FFF2-40B4-BE49-F238E27FC236}">
                <a16:creationId xmlns:a16="http://schemas.microsoft.com/office/drawing/2014/main" id="{CC80ABA2-266E-47D2-8B96-9F5D0BC8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00990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0" name="milestone-gantt-grid-2-6">
            <a:extLst xmlns:a="http://schemas.openxmlformats.org/drawingml/2006/main">
              <a:ext uri="{FF2B5EF4-FFF2-40B4-BE49-F238E27FC236}">
                <a16:creationId xmlns:a16="http://schemas.microsoft.com/office/drawing/2014/main" id="{77A3338B-DA05-4D74-9ED4-96F1F3F8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300990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1" name="milestone-gantt-bar-2">
            <a:extLst xmlns:a="http://schemas.openxmlformats.org/drawingml/2006/main">
              <a:ext uri="{FF2B5EF4-FFF2-40B4-BE49-F238E27FC236}">
                <a16:creationId xmlns:a16="http://schemas.microsoft.com/office/drawing/2014/main" id="{5C480D12-97EE-4805-8CF3-70422014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143250"/>
            <a:ext cx="3943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42" name="milestone-gantt-deliverable-2">
            <a:extLst xmlns:a="http://schemas.openxmlformats.org/drawingml/2006/main">
              <a:ext uri="{FF2B5EF4-FFF2-40B4-BE49-F238E27FC236}">
                <a16:creationId xmlns:a16="http://schemas.microsoft.com/office/drawing/2014/main" id="{24661C48-EA88-4AA0-B549-CF8CAA8E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14325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M2｜核心方法锁定</a:t>
            </a:r>
          </a:p>
        </p:txBody>
      </p:sp>
      <p:sp>
        <p:nvSpPr>
          <p:cNvPr id="43" name="milestone-gantt-task-3">
            <a:extLst xmlns:a="http://schemas.openxmlformats.org/drawingml/2006/main">
              <a:ext uri="{FF2B5EF4-FFF2-40B4-BE49-F238E27FC236}">
                <a16:creationId xmlns:a16="http://schemas.microsoft.com/office/drawing/2014/main" id="{B643A917-D05A-4B6F-B583-1EBEEB97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WP3｜验证与边界</a:t>
            </a:r>
          </a:p>
        </p:txBody>
      </p:sp>
      <p:sp>
        <p:nvSpPr>
          <p:cNvPr id="44" name="milestone-gantt-grid-3-1">
            <a:extLst xmlns:a="http://schemas.openxmlformats.org/drawingml/2006/main">
              <a:ext uri="{FF2B5EF4-FFF2-40B4-BE49-F238E27FC236}">
                <a16:creationId xmlns:a16="http://schemas.microsoft.com/office/drawing/2014/main" id="{CF573125-8C04-4DAA-8488-66CC5C37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5" name="milestone-gantt-grid-3-2">
            <a:extLst xmlns:a="http://schemas.openxmlformats.org/drawingml/2006/main">
              <a:ext uri="{FF2B5EF4-FFF2-40B4-BE49-F238E27FC236}">
                <a16:creationId xmlns:a16="http://schemas.microsoft.com/office/drawing/2014/main" id="{1945D238-C2D0-42AE-A278-DBD45491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6235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6" name="milestone-gantt-grid-3-3">
            <a:extLst xmlns:a="http://schemas.openxmlformats.org/drawingml/2006/main">
              <a:ext uri="{FF2B5EF4-FFF2-40B4-BE49-F238E27FC236}">
                <a16:creationId xmlns:a16="http://schemas.microsoft.com/office/drawing/2014/main" id="{7CFC6A51-4399-4F32-9D93-CE4A99A1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356235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7" name="milestone-gantt-grid-3-4">
            <a:extLst xmlns:a="http://schemas.openxmlformats.org/drawingml/2006/main">
              <a:ext uri="{FF2B5EF4-FFF2-40B4-BE49-F238E27FC236}">
                <a16:creationId xmlns:a16="http://schemas.microsoft.com/office/drawing/2014/main" id="{163735F3-F14F-406D-A370-0AFAACDF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8" name="milestone-gantt-grid-3-5">
            <a:extLst xmlns:a="http://schemas.openxmlformats.org/drawingml/2006/main">
              <a:ext uri="{FF2B5EF4-FFF2-40B4-BE49-F238E27FC236}">
                <a16:creationId xmlns:a16="http://schemas.microsoft.com/office/drawing/2014/main" id="{C311C675-1F01-4A86-AA30-E61AF413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56235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9" name="milestone-gantt-grid-3-6">
            <a:extLst xmlns:a="http://schemas.openxmlformats.org/drawingml/2006/main">
              <a:ext uri="{FF2B5EF4-FFF2-40B4-BE49-F238E27FC236}">
                <a16:creationId xmlns:a16="http://schemas.microsoft.com/office/drawing/2014/main" id="{ADD33FA8-5B4B-4E8E-8008-80A5C2FD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356235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50" name="milestone-gantt-bar-3">
            <a:extLst xmlns:a="http://schemas.openxmlformats.org/drawingml/2006/main">
              <a:ext uri="{FF2B5EF4-FFF2-40B4-BE49-F238E27FC236}">
                <a16:creationId xmlns:a16="http://schemas.microsoft.com/office/drawing/2014/main" id="{A906B55A-7484-4B84-9BB2-520F0F73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95700"/>
            <a:ext cx="2578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51" name="milestone-gantt-deliverable-3">
            <a:extLst xmlns:a="http://schemas.openxmlformats.org/drawingml/2006/main">
              <a:ext uri="{FF2B5EF4-FFF2-40B4-BE49-F238E27FC236}">
                <a16:creationId xmlns:a16="http://schemas.microsoft.com/office/drawing/2014/main" id="{5FD7AE41-4D6F-4776-B92F-C36D8FB6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95700"/>
            <a:ext cx="242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M3｜外部验证</a:t>
            </a:r>
          </a:p>
        </p:txBody>
      </p:sp>
      <p:sp>
        <p:nvSpPr>
          <p:cNvPr id="52" name="milestone-gantt-task-4">
            <a:extLst xmlns:a="http://schemas.openxmlformats.org/drawingml/2006/main">
              <a:ext uri="{FF2B5EF4-FFF2-40B4-BE49-F238E27FC236}">
                <a16:creationId xmlns:a16="http://schemas.microsoft.com/office/drawing/2014/main" id="{05D281FA-6D9A-443A-B418-CCB795AB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整合与交付</a:t>
            </a:r>
          </a:p>
        </p:txBody>
      </p:sp>
      <p:sp>
        <p:nvSpPr>
          <p:cNvPr id="53" name="milestone-gantt-grid-4-1">
            <a:extLst xmlns:a="http://schemas.openxmlformats.org/drawingml/2006/main">
              <a:ext uri="{FF2B5EF4-FFF2-40B4-BE49-F238E27FC236}">
                <a16:creationId xmlns:a16="http://schemas.microsoft.com/office/drawing/2014/main" id="{CB7C21AE-8FC9-4A67-8B1E-CFB22172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1480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54" name="milestone-gantt-grid-4-2">
            <a:extLst xmlns:a="http://schemas.openxmlformats.org/drawingml/2006/main">
              <a:ext uri="{FF2B5EF4-FFF2-40B4-BE49-F238E27FC236}">
                <a16:creationId xmlns:a16="http://schemas.microsoft.com/office/drawing/2014/main" id="{231ACD6A-9C1E-47F2-B2B5-13D5B571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11480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55" name="milestone-gantt-grid-4-3">
            <a:extLst xmlns:a="http://schemas.openxmlformats.org/drawingml/2006/main">
              <a:ext uri="{FF2B5EF4-FFF2-40B4-BE49-F238E27FC236}">
                <a16:creationId xmlns:a16="http://schemas.microsoft.com/office/drawing/2014/main" id="{8C2CD551-2C18-455C-AF6F-6EEB3FB0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1480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56" name="milestone-gantt-grid-4-4">
            <a:extLst xmlns:a="http://schemas.openxmlformats.org/drawingml/2006/main">
              <a:ext uri="{FF2B5EF4-FFF2-40B4-BE49-F238E27FC236}">
                <a16:creationId xmlns:a16="http://schemas.microsoft.com/office/drawing/2014/main" id="{3FCF852A-A7BF-4A06-B2A1-6EC6EB74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1480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57" name="milestone-gantt-grid-4-5">
            <a:extLst xmlns:a="http://schemas.openxmlformats.org/drawingml/2006/main">
              <a:ext uri="{FF2B5EF4-FFF2-40B4-BE49-F238E27FC236}">
                <a16:creationId xmlns:a16="http://schemas.microsoft.com/office/drawing/2014/main" id="{E2882E58-2DB5-49B4-B019-A4A92BC2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11480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58" name="milestone-gantt-grid-4-6">
            <a:extLst xmlns:a="http://schemas.openxmlformats.org/drawingml/2006/main">
              <a:ext uri="{FF2B5EF4-FFF2-40B4-BE49-F238E27FC236}">
                <a16:creationId xmlns:a16="http://schemas.microsoft.com/office/drawing/2014/main" id="{ED8AB1F0-82AE-4674-BED0-2741F053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4114800"/>
            <a:ext cx="136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59" name="milestone-gantt-bar-4">
            <a:extLst xmlns:a="http://schemas.openxmlformats.org/drawingml/2006/main">
              <a:ext uri="{FF2B5EF4-FFF2-40B4-BE49-F238E27FC236}">
                <a16:creationId xmlns:a16="http://schemas.microsoft.com/office/drawing/2014/main" id="{6A56E945-DE5C-4322-BFDC-097E3BB9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4248150"/>
            <a:ext cx="2578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60" name="milestone-gantt-deliverable-4">
            <a:extLst xmlns:a="http://schemas.openxmlformats.org/drawingml/2006/main">
              <a:ext uri="{FF2B5EF4-FFF2-40B4-BE49-F238E27FC236}">
                <a16:creationId xmlns:a16="http://schemas.microsoft.com/office/drawing/2014/main" id="{5F2464EF-205C-4636-87F4-042970BD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4248150"/>
            <a:ext cx="242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M4｜论文与交付物</a:t>
            </a:r>
          </a:p>
        </p:txBody>
      </p:sp>
      <p:sp>
        <p:nvSpPr>
          <p:cNvPr id="61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88A6EAC0-FE99-4292-81E9-09DC30D9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62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7C2BBED3-3F01-49E6-8B56-042F59B7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甘特图必须显示阶段、依赖、里程碑和可评审交付物。</a:t>
            </a:r>
          </a:p>
        </p:txBody>
      </p:sp>
    </p:spTree>
    <p:extLst>
      <p:ext uri="{BB962C8B-B14F-4D97-AF65-F5344CB8AC3E}">
        <p14:creationId xmlns:p14="http://schemas.microsoft.com/office/powerpoint/2010/main" val="8551367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87986468-38DC-4828-AF89-ACC67579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85E208D0-98E6-42B7-A142-D023866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A4C34573-5138-4851-BE5A-F80B6C64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开题专属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B9E7B35B-9586-4269-8507-12F2F375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7D8F1401-07B4-46DB-9B1D-DD221163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349C8564-1E65-42E1-AF78-075D3736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FF068E32-F4B3-4C11-BBD9-F73C576D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4949D8AD-0D12-457A-818A-BAF4A86C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5177E6AB-BC44-4E7E-B144-082C1B01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24AA9C-2D3D-45C5-BC89-0C300694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开题评审最终需要判断价值、闭环、可行性与风险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AA46CDFD-AA11-4B76-ACBD-E0616EFD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03630A-C89E-40BC-BF35-8F6E6665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3" name="milestone-focus-question-panel">
            <a:extLst xmlns:a="http://schemas.openxmlformats.org/drawingml/2006/main">
              <a:ext uri="{FF2B5EF4-FFF2-40B4-BE49-F238E27FC236}">
                <a16:creationId xmlns:a16="http://schemas.microsoft.com/office/drawing/2014/main" id="{B3425299-90A6-4FF7-9B46-97B16E8E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4" name="milestone-focus-label">
            <a:extLst xmlns:a="http://schemas.openxmlformats.org/drawingml/2006/main">
              <a:ext uri="{FF2B5EF4-FFF2-40B4-BE49-F238E27FC236}">
                <a16:creationId xmlns:a16="http://schemas.microsoft.com/office/drawing/2014/main" id="{57A7DC45-1794-4254-9211-63BFFCEE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D7E1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D7E1EF"/>
                </a:solidFill>
                <a:latin typeface="Microsoft YaHei"/>
                <a:ea typeface="Microsoft YaHei"/>
                <a:cs typeface="Microsoft YaHei"/>
              </a:rPr>
              <a:t>本次开题评审的核心判断</a:t>
            </a:r>
          </a:p>
        </p:txBody>
      </p:sp>
      <p:sp>
        <p:nvSpPr>
          <p:cNvPr id="15" name="milestone-focus-question">
            <a:extLst xmlns:a="http://schemas.openxmlformats.org/drawingml/2006/main">
              <a:ext uri="{FF2B5EF4-FFF2-40B4-BE49-F238E27FC236}">
                <a16:creationId xmlns:a16="http://schemas.microsoft.com/office/drawing/2014/main" id="{C9A7FDCB-C315-45B8-B4F5-BCCBB64B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434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一页收回开场问题，并明确请评委对哪些权衡给出意见。</a:t>
            </a:r>
          </a:p>
        </p:txBody>
      </p:sp>
      <p:sp>
        <p:nvSpPr>
          <p:cNvPr id="16" name="milestone-focus-index-1">
            <a:extLst xmlns:a="http://schemas.openxmlformats.org/drawingml/2006/main">
              <a:ext uri="{FF2B5EF4-FFF2-40B4-BE49-F238E27FC236}">
                <a16:creationId xmlns:a16="http://schemas.microsoft.com/office/drawing/2014/main" id="{C263A843-6CA5-49AA-AF39-A21D244A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51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milestone-focus-title-1">
            <a:extLst xmlns:a="http://schemas.openxmlformats.org/drawingml/2006/main">
              <a:ext uri="{FF2B5EF4-FFF2-40B4-BE49-F238E27FC236}">
                <a16:creationId xmlns:a16="http://schemas.microsoft.com/office/drawing/2014/main" id="{272CEE82-2D47-4F85-A1EB-1E59273F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526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25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8" name="milestone-focus-body-1">
            <a:extLst xmlns:a="http://schemas.openxmlformats.org/drawingml/2006/main">
              <a:ext uri="{FF2B5EF4-FFF2-40B4-BE49-F238E27FC236}">
                <a16:creationId xmlns:a16="http://schemas.microsoft.com/office/drawing/2014/main" id="{BBF7251A-7A1E-4CB4-9417-C28EB1F0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问题重要且缺口可验证｜依据：背景与文献证据</a:t>
            </a:r>
          </a:p>
        </p:txBody>
      </p:sp>
      <p:sp>
        <p:nvSpPr>
          <p:cNvPr id="19" name="milestone-focus-rule-1">
            <a:extLst xmlns:a="http://schemas.openxmlformats.org/drawingml/2006/main">
              <a:ext uri="{FF2B5EF4-FFF2-40B4-BE49-F238E27FC236}">
                <a16:creationId xmlns:a16="http://schemas.microsoft.com/office/drawing/2014/main" id="{41D8A738-5F6D-403B-8AD4-F14366A9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908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0" name="milestone-focus-index-2">
            <a:extLst xmlns:a="http://schemas.openxmlformats.org/drawingml/2006/main">
              <a:ext uri="{FF2B5EF4-FFF2-40B4-BE49-F238E27FC236}">
                <a16:creationId xmlns:a16="http://schemas.microsoft.com/office/drawing/2014/main" id="{62B69778-3D4C-456B-BEE2-0419A52A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51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milestone-focus-title-2">
            <a:extLst xmlns:a="http://schemas.openxmlformats.org/drawingml/2006/main">
              <a:ext uri="{FF2B5EF4-FFF2-40B4-BE49-F238E27FC236}">
                <a16:creationId xmlns:a16="http://schemas.microsoft.com/office/drawing/2014/main" id="{F4B62837-E876-4B97-9005-F6420903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25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22" name="milestone-focus-body-2">
            <a:extLst xmlns:a="http://schemas.openxmlformats.org/drawingml/2006/main">
              <a:ext uri="{FF2B5EF4-FFF2-40B4-BE49-F238E27FC236}">
                <a16:creationId xmlns:a16="http://schemas.microsoft.com/office/drawing/2014/main" id="{6C12B2C1-59EC-4F55-8274-D916AABF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1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任务、数据、方法和验证闭环｜依据：技术路线与设计</a:t>
            </a:r>
          </a:p>
        </p:txBody>
      </p:sp>
      <p:sp>
        <p:nvSpPr>
          <p:cNvPr id="23" name="milestone-focus-rule-2">
            <a:extLst xmlns:a="http://schemas.openxmlformats.org/drawingml/2006/main">
              <a:ext uri="{FF2B5EF4-FFF2-40B4-BE49-F238E27FC236}">
                <a16:creationId xmlns:a16="http://schemas.microsoft.com/office/drawing/2014/main" id="{D5E9DE58-00AA-40E6-9D49-E0903293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4" name="milestone-focus-index-3">
            <a:extLst xmlns:a="http://schemas.openxmlformats.org/drawingml/2006/main">
              <a:ext uri="{FF2B5EF4-FFF2-40B4-BE49-F238E27FC236}">
                <a16:creationId xmlns:a16="http://schemas.microsoft.com/office/drawing/2014/main" id="{2C460B0B-9A67-48DB-BA31-7E2520EF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51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milestone-focus-title-3">
            <a:extLst xmlns:a="http://schemas.openxmlformats.org/drawingml/2006/main">
              <a:ext uri="{FF2B5EF4-FFF2-40B4-BE49-F238E27FC236}">
                <a16:creationId xmlns:a16="http://schemas.microsoft.com/office/drawing/2014/main" id="{7A5D6807-B217-489A-ACC1-815AF1C5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25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可行性</a:t>
            </a:r>
          </a:p>
        </p:txBody>
      </p:sp>
      <p:sp>
        <p:nvSpPr>
          <p:cNvPr id="26" name="milestone-focus-body-3">
            <a:extLst xmlns:a="http://schemas.openxmlformats.org/drawingml/2006/main">
              <a:ext uri="{FF2B5EF4-FFF2-40B4-BE49-F238E27FC236}">
                <a16:creationId xmlns:a16="http://schemas.microsoft.com/office/drawing/2014/main" id="{0403634F-2E0A-4133-BF23-894A9857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612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前期基础与资源能支撑计划｜依据：先行证据与资源清单</a:t>
            </a:r>
          </a:p>
        </p:txBody>
      </p:sp>
      <p:sp>
        <p:nvSpPr>
          <p:cNvPr id="27" name="milestone-focus-rule-3">
            <a:extLst xmlns:a="http://schemas.openxmlformats.org/drawingml/2006/main">
              <a:ext uri="{FF2B5EF4-FFF2-40B4-BE49-F238E27FC236}">
                <a16:creationId xmlns:a16="http://schemas.microsoft.com/office/drawing/2014/main" id="{240BFCCF-F125-47AB-9F96-ADA2657E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8" name="milestone-focus-index-4">
            <a:extLst xmlns:a="http://schemas.openxmlformats.org/drawingml/2006/main">
              <a:ext uri="{FF2B5EF4-FFF2-40B4-BE49-F238E27FC236}">
                <a16:creationId xmlns:a16="http://schemas.microsoft.com/office/drawing/2014/main" id="{A98EDDA8-D5E2-413A-991F-DD97E8B6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52950"/>
            <a:ext cx="51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milestone-focus-title-4">
            <a:extLst xmlns:a="http://schemas.openxmlformats.org/drawingml/2006/main">
              <a:ext uri="{FF2B5EF4-FFF2-40B4-BE49-F238E27FC236}">
                <a16:creationId xmlns:a16="http://schemas.microsoft.com/office/drawing/2014/main" id="{BF4374E9-7CAC-4BAF-8D22-ED41D8FA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25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30" name="milestone-focus-body-4">
            <a:extLst xmlns:a="http://schemas.openxmlformats.org/drawingml/2006/main">
              <a:ext uri="{FF2B5EF4-FFF2-40B4-BE49-F238E27FC236}">
                <a16:creationId xmlns:a16="http://schemas.microsoft.com/office/drawing/2014/main" id="{64C0B06A-2688-495D-A75F-D0127B29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1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关键风险有触发条件和备选路径｜依据：风险与应对表</a:t>
            </a:r>
          </a:p>
        </p:txBody>
      </p:sp>
      <p:sp>
        <p:nvSpPr>
          <p:cNvPr id="31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53A3CE10-00EC-4211-931E-D4B15A34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2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3CF6885D-F2A6-4848-BA34-5D18DD4D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请评委重点对核心假设、验证强度和计划边界提出意见。</a:t>
            </a:r>
          </a:p>
        </p:txBody>
      </p:sp>
    </p:spTree>
    <p:extLst>
      <p:ext uri="{BB962C8B-B14F-4D97-AF65-F5344CB8AC3E}">
        <p14:creationId xmlns:p14="http://schemas.microsoft.com/office/powerpoint/2010/main" val="4555828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30F3E153-9AD1-4C5B-9C64-476B9EF8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866272E5-66D3-48B3-A823-03C7120D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3C846D51-1604-4B3D-A9D1-D3F1EAD9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中期专属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25FE6E0F-18EE-4FE4-B2E3-0E156CFF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中期汇报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26D1F994-D415-4B3D-916D-1DCD4416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5E1355EC-32F5-4783-A9DD-065A6F7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7853D95E-7055-4E35-8314-CAAE207C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394D45D4-A8CE-45DA-8E5A-67986759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021B02C0-AAA7-48F3-88A0-E71A449E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71640C-A9A1-489E-A60D-80E1168D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三个里程碑已有两个形成可验证交付，外部验证存在风险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4AF8F4F8-8C5E-458C-AF5F-358077A9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4C06E9-F95C-43C0-B6B8-B80A7C30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13" name="progress-as-of-date">
            <a:extLst xmlns:a="http://schemas.openxmlformats.org/drawingml/2006/main">
              <a:ext uri="{FF2B5EF4-FFF2-40B4-BE49-F238E27FC236}">
                <a16:creationId xmlns:a16="http://schemas.microsoft.com/office/drawing/2014/main" id="{E08CBCE8-316A-43FB-8492-4730D906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截至 20XX-XX-XX</a:t>
            </a:r>
          </a:p>
        </p:txBody>
      </p:sp>
      <p:sp>
        <p:nvSpPr>
          <p:cNvPr id="14" name="progress-status-dot-1">
            <a:extLst xmlns:a="http://schemas.openxmlformats.org/drawingml/2006/main">
              <a:ext uri="{FF2B5EF4-FFF2-40B4-BE49-F238E27FC236}">
                <a16:creationId xmlns:a16="http://schemas.microsoft.com/office/drawing/2014/main" id="{DAECE827-9F61-41DF-8CCB-1823D732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86E"/>
          </a:solidFill>
          <a:ln xmlns:a="http://schemas.openxmlformats.org/drawingml/2006/main" w="0">
            <a:solidFill>
              <a:srgbClr val="39786E"/>
            </a:solidFill>
            <a:prstDash val="solid"/>
          </a:ln>
        </p:spPr>
      </p:sp>
      <p:sp>
        <p:nvSpPr>
          <p:cNvPr id="15" name="progress-title-1">
            <a:extLst xmlns:a="http://schemas.openxmlformats.org/drawingml/2006/main">
              <a:ext uri="{FF2B5EF4-FFF2-40B4-BE49-F238E27FC236}">
                <a16:creationId xmlns:a16="http://schemas.microsoft.com/office/drawing/2014/main" id="{DE24DDCB-E257-4AC0-8550-66E5CAFC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M1｜数据基线</a:t>
            </a:r>
          </a:p>
        </p:txBody>
      </p:sp>
      <p:sp>
        <p:nvSpPr>
          <p:cNvPr id="16" name="progress-body-1">
            <a:extLst xmlns:a="http://schemas.openxmlformats.org/drawingml/2006/main">
              <a:ext uri="{FF2B5EF4-FFF2-40B4-BE49-F238E27FC236}">
                <a16:creationId xmlns:a16="http://schemas.microsoft.com/office/drawing/2014/main" id="{5DF63919-D859-44DA-A5C0-55CCBC8E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已形成数据字典与质控报告</a:t>
            </a:r>
          </a:p>
        </p:txBody>
      </p:sp>
      <p:sp>
        <p:nvSpPr>
          <p:cNvPr id="17" name="progress-status-1">
            <a:extLst xmlns:a="http://schemas.openxmlformats.org/drawingml/2006/main">
              <a:ext uri="{FF2B5EF4-FFF2-40B4-BE49-F238E27FC236}">
                <a16:creationId xmlns:a16="http://schemas.microsoft.com/office/drawing/2014/main" id="{84056923-C3BE-4428-AB81-1F62D397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19325"/>
            <a:ext cx="1390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CEB"/>
          </a:solidFill>
          <a:ln xmlns:a="http://schemas.openxmlformats.org/drawingml/2006/main" w="9525">
            <a:solidFill>
              <a:srgbClr val="39786E"/>
            </a:solidFill>
            <a:prstDash val="solid"/>
          </a:ln>
        </p:spPr>
        <p:txBody>
          <a:bodyPr xmlns:a="http://schemas.openxmlformats.org/drawingml/2006/main" anchor="ctr">
            <a:normAutofit fontScale="83030"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397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39786E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8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C60974A2-C2B2-4E93-BF86-74B6DBB2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19" name="progress-status-dot-2">
            <a:extLst xmlns:a="http://schemas.openxmlformats.org/drawingml/2006/main">
              <a:ext uri="{FF2B5EF4-FFF2-40B4-BE49-F238E27FC236}">
                <a16:creationId xmlns:a16="http://schemas.microsoft.com/office/drawing/2014/main" id="{76566B96-6E2A-4C69-9F20-8FE1A3FB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86E"/>
          </a:solidFill>
          <a:ln xmlns:a="http://schemas.openxmlformats.org/drawingml/2006/main" w="0">
            <a:solidFill>
              <a:srgbClr val="39786E"/>
            </a:solidFill>
            <a:prstDash val="solid"/>
          </a:ln>
        </p:spPr>
      </p:sp>
      <p:sp>
        <p:nvSpPr>
          <p:cNvPr id="20" name="progress-title-2">
            <a:extLst xmlns:a="http://schemas.openxmlformats.org/drawingml/2006/main">
              <a:ext uri="{FF2B5EF4-FFF2-40B4-BE49-F238E27FC236}">
                <a16:creationId xmlns:a16="http://schemas.microsoft.com/office/drawing/2014/main" id="{35350F92-25F3-413D-91D2-E3275ECF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M2｜核心方法</a:t>
            </a:r>
          </a:p>
        </p:txBody>
      </p:sp>
      <p:sp>
        <p:nvSpPr>
          <p:cNvPr id="21" name="progress-body-2">
            <a:extLst xmlns:a="http://schemas.openxmlformats.org/drawingml/2006/main">
              <a:ext uri="{FF2B5EF4-FFF2-40B4-BE49-F238E27FC236}">
                <a16:creationId xmlns:a16="http://schemas.microsoft.com/office/drawing/2014/main" id="{E1176AEB-EB5C-4DBF-89C8-303213B8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432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已交付模型、对照和初步结果</a:t>
            </a:r>
          </a:p>
        </p:txBody>
      </p:sp>
      <p:sp>
        <p:nvSpPr>
          <p:cNvPr id="22" name="progress-status-2">
            <a:extLst xmlns:a="http://schemas.openxmlformats.org/drawingml/2006/main">
              <a:ext uri="{FF2B5EF4-FFF2-40B4-BE49-F238E27FC236}">
                <a16:creationId xmlns:a16="http://schemas.microsoft.com/office/drawing/2014/main" id="{F9B83CC2-93EA-4B69-86B1-8B4C54E5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09875"/>
            <a:ext cx="1390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CEB"/>
          </a:solidFill>
          <a:ln xmlns:a="http://schemas.openxmlformats.org/drawingml/2006/main" w="9525">
            <a:solidFill>
              <a:srgbClr val="39786E"/>
            </a:solidFill>
            <a:prstDash val="solid"/>
          </a:ln>
        </p:spPr>
        <p:txBody>
          <a:bodyPr xmlns:a="http://schemas.openxmlformats.org/drawingml/2006/main" anchor="ctr">
            <a:normAutofit fontScale="83030"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397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39786E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23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B5AACC20-4162-4F76-BB8B-4D640AFB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4" name="progress-status-dot-3">
            <a:extLst xmlns:a="http://schemas.openxmlformats.org/drawingml/2006/main">
              <a:ext uri="{FF2B5EF4-FFF2-40B4-BE49-F238E27FC236}">
                <a16:creationId xmlns:a16="http://schemas.microsoft.com/office/drawing/2014/main" id="{1619090D-E999-4FEB-A50C-2C5DEF7F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A2E"/>
          </a:solidFill>
          <a:ln xmlns:a="http://schemas.openxmlformats.org/drawingml/2006/main" w="0">
            <a:solidFill>
              <a:srgbClr val="B56A2E"/>
            </a:solidFill>
            <a:prstDash val="solid"/>
          </a:ln>
        </p:spPr>
      </p:sp>
      <p:sp>
        <p:nvSpPr>
          <p:cNvPr id="25" name="progress-title-3">
            <a:extLst xmlns:a="http://schemas.openxmlformats.org/drawingml/2006/main">
              <a:ext uri="{FF2B5EF4-FFF2-40B4-BE49-F238E27FC236}">
                <a16:creationId xmlns:a16="http://schemas.microsoft.com/office/drawing/2014/main" id="{F7E9168C-9EC3-47B0-9676-CB4BC6BD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M3｜外部验证</a:t>
            </a:r>
          </a:p>
        </p:txBody>
      </p:sp>
      <p:sp>
        <p:nvSpPr>
          <p:cNvPr id="26" name="progress-body-3">
            <a:extLst xmlns:a="http://schemas.openxmlformats.org/drawingml/2006/main">
              <a:ext uri="{FF2B5EF4-FFF2-40B4-BE49-F238E27FC236}">
                <a16:creationId xmlns:a16="http://schemas.microsoft.com/office/drawing/2014/main" id="{06E69F8A-CAE2-4958-BB1D-064316F9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样本延迟，已启动备选来源</a:t>
            </a:r>
          </a:p>
        </p:txBody>
      </p:sp>
      <p:sp>
        <p:nvSpPr>
          <p:cNvPr id="27" name="progress-status-3">
            <a:extLst xmlns:a="http://schemas.openxmlformats.org/drawingml/2006/main">
              <a:ext uri="{FF2B5EF4-FFF2-40B4-BE49-F238E27FC236}">
                <a16:creationId xmlns:a16="http://schemas.microsoft.com/office/drawing/2014/main" id="{2BD1FBBB-ADEE-46AC-AF9B-715F62BA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00425"/>
            <a:ext cx="1390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AE2"/>
          </a:solidFill>
          <a:ln xmlns:a="http://schemas.openxmlformats.org/drawingml/2006/main" w="9525">
            <a:solidFill>
              <a:srgbClr val="B56A2E"/>
            </a:solidFill>
            <a:prstDash val="solid"/>
          </a:ln>
        </p:spPr>
        <p:txBody>
          <a:bodyPr xmlns:a="http://schemas.openxmlformats.org/drawingml/2006/main" anchor="ctr">
            <a:normAutofit fontScale="83030"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B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B56A2E"/>
                </a:solidFill>
                <a:latin typeface="Microsoft YaHei"/>
                <a:ea typeface="Microsoft YaHei"/>
                <a:cs typeface="Microsoft YaHei"/>
              </a:rPr>
              <a:t>有风险</a:t>
            </a:r>
          </a:p>
        </p:txBody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B10DA4EE-A420-4900-ACE4-1A44AAEE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8E1"/>
          </a:solidFill>
          <a:ln xmlns:a="http://schemas.openxmlformats.org/drawingml/2006/main" w="0">
            <a:solidFill>
              <a:srgbClr val="D1D8E1"/>
            </a:solidFill>
            <a:prstDash val="solid"/>
          </a:ln>
        </p:spPr>
      </p:sp>
      <p:sp>
        <p:nvSpPr>
          <p:cNvPr id="29" name="progress-status-dot-4">
            <a:extLst xmlns:a="http://schemas.openxmlformats.org/drawingml/2006/main">
              <a:ext uri="{FF2B5EF4-FFF2-40B4-BE49-F238E27FC236}">
                <a16:creationId xmlns:a16="http://schemas.microsoft.com/office/drawing/2014/main" id="{1DCD3BFD-8C86-4B69-B7A1-809211A5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1A2"/>
          </a:solidFill>
          <a:ln xmlns:a="http://schemas.openxmlformats.org/drawingml/2006/main" w="0">
            <a:solidFill>
              <a:srgbClr val="8791A2"/>
            </a:solidFill>
            <a:prstDash val="solid"/>
          </a:ln>
        </p:spPr>
      </p:sp>
      <p:sp>
        <p:nvSpPr>
          <p:cNvPr id="30" name="progress-title-4">
            <a:extLst xmlns:a="http://schemas.openxmlformats.org/drawingml/2006/main">
              <a:ext uri="{FF2B5EF4-FFF2-40B4-BE49-F238E27FC236}">
                <a16:creationId xmlns:a16="http://schemas.microsoft.com/office/drawing/2014/main" id="{434A0CA4-257C-43BC-9950-AAF0AD48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M4｜整合交付</a:t>
            </a:r>
          </a:p>
        </p:txBody>
      </p:sp>
      <p:sp>
        <p:nvSpPr>
          <p:cNvPr id="31" name="progress-body-4">
            <a:extLst xmlns:a="http://schemas.openxmlformats.org/drawingml/2006/main">
              <a:ext uri="{FF2B5EF4-FFF2-40B4-BE49-F238E27FC236}">
                <a16:creationId xmlns:a16="http://schemas.microsoft.com/office/drawing/2014/main" id="{A0234B37-263B-45D5-A476-E6B18E7A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依赖 M3 完成</a:t>
            </a:r>
          </a:p>
        </p:txBody>
      </p:sp>
      <p:sp>
        <p:nvSpPr>
          <p:cNvPr id="32" name="progress-status-4">
            <a:extLst xmlns:a="http://schemas.openxmlformats.org/drawingml/2006/main">
              <a:ext uri="{FF2B5EF4-FFF2-40B4-BE49-F238E27FC236}">
                <a16:creationId xmlns:a16="http://schemas.microsoft.com/office/drawing/2014/main" id="{2671E11E-B95C-473B-9349-488A4ABB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90975"/>
            <a:ext cx="1390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8791A2"/>
            </a:solidFill>
            <a:prstDash val="solid"/>
          </a:ln>
        </p:spPr>
        <p:txBody>
          <a:bodyPr xmlns:a="http://schemas.openxmlformats.org/drawingml/2006/main" anchor="ctr">
            <a:normAutofit fontScale="83030"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8791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8791A2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3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3A7F1744-964B-4AAB-84D4-D06A3C12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4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B5FB9C18-9D82-4050-A608-8DAC47F4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中期概览用实际证据和状态说明进展，不使用无基线百分比。</a:t>
            </a:r>
          </a:p>
        </p:txBody>
      </p:sp>
    </p:spTree>
    <p:extLst>
      <p:ext uri="{BB962C8B-B14F-4D97-AF65-F5344CB8AC3E}">
        <p14:creationId xmlns:p14="http://schemas.microsoft.com/office/powerpoint/2010/main" val="11606573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85D4CFB9-26E6-40F7-9B15-93663165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D621D7C0-013B-45FF-B779-EF44E812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1BDE2B97-949E-4603-9E47-250A7CBA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中期专属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D8458F36-12D7-43E7-B59E-45F72CFB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中期汇报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E7C724A3-D309-4D45-8082-F4BC2339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A032B6AD-7B9A-4DAE-AB64-1C70AC2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38771A15-CC53-454E-A285-F878500F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73CC9F77-C117-4F10-B798-5EDCC608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35CF879E-6D86-45DC-B12B-C52899AD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75CF5F-202F-44FF-9422-0C89B695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核心方法按计划完成，外部验证延迟一个周期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C6A767B1-8448-4CE2-AC6E-CF42FB92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F29FA01-1629-4FF1-B950-BA1DFA57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29337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781300"/>
                <a:gridCol w="2781300"/>
                <a:gridCol w="2781300"/>
                <a:gridCol w="2781300"/>
              </a:tblGrid>
              <a:tr h="5867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 / 里程碑</a:t>
                      </a:r>
                    </a:p>
                  </a:txBody>
                  <a:tcPr marL="91440" marR="91440" marT="45720" marB="45720" anchor="ctr">
                    <a:solidFill>
                      <a:srgbClr val="183A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原批准计划</a:t>
                      </a:r>
                    </a:p>
                  </a:txBody>
                  <a:tcPr marL="91440" marR="91440" marT="45720" marB="45720" anchor="ctr">
                    <a:solidFill>
                      <a:srgbClr val="183A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截至当前的实际</a:t>
                      </a:r>
                    </a:p>
                  </a:txBody>
                  <a:tcPr marL="91440" marR="91440" marT="45720" marB="45720" anchor="ctr">
                    <a:solidFill>
                      <a:srgbClr val="183A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偏差与判断</a:t>
                      </a:r>
                    </a:p>
                  </a:txBody>
                  <a:tcPr marL="91440" marR="91440" marT="45720" marB="45720" anchor="ctr">
                    <a:solidFill>
                      <a:srgbClr val="183A6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数据基线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Q1 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Q1 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0｜无影响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核心方法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Q2 锁定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Q2 锁定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0｜无影响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Q3 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预计 Q4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 周期｜挤压综合时间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论文整合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Q4 启动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已提前启动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 周期｜部分对冲延迟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3C0D1197-9C5A-458B-A334-E014C72D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15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6728F0C4-67A3-4D43-B04C-AF90543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计划与实际的差异要同时解释原因、影响和处理。</a:t>
            </a:r>
          </a:p>
        </p:txBody>
      </p:sp>
    </p:spTree>
    <p:extLst>
      <p:ext uri="{BB962C8B-B14F-4D97-AF65-F5344CB8AC3E}">
        <p14:creationId xmlns:p14="http://schemas.microsoft.com/office/powerpoint/2010/main" val="9976229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99F7994C-89D3-48BC-9CC2-EFFDDA54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29801237-1DD8-41A9-A9DD-21ED826B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012644FB-65B8-4AE0-A7D3-C4A48DA4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中期专属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7494B5D9-C8FD-4723-A060-2C52235B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中期汇报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0161FDEB-E94B-4B01-B6AC-92102CBD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C4439FBA-0C61-46E7-858F-7F585C99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B0D6DA9A-8043-4709-B5F1-0C7B939F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151CAA5A-A499-4B7C-9911-DE53BB5C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EB60F306-1F48-4ECE-8401-178E5935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9F392A-E899-43DA-A521-22BC8F39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核心干预在主要对照下改变了目标结果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EA15E46B-4F80-4113-8292-0314A629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317A938-7980-42F8-8474-08697585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3" name="figure-conclusion-image-frame">
            <a:extLst xmlns:a="http://schemas.openxmlformats.org/drawingml/2006/main">
              <a:ext uri="{FF2B5EF4-FFF2-40B4-BE49-F238E27FC236}">
                <a16:creationId xmlns:a16="http://schemas.microsoft.com/office/drawing/2014/main" id="{FB0E2C35-D98F-4A08-9FFA-7F0C83B5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3342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sp>
        <p:nvSpPr>
          <p:cNvPr id="14" name="figure-conclusion-image-placeholder">
            <a:extLst xmlns:a="http://schemas.openxmlformats.org/drawingml/2006/main">
              <a:ext uri="{FF2B5EF4-FFF2-40B4-BE49-F238E27FC236}">
                <a16:creationId xmlns:a16="http://schemas.microsoft.com/office/drawing/2014/main" id="{303DEEFB-502B-444F-AF2F-84DE16E6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24025"/>
            <a:ext cx="72009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开题或中期答辩证据图示意槽位</a:t>
            </a:r>
          </a:p>
        </p:txBody>
      </p:sp>
      <p:sp>
        <p:nvSpPr>
          <p:cNvPr id="15" name="figure-conclusion-panel">
            <a:extLst xmlns:a="http://schemas.openxmlformats.org/drawingml/2006/main">
              <a:ext uri="{FF2B5EF4-FFF2-40B4-BE49-F238E27FC236}">
                <a16:creationId xmlns:a16="http://schemas.microsoft.com/office/drawing/2014/main" id="{B3059BB1-C860-466E-9F18-74CD6DF9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333750" cy="35623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A6A"/>
            </a:solidFill>
            <a:prstDash val="solid"/>
          </a:ln>
        </p:spPr>
      </p:sp>
      <p:sp>
        <p:nvSpPr>
          <p:cNvPr id="16" name="figure-conclusion-label">
            <a:extLst xmlns:a="http://schemas.openxmlformats.org/drawingml/2006/main">
              <a:ext uri="{FF2B5EF4-FFF2-40B4-BE49-F238E27FC236}">
                <a16:creationId xmlns:a16="http://schemas.microsoft.com/office/drawing/2014/main" id="{8C4898D0-ADE5-4C94-A461-6AF8EAB5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7" name="figure-conclusion-claim">
            <a:extLst xmlns:a="http://schemas.openxmlformats.org/drawingml/2006/main">
              <a:ext uri="{FF2B5EF4-FFF2-40B4-BE49-F238E27FC236}">
                <a16:creationId xmlns:a16="http://schemas.microsoft.com/office/drawing/2014/main" id="{C42660BC-49ED-4ADD-812A-5125E9E8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2800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阶段证据支持核心方向，但外部适用性仍待复核。</a:t>
            </a:r>
          </a:p>
        </p:txBody>
      </p:sp>
      <p:sp>
        <p:nvSpPr>
          <p:cNvPr id="18" name="figure-conclusion-metric-value">
            <a:extLst xmlns:a="http://schemas.openxmlformats.org/drawingml/2006/main">
              <a:ext uri="{FF2B5EF4-FFF2-40B4-BE49-F238E27FC236}">
                <a16:creationId xmlns:a16="http://schemas.microsoft.com/office/drawing/2014/main" id="{AEACB831-B1CC-4904-A414-1F314A3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4335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83A6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4233A"/>
                </a:solidFill>
                <a:latin typeface="Arial"/>
                <a:ea typeface="Arial"/>
                <a:cs typeface="Arial"/>
              </a:rPr>
              <a:t>+24</a:t>
            </a:r>
            <a:r>
              <a:rPr sz="3600" b="1" i="0">
                <a:solidFill>
                  <a:srgbClr val="183A6A"/>
                </a:solidFill>
                <a:latin typeface="Arial"/>
                <a:ea typeface="Arial"/>
                <a:cs typeface="Arial"/>
              </a:rPr>
              <a:t> %</a:t>
            </a:r>
          </a:p>
        </p:txBody>
      </p:sp>
      <p:sp>
        <p:nvSpPr>
          <p:cNvPr id="19" name="figure-conclusion-metric-label">
            <a:extLst xmlns:a="http://schemas.openxmlformats.org/drawingml/2006/main">
              <a:ext uri="{FF2B5EF4-FFF2-40B4-BE49-F238E27FC236}">
                <a16:creationId xmlns:a16="http://schemas.microsoft.com/office/drawing/2014/main" id="{B2461DD9-EDDC-43D4-8106-B252B9E8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529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相对基线</a:t>
            </a:r>
          </a:p>
        </p:txBody>
      </p:sp>
      <p:sp>
        <p:nvSpPr>
          <p:cNvPr id="20" name="figure-conclusion-caption">
            <a:extLst xmlns:a="http://schemas.openxmlformats.org/drawingml/2006/main">
              <a:ext uri="{FF2B5EF4-FFF2-40B4-BE49-F238E27FC236}">
                <a16:creationId xmlns:a16="http://schemas.microsoft.com/office/drawing/2014/main" id="{920D55EA-1E0B-4256-AD32-AB3350F0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18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077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8791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8791A2"/>
                </a:solidFill>
                <a:latin typeface="Microsoft YaHei"/>
                <a:ea typeface="Microsoft YaHei"/>
                <a:cs typeface="Microsoft YaHei"/>
              </a:rPr>
              <a:t>证据图 1</a:t>
            </a:r>
          </a:p>
        </p:txBody>
      </p:sp>
    </p:spTree>
    <p:extLst>
      <p:ext uri="{BB962C8B-B14F-4D97-AF65-F5344CB8AC3E}">
        <p14:creationId xmlns:p14="http://schemas.microsoft.com/office/powerpoint/2010/main" val="191302658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384D4A61-F4D2-4A98-B3D3-518705BE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9997A32C-10A0-4EB1-95FA-F519160F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F06D4BE7-F527-48F0-B26F-F5478CA2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中期专属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050663E6-3533-4266-A66B-4ECDDBF7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中期汇报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1298982F-6E12-47CD-9746-D36C9EC5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6BF903D4-F3D6-4809-B81B-A1F9E78F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C71F7949-5F43-48BF-B7E3-6AA069D2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083C22E7-67DB-4AAE-A41C-38501F3F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3AA675C2-541F-45EF-AD57-7B44896B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45C557-32DF-4FFB-9E22-D2B5AD6F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现象、机制与稳健性证据共同支持阶段结论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C1905FDD-8D68-46B8-999A-0CB8B14C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51A919-25A9-4FBD-83D2-79B84307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3" name="multi-evidence-1-frame">
            <a:extLst xmlns:a="http://schemas.openxmlformats.org/drawingml/2006/main">
              <a:ext uri="{FF2B5EF4-FFF2-40B4-BE49-F238E27FC236}">
                <a16:creationId xmlns:a16="http://schemas.microsoft.com/office/drawing/2014/main" id="{F37B3FC0-999B-4AD4-BC29-314C94C2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4480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sp>
        <p:nvSpPr>
          <p:cNvPr id="14" name="multi-evidence-1-placeholder">
            <a:extLst xmlns:a="http://schemas.openxmlformats.org/drawingml/2006/main">
              <a:ext uri="{FF2B5EF4-FFF2-40B4-BE49-F238E27FC236}">
                <a16:creationId xmlns:a16="http://schemas.microsoft.com/office/drawing/2014/main" id="{B6D5CC3D-E47D-45D3-8CED-83531D11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24025"/>
            <a:ext cx="33147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开题或中期答辩证据图示意槽位</a:t>
            </a:r>
          </a:p>
        </p:txBody>
      </p:sp>
      <p:sp>
        <p:nvSpPr>
          <p:cNvPr id="15" name="multi-evidence-caption-1">
            <a:extLst xmlns:a="http://schemas.openxmlformats.org/drawingml/2006/main">
              <a:ext uri="{FF2B5EF4-FFF2-40B4-BE49-F238E27FC236}">
                <a16:creationId xmlns:a16="http://schemas.microsoft.com/office/drawing/2014/main" id="{F465C05B-FFB6-43EF-BDF1-35AC8952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现象证据｜主要变化在对照下稳定出现</a:t>
            </a:r>
          </a:p>
        </p:txBody>
      </p:sp>
      <p:sp>
        <p:nvSpPr>
          <p:cNvPr id="16" name="multi-evidence-2-frame">
            <a:extLst xmlns:a="http://schemas.openxmlformats.org/drawingml/2006/main">
              <a:ext uri="{FF2B5EF4-FFF2-40B4-BE49-F238E27FC236}">
                <a16:creationId xmlns:a16="http://schemas.microsoft.com/office/drawing/2014/main" id="{4FB7852D-EA4C-410A-B96A-D149668F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34480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sp>
        <p:nvSpPr>
          <p:cNvPr id="17" name="multi-evidence-2-placeholder">
            <a:extLst xmlns:a="http://schemas.openxmlformats.org/drawingml/2006/main">
              <a:ext uri="{FF2B5EF4-FFF2-40B4-BE49-F238E27FC236}">
                <a16:creationId xmlns:a16="http://schemas.microsoft.com/office/drawing/2014/main" id="{75C3F246-9FAB-4F65-8BA8-651BC8AD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24025"/>
            <a:ext cx="33147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开题或中期答辩证据图示意槽位</a:t>
            </a:r>
          </a:p>
        </p:txBody>
      </p:sp>
      <p:sp>
        <p:nvSpPr>
          <p:cNvPr id="18" name="multi-evidence-caption-2">
            <a:extLst xmlns:a="http://schemas.openxmlformats.org/drawingml/2006/main">
              <a:ext uri="{FF2B5EF4-FFF2-40B4-BE49-F238E27FC236}">
                <a16:creationId xmlns:a16="http://schemas.microsoft.com/office/drawing/2014/main" id="{31EFF1F8-4AD4-4BF0-8FDA-D206017A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52950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机制证据｜关键中介随干预同步变化</a:t>
            </a:r>
          </a:p>
        </p:txBody>
      </p:sp>
      <p:sp>
        <p:nvSpPr>
          <p:cNvPr id="19" name="multi-evidence-3-frame">
            <a:extLst xmlns:a="http://schemas.openxmlformats.org/drawingml/2006/main">
              <a:ext uri="{FF2B5EF4-FFF2-40B4-BE49-F238E27FC236}">
                <a16:creationId xmlns:a16="http://schemas.microsoft.com/office/drawing/2014/main" id="{686DBC1D-F4E2-45D1-A888-D4C70FA3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4480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1D8E1"/>
            </a:solidFill>
            <a:prstDash val="solid"/>
          </a:ln>
        </p:spPr>
      </p:sp>
      <p:sp>
        <p:nvSpPr>
          <p:cNvPr id="20" name="multi-evidence-3-placeholder">
            <a:extLst xmlns:a="http://schemas.openxmlformats.org/drawingml/2006/main">
              <a:ext uri="{FF2B5EF4-FFF2-40B4-BE49-F238E27FC236}">
                <a16:creationId xmlns:a16="http://schemas.microsoft.com/office/drawing/2014/main" id="{518E61C3-B7E6-4C48-B47B-92BF0BA2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24025"/>
            <a:ext cx="33147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开题或中期答辩证据图示意槽位</a:t>
            </a:r>
          </a:p>
        </p:txBody>
      </p:sp>
      <p:sp>
        <p:nvSpPr>
          <p:cNvPr id="21" name="multi-evidence-caption-3">
            <a:extLst xmlns:a="http://schemas.openxmlformats.org/drawingml/2006/main">
              <a:ext uri="{FF2B5EF4-FFF2-40B4-BE49-F238E27FC236}">
                <a16:creationId xmlns:a16="http://schemas.microsoft.com/office/drawing/2014/main" id="{E8F5B10B-C61F-40F8-93EB-FF231565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稳健性证据｜替代参数下结论方向不反转</a:t>
            </a:r>
          </a:p>
        </p:txBody>
      </p:sp>
      <p:sp>
        <p:nvSpPr>
          <p:cNvPr id="22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2FE52B18-7DB7-4EAA-914A-CD37DB2A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23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EF58BBD0-35C6-49B7-9164-2793DD5A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每个面板承担不同证据角色，但必须共同回答一个问题。｜边界：当前外部样本尚未完成，暂不做广泛外推。</a:t>
            </a:r>
          </a:p>
        </p:txBody>
      </p:sp>
    </p:spTree>
    <p:extLst>
      <p:ext uri="{BB962C8B-B14F-4D97-AF65-F5344CB8AC3E}">
        <p14:creationId xmlns:p14="http://schemas.microsoft.com/office/powerpoint/2010/main" val="284443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AE46C56F-90C8-4B78-AE4D-E9C4E875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56E94679-ADB3-4B31-A806-F30AE4CB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E9F29E81-9D53-4D15-BFEA-69A792D5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中期专属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1C1F0C6A-5D80-427C-B5A8-0E74F434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中期汇报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D4FBF2A8-A51D-47A7-B2F9-5F38AF4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041C80CB-F087-4F37-B63F-C26EA2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5B79164E-AD41-4133-A0C4-28374FBE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235513BC-1C18-440F-AF48-3FFDEA63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915A5C48-C0AB-41F1-9DF7-5EF18F6D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664598-ADED-4170-8800-E6BE3202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外部样本延迟源于数据授权，已通过备选来源和并行分析纠偏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C1EEC0F3-53E7-47AF-BDC0-01A70208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825240-52EC-48AF-8535-B0CB3561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13" name="deviation-cell-1-1">
            <a:extLst xmlns:a="http://schemas.openxmlformats.org/drawingml/2006/main">
              <a:ext uri="{FF2B5EF4-FFF2-40B4-BE49-F238E27FC236}">
                <a16:creationId xmlns:a16="http://schemas.microsoft.com/office/drawing/2014/main" id="{AB380A13-97AE-491C-80BF-EEB67433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3409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9525">
            <a:solidFill>
              <a:srgbClr val="B56A2E"/>
            </a:solidFill>
            <a:prstDash val="solid"/>
          </a:ln>
        </p:spPr>
      </p:sp>
      <p:sp>
        <p:nvSpPr>
          <p:cNvPr id="14" name="deviation-label-1-1">
            <a:extLst xmlns:a="http://schemas.openxmlformats.org/drawingml/2006/main">
              <a:ext uri="{FF2B5EF4-FFF2-40B4-BE49-F238E27FC236}">
                <a16:creationId xmlns:a16="http://schemas.microsoft.com/office/drawing/2014/main" id="{ECE4753F-F20B-41F0-ABA5-F47821C5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818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B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i="0">
                <a:solidFill>
                  <a:srgbClr val="B56A2E"/>
                </a:solidFill>
                <a:latin typeface="Microsoft YaHei"/>
                <a:ea typeface="Microsoft YaHei"/>
                <a:cs typeface="Microsoft YaHei"/>
              </a:rPr>
              <a:t>偏差事实</a:t>
            </a:r>
          </a:p>
        </p:txBody>
      </p:sp>
      <p:sp>
        <p:nvSpPr>
          <p:cNvPr id="15" name="deviation-value-1-1">
            <a:extLst xmlns:a="http://schemas.openxmlformats.org/drawingml/2006/main">
              <a:ext uri="{FF2B5EF4-FFF2-40B4-BE49-F238E27FC236}">
                <a16:creationId xmlns:a16="http://schemas.microsoft.com/office/drawing/2014/main" id="{AD48F096-CD43-4FE0-83DF-24D0540A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4904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外部样本验证较基线计划延迟一个周期</a:t>
            </a:r>
          </a:p>
        </p:txBody>
      </p:sp>
      <p:sp>
        <p:nvSpPr>
          <p:cNvPr id="16" name="deviation-arrow-1-1">
            <a:extLst xmlns:a="http://schemas.openxmlformats.org/drawingml/2006/main">
              <a:ext uri="{FF2B5EF4-FFF2-40B4-BE49-F238E27FC236}">
                <a16:creationId xmlns:a16="http://schemas.microsoft.com/office/drawing/2014/main" id="{90758B97-433B-4A9E-AD4D-24C4C6BD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0977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7" name="deviation-cell-1-2">
            <a:extLst xmlns:a="http://schemas.openxmlformats.org/drawingml/2006/main">
              <a:ext uri="{FF2B5EF4-FFF2-40B4-BE49-F238E27FC236}">
                <a16:creationId xmlns:a16="http://schemas.microsoft.com/office/drawing/2014/main" id="{72521ADF-D88C-42A1-85FC-2BEADFD9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33550"/>
            <a:ext cx="3409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1D8E1"/>
            </a:solidFill>
            <a:prstDash val="solid"/>
          </a:ln>
        </p:spPr>
      </p:sp>
      <p:sp>
        <p:nvSpPr>
          <p:cNvPr id="18" name="deviation-label-1-2">
            <a:extLst xmlns:a="http://schemas.openxmlformats.org/drawingml/2006/main">
              <a:ext uri="{FF2B5EF4-FFF2-40B4-BE49-F238E27FC236}">
                <a16:creationId xmlns:a16="http://schemas.microsoft.com/office/drawing/2014/main" id="{F17E1BF7-9AC9-4BB7-B4F9-5E6F6D52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288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818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原因解释</a:t>
            </a:r>
          </a:p>
        </p:txBody>
      </p:sp>
      <p:sp>
        <p:nvSpPr>
          <p:cNvPr id="19" name="deviation-value-1-2">
            <a:extLst xmlns:a="http://schemas.openxmlformats.org/drawingml/2006/main">
              <a:ext uri="{FF2B5EF4-FFF2-40B4-BE49-F238E27FC236}">
                <a16:creationId xmlns:a16="http://schemas.microsoft.com/office/drawing/2014/main" id="{D1AC6E13-0F17-4B5D-BC34-E82AF66C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4904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数据授权边界变更，不是分析方法失败</a:t>
            </a:r>
          </a:p>
        </p:txBody>
      </p:sp>
      <p:sp>
        <p:nvSpPr>
          <p:cNvPr id="20" name="deviation-arrow-1-2">
            <a:extLst xmlns:a="http://schemas.openxmlformats.org/drawingml/2006/main">
              <a:ext uri="{FF2B5EF4-FFF2-40B4-BE49-F238E27FC236}">
                <a16:creationId xmlns:a16="http://schemas.microsoft.com/office/drawing/2014/main" id="{9B1266F0-C978-427F-86B8-B6A3DCBA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977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21" name="deviation-cell-1-3">
            <a:extLst xmlns:a="http://schemas.openxmlformats.org/drawingml/2006/main">
              <a:ext uri="{FF2B5EF4-FFF2-40B4-BE49-F238E27FC236}">
                <a16:creationId xmlns:a16="http://schemas.microsoft.com/office/drawing/2014/main" id="{0C5F83FB-25A4-4079-891C-7595E139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33550"/>
            <a:ext cx="3409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183A6A"/>
            </a:solidFill>
            <a:prstDash val="solid"/>
          </a:ln>
        </p:spPr>
      </p:sp>
      <p:sp>
        <p:nvSpPr>
          <p:cNvPr id="22" name="deviation-label-1-3">
            <a:extLst xmlns:a="http://schemas.openxmlformats.org/drawingml/2006/main">
              <a:ext uri="{FF2B5EF4-FFF2-40B4-BE49-F238E27FC236}">
                <a16:creationId xmlns:a16="http://schemas.microsoft.com/office/drawing/2014/main" id="{87CEF6F4-5C3A-4464-BC7F-E4165926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288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818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纠偏行动</a:t>
            </a:r>
          </a:p>
        </p:txBody>
      </p:sp>
      <p:sp>
        <p:nvSpPr>
          <p:cNvPr id="23" name="deviation-value-1-3">
            <a:extLst xmlns:a="http://schemas.openxmlformats.org/drawingml/2006/main">
              <a:ext uri="{FF2B5EF4-FFF2-40B4-BE49-F238E27FC236}">
                <a16:creationId xmlns:a16="http://schemas.microsoft.com/office/drawing/2014/main" id="{5F78F0F2-E597-4AB3-9F14-53AA817D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2321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启用备选数据源，并提前完成不依赖外部样本的论文部分</a:t>
            </a:r>
          </a:p>
        </p:txBody>
      </p:sp>
      <p:sp>
        <p:nvSpPr>
          <p:cNvPr id="24" name="deviation-cell-2-1">
            <a:extLst xmlns:a="http://schemas.openxmlformats.org/drawingml/2006/main">
              <a:ext uri="{FF2B5EF4-FFF2-40B4-BE49-F238E27FC236}">
                <a16:creationId xmlns:a16="http://schemas.microsoft.com/office/drawing/2014/main" id="{D4D6F135-45BE-4B72-A817-CCA24198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409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9525">
            <a:solidFill>
              <a:srgbClr val="B56A2E"/>
            </a:solidFill>
            <a:prstDash val="solid"/>
          </a:ln>
        </p:spPr>
      </p:sp>
      <p:sp>
        <p:nvSpPr>
          <p:cNvPr id="25" name="deviation-label-2-1">
            <a:extLst xmlns:a="http://schemas.openxmlformats.org/drawingml/2006/main">
              <a:ext uri="{FF2B5EF4-FFF2-40B4-BE49-F238E27FC236}">
                <a16:creationId xmlns:a16="http://schemas.microsoft.com/office/drawing/2014/main" id="{68F6BD60-548F-49F7-AD3C-22AEAA45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818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B5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i="0">
                <a:solidFill>
                  <a:srgbClr val="B56A2E"/>
                </a:solidFill>
                <a:latin typeface="Microsoft YaHei"/>
                <a:ea typeface="Microsoft YaHei"/>
                <a:cs typeface="Microsoft YaHei"/>
              </a:rPr>
              <a:t>偏差事实</a:t>
            </a:r>
          </a:p>
        </p:txBody>
      </p:sp>
      <p:sp>
        <p:nvSpPr>
          <p:cNvPr id="26" name="deviation-value-2-1">
            <a:extLst xmlns:a="http://schemas.openxmlformats.org/drawingml/2006/main">
              <a:ext uri="{FF2B5EF4-FFF2-40B4-BE49-F238E27FC236}">
                <a16:creationId xmlns:a16="http://schemas.microsoft.com/office/drawing/2014/main" id="{ADDDA6F3-5A76-418D-9F6B-138D9B72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4904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外部适用性结论暂时不能按原强度表述</a:t>
            </a:r>
          </a:p>
        </p:txBody>
      </p:sp>
      <p:sp>
        <p:nvSpPr>
          <p:cNvPr id="27" name="deviation-arrow-2-1">
            <a:extLst xmlns:a="http://schemas.openxmlformats.org/drawingml/2006/main">
              <a:ext uri="{FF2B5EF4-FFF2-40B4-BE49-F238E27FC236}">
                <a16:creationId xmlns:a16="http://schemas.microsoft.com/office/drawing/2014/main" id="{E9A40E8E-14EE-485F-A9F7-31A4D6C0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037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28" name="deviation-cell-2-2">
            <a:extLst xmlns:a="http://schemas.openxmlformats.org/drawingml/2006/main">
              <a:ext uri="{FF2B5EF4-FFF2-40B4-BE49-F238E27FC236}">
                <a16:creationId xmlns:a16="http://schemas.microsoft.com/office/drawing/2014/main" id="{BA20C440-873A-4B09-BB57-783419C7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3409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1D8E1"/>
            </a:solidFill>
            <a:prstDash val="solid"/>
          </a:ln>
        </p:spPr>
      </p:sp>
      <p:sp>
        <p:nvSpPr>
          <p:cNvPr id="29" name="deviation-label-2-2">
            <a:extLst xmlns:a="http://schemas.openxmlformats.org/drawingml/2006/main">
              <a:ext uri="{FF2B5EF4-FFF2-40B4-BE49-F238E27FC236}">
                <a16:creationId xmlns:a16="http://schemas.microsoft.com/office/drawing/2014/main" id="{3171EC22-0B1A-4EED-BBF5-A43731A0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194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818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原因解释</a:t>
            </a:r>
          </a:p>
        </p:txBody>
      </p:sp>
      <p:sp>
        <p:nvSpPr>
          <p:cNvPr id="30" name="deviation-value-2-2">
            <a:extLst xmlns:a="http://schemas.openxmlformats.org/drawingml/2006/main">
              <a:ext uri="{FF2B5EF4-FFF2-40B4-BE49-F238E27FC236}">
                <a16:creationId xmlns:a16="http://schemas.microsoft.com/office/drawing/2014/main" id="{CA9018E4-FC63-4F7C-B715-646511E3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关键分层尚未达到预定样本量</a:t>
            </a:r>
          </a:p>
        </p:txBody>
      </p:sp>
      <p:sp>
        <p:nvSpPr>
          <p:cNvPr id="31" name="deviation-arrow-2-2">
            <a:extLst xmlns:a="http://schemas.openxmlformats.org/drawingml/2006/main">
              <a:ext uri="{FF2B5EF4-FFF2-40B4-BE49-F238E27FC236}">
                <a16:creationId xmlns:a16="http://schemas.microsoft.com/office/drawing/2014/main" id="{CED381B4-1DFA-4E19-87BC-FF6ED426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037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32" name="deviation-cell-2-3">
            <a:extLst xmlns:a="http://schemas.openxmlformats.org/drawingml/2006/main">
              <a:ext uri="{FF2B5EF4-FFF2-40B4-BE49-F238E27FC236}">
                <a16:creationId xmlns:a16="http://schemas.microsoft.com/office/drawing/2014/main" id="{A990FCC4-FCD3-45A5-95AD-D7ECC5C8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409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183A6A"/>
            </a:solidFill>
            <a:prstDash val="solid"/>
          </a:ln>
        </p:spPr>
      </p:sp>
      <p:sp>
        <p:nvSpPr>
          <p:cNvPr id="33" name="deviation-label-2-3">
            <a:extLst xmlns:a="http://schemas.openxmlformats.org/drawingml/2006/main">
              <a:ext uri="{FF2B5EF4-FFF2-40B4-BE49-F238E27FC236}">
                <a16:creationId xmlns:a16="http://schemas.microsoft.com/office/drawing/2014/main" id="{0CAEEDF2-F3D1-444C-A2F2-944CD2EB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194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818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纠偏行动</a:t>
            </a:r>
          </a:p>
        </p:txBody>
      </p:sp>
      <p:sp>
        <p:nvSpPr>
          <p:cNvPr id="34" name="deviation-value-2-3">
            <a:extLst xmlns:a="http://schemas.openxmlformats.org/drawingml/2006/main">
              <a:ext uri="{FF2B5EF4-FFF2-40B4-BE49-F238E27FC236}">
                <a16:creationId xmlns:a16="http://schemas.microsoft.com/office/drawing/2014/main" id="{C88D7CA9-C133-4EDF-92C9-161711BC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54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两周后按有效样本数重新判断结论强度和时间表</a:t>
            </a:r>
          </a:p>
        </p:txBody>
      </p:sp>
      <p:sp>
        <p:nvSpPr>
          <p:cNvPr id="35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AF989A3C-79B5-4B9F-843F-91F485FF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36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78CBBED9-AAE8-4FF4-BB2E-3C8D390F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中期偏差页必须说明基线、实际、根因、影响、动作和复查点。｜复查点：20XX-XX-XX｜检查有效样本数与关键分层</a:t>
            </a:r>
          </a:p>
        </p:txBody>
      </p:sp>
    </p:spTree>
    <p:extLst>
      <p:ext uri="{BB962C8B-B14F-4D97-AF65-F5344CB8AC3E}">
        <p14:creationId xmlns:p14="http://schemas.microsoft.com/office/powerpoint/2010/main" val="9888132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milestone-section-number-box">
            <a:extLst xmlns:a="http://schemas.openxmlformats.org/drawingml/2006/main">
              <a:ext uri="{FF2B5EF4-FFF2-40B4-BE49-F238E27FC236}">
                <a16:creationId xmlns:a16="http://schemas.microsoft.com/office/drawing/2014/main" id="{EE77D50F-E6FD-40EB-9512-4816A8A5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2" name="milestone-section-number">
            <a:extLst xmlns:a="http://schemas.openxmlformats.org/drawingml/2006/main">
              <a:ext uri="{FF2B5EF4-FFF2-40B4-BE49-F238E27FC236}">
                <a16:creationId xmlns:a16="http://schemas.microsoft.com/office/drawing/2014/main" id="{CEB3C2D9-01AC-49CB-ACD6-94F9AF0B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19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milestone-section-title">
            <a:extLst xmlns:a="http://schemas.openxmlformats.org/drawingml/2006/main">
              <a:ext uri="{FF2B5EF4-FFF2-40B4-BE49-F238E27FC236}">
                <a16:creationId xmlns:a16="http://schemas.microsoft.com/office/drawing/2014/main" id="{1D83B5AD-F5A7-4D00-A73D-DC4E4BEE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中期专属</a:t>
            </a:r>
          </a:p>
        </p:txBody>
      </p:sp>
      <p:sp>
        <p:nvSpPr>
          <p:cNvPr id="4" name="milestone-mode-label">
            <a:extLst xmlns:a="http://schemas.openxmlformats.org/drawingml/2006/main">
              <a:ext uri="{FF2B5EF4-FFF2-40B4-BE49-F238E27FC236}">
                <a16:creationId xmlns:a16="http://schemas.microsoft.com/office/drawing/2014/main" id="{92ACAF31-A766-44E6-894E-399DFCE1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中期汇报</a:t>
            </a:r>
          </a:p>
        </p:txBody>
      </p:sp>
      <p:sp>
        <p:nvSpPr>
          <p:cNvPr id="5" name="milestone-institution-wordmark">
            <a:extLst xmlns:a="http://schemas.openxmlformats.org/drawingml/2006/main">
              <a:ext uri="{FF2B5EF4-FFF2-40B4-BE49-F238E27FC236}">
                <a16:creationId xmlns:a16="http://schemas.microsoft.com/office/drawing/2014/main" id="{0364B9FD-EF92-46F1-A3D1-D43EA8E8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83A6A"/>
                </a:solidFill>
                <a:latin typeface="Microsoft YaHei"/>
                <a:ea typeface="Microsoft YaHei"/>
                <a:cs typeface="Microsoft YaHei"/>
              </a:rPr>
              <a:t>学术机构</a:t>
            </a:r>
          </a:p>
        </p:txBody>
      </p:sp>
      <p:sp>
        <p:nvSpPr>
          <p:cNvPr id="6" name="brand-logo-placeholder">
            <a:extLst xmlns:a="http://schemas.openxmlformats.org/drawingml/2006/main">
              <a:ext uri="{FF2B5EF4-FFF2-40B4-BE49-F238E27FC236}">
                <a16:creationId xmlns:a16="http://schemas.microsoft.com/office/drawing/2014/main" id="{2F66D7B8-FA70-46A0-BCDD-C4B92A60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14288">
            <a:solidFill>
              <a:srgbClr val="10294C"/>
            </a:solidFill>
            <a:prstDash val="solid"/>
          </a:ln>
        </p:spPr>
      </p:sp>
      <p:sp>
        <p:nvSpPr>
          <p:cNvPr id="7" name="brand-logo-placeholder-ring">
            <a:extLst xmlns:a="http://schemas.openxmlformats.org/drawingml/2006/main">
              <a:ext uri="{FF2B5EF4-FFF2-40B4-BE49-F238E27FC236}">
                <a16:creationId xmlns:a16="http://schemas.microsoft.com/office/drawing/2014/main" id="{8BDE2D7F-8738-4EE1-9850-B935AAAF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965" y="148590"/>
            <a:ext cx="350520" cy="350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C9A80F7F-B11B-4171-BDE0-812BD067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047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校徽</a:t>
            </a:r>
          </a:p>
        </p:txBody>
      </p:sp>
      <p:sp>
        <p:nvSpPr>
          <p:cNvPr id="9" name="milestone-header-rule">
            <a:extLst xmlns:a="http://schemas.openxmlformats.org/drawingml/2006/main">
              <a:ext uri="{FF2B5EF4-FFF2-40B4-BE49-F238E27FC236}">
                <a16:creationId xmlns:a16="http://schemas.microsoft.com/office/drawing/2014/main" id="{081DFC0F-2D90-428A-A30E-9DAF7B55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1165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0">
            <a:solidFill>
              <a:srgbClr val="183A6A"/>
            </a:solidFill>
            <a:prstDash val="solid"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34B889-5EE8-44C4-98FE-4FCBB32C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剩余工作围绕外部验证、边界收敛和论文整合展开</a:t>
            </a:r>
          </a:p>
        </p:txBody>
      </p:sp>
      <p:sp>
        <p:nvSpPr>
          <p:cNvPr id="11" name="milestone-title-rule">
            <a:extLst xmlns:a="http://schemas.openxmlformats.org/drawingml/2006/main">
              <a:ext uri="{FF2B5EF4-FFF2-40B4-BE49-F238E27FC236}">
                <a16:creationId xmlns:a16="http://schemas.microsoft.com/office/drawing/2014/main" id="{A400A8CE-3793-48DA-87C7-DF951CB1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C11805-4AB5-41BE-AB12-9EDBC1BB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1" i="0">
                <a:solidFill>
                  <a:srgbClr val="8791A2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791A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3" name="milestone-gantt-period-1">
            <a:extLst xmlns:a="http://schemas.openxmlformats.org/drawingml/2006/main">
              <a:ext uri="{FF2B5EF4-FFF2-40B4-BE49-F238E27FC236}">
                <a16:creationId xmlns:a16="http://schemas.microsoft.com/office/drawing/2014/main" id="{B91DAD80-2D13-4F0A-B3C1-787430ED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1638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milestone-gantt-period-label-1">
            <a:extLst xmlns:a="http://schemas.openxmlformats.org/drawingml/2006/main">
              <a:ext uri="{FF2B5EF4-FFF2-40B4-BE49-F238E27FC236}">
                <a16:creationId xmlns:a16="http://schemas.microsoft.com/office/drawing/2014/main" id="{0C1C1D29-AD76-4E15-A911-6E52FEB6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193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T0</a:t>
            </a:r>
          </a:p>
        </p:txBody>
      </p:sp>
      <p:sp>
        <p:nvSpPr>
          <p:cNvPr id="15" name="milestone-gantt-period-2">
            <a:extLst xmlns:a="http://schemas.openxmlformats.org/drawingml/2006/main">
              <a:ext uri="{FF2B5EF4-FFF2-40B4-BE49-F238E27FC236}">
                <a16:creationId xmlns:a16="http://schemas.microsoft.com/office/drawing/2014/main" id="{3C9B4DF0-84F0-4E7A-BDB9-6C971AD3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1638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milestone-gantt-period-label-2">
            <a:extLst xmlns:a="http://schemas.openxmlformats.org/drawingml/2006/main">
              <a:ext uri="{FF2B5EF4-FFF2-40B4-BE49-F238E27FC236}">
                <a16:creationId xmlns:a16="http://schemas.microsoft.com/office/drawing/2014/main" id="{43D2E197-E147-43AD-AB57-5BF4221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193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17" name="milestone-gantt-period-3">
            <a:extLst xmlns:a="http://schemas.openxmlformats.org/drawingml/2006/main">
              <a:ext uri="{FF2B5EF4-FFF2-40B4-BE49-F238E27FC236}">
                <a16:creationId xmlns:a16="http://schemas.microsoft.com/office/drawing/2014/main" id="{32BA69DC-2745-4DC0-B673-F31B8927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1638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milestone-gantt-period-label-3">
            <a:extLst xmlns:a="http://schemas.openxmlformats.org/drawingml/2006/main">
              <a:ext uri="{FF2B5EF4-FFF2-40B4-BE49-F238E27FC236}">
                <a16:creationId xmlns:a16="http://schemas.microsoft.com/office/drawing/2014/main" id="{1FEAE8CA-8D77-4F9B-B30F-47F00665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+2</a:t>
            </a:r>
          </a:p>
        </p:txBody>
      </p:sp>
      <p:sp>
        <p:nvSpPr>
          <p:cNvPr id="19" name="milestone-gantt-period-4">
            <a:extLst xmlns:a="http://schemas.openxmlformats.org/drawingml/2006/main">
              <a:ext uri="{FF2B5EF4-FFF2-40B4-BE49-F238E27FC236}">
                <a16:creationId xmlns:a16="http://schemas.microsoft.com/office/drawing/2014/main" id="{C6741FFF-4232-4304-B14C-5AD919E5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1638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milestone-gantt-period-label-4">
            <a:extLst xmlns:a="http://schemas.openxmlformats.org/drawingml/2006/main">
              <a:ext uri="{FF2B5EF4-FFF2-40B4-BE49-F238E27FC236}">
                <a16:creationId xmlns:a16="http://schemas.microsoft.com/office/drawing/2014/main" id="{197BF40A-B76E-4D64-A862-2F0CC354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+3</a:t>
            </a:r>
          </a:p>
        </p:txBody>
      </p:sp>
      <p:sp>
        <p:nvSpPr>
          <p:cNvPr id="21" name="milestone-gantt-period-5">
            <a:extLst xmlns:a="http://schemas.openxmlformats.org/drawingml/2006/main">
              <a:ext uri="{FF2B5EF4-FFF2-40B4-BE49-F238E27FC236}">
                <a16:creationId xmlns:a16="http://schemas.microsoft.com/office/drawing/2014/main" id="{8AA32515-F323-4B5C-B0CE-98287E58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19300"/>
            <a:ext cx="1638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milestone-gantt-period-label-5">
            <a:extLst xmlns:a="http://schemas.openxmlformats.org/drawingml/2006/main">
              <a:ext uri="{FF2B5EF4-FFF2-40B4-BE49-F238E27FC236}">
                <a16:creationId xmlns:a16="http://schemas.microsoft.com/office/drawing/2014/main" id="{CD1BFD52-4866-43FE-8845-4F918248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1930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+4</a:t>
            </a:r>
          </a:p>
        </p:txBody>
      </p:sp>
      <p:sp>
        <p:nvSpPr>
          <p:cNvPr id="23" name="milestone-gantt-task-1">
            <a:extLst xmlns:a="http://schemas.openxmlformats.org/drawingml/2006/main">
              <a:ext uri="{FF2B5EF4-FFF2-40B4-BE49-F238E27FC236}">
                <a16:creationId xmlns:a16="http://schemas.microsoft.com/office/drawing/2014/main" id="{F644959B-D4F1-4F40-ABF9-88391F12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备选样本接入</a:t>
            </a:r>
          </a:p>
        </p:txBody>
      </p:sp>
      <p:sp>
        <p:nvSpPr>
          <p:cNvPr id="24" name="milestone-gantt-grid-1-1">
            <a:extLst xmlns:a="http://schemas.openxmlformats.org/drawingml/2006/main">
              <a:ext uri="{FF2B5EF4-FFF2-40B4-BE49-F238E27FC236}">
                <a16:creationId xmlns:a16="http://schemas.microsoft.com/office/drawing/2014/main" id="{46B45014-3182-4065-BD69-8130ED22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574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25" name="milestone-gantt-grid-1-2">
            <a:extLst xmlns:a="http://schemas.openxmlformats.org/drawingml/2006/main">
              <a:ext uri="{FF2B5EF4-FFF2-40B4-BE49-F238E27FC236}">
                <a16:creationId xmlns:a16="http://schemas.microsoft.com/office/drawing/2014/main" id="{8E1B6B99-1A87-43C6-A16E-8A8E6B26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26" name="milestone-gantt-grid-1-3">
            <a:extLst xmlns:a="http://schemas.openxmlformats.org/drawingml/2006/main">
              <a:ext uri="{FF2B5EF4-FFF2-40B4-BE49-F238E27FC236}">
                <a16:creationId xmlns:a16="http://schemas.microsoft.com/office/drawing/2014/main" id="{8637DA1C-D207-49A2-8FC1-BE347DF1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27" name="milestone-gantt-grid-1-4">
            <a:extLst xmlns:a="http://schemas.openxmlformats.org/drawingml/2006/main">
              <a:ext uri="{FF2B5EF4-FFF2-40B4-BE49-F238E27FC236}">
                <a16:creationId xmlns:a16="http://schemas.microsoft.com/office/drawing/2014/main" id="{73DA8544-4F9B-4714-A78E-5CE8B20A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28" name="milestone-gantt-grid-1-5">
            <a:extLst xmlns:a="http://schemas.openxmlformats.org/drawingml/2006/main">
              <a:ext uri="{FF2B5EF4-FFF2-40B4-BE49-F238E27FC236}">
                <a16:creationId xmlns:a16="http://schemas.microsoft.com/office/drawing/2014/main" id="{E14CAD9C-B4CA-4FC3-AAA1-1E421C19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29" name="milestone-gantt-bar-1">
            <a:extLst xmlns:a="http://schemas.openxmlformats.org/drawingml/2006/main">
              <a:ext uri="{FF2B5EF4-FFF2-40B4-BE49-F238E27FC236}">
                <a16:creationId xmlns:a16="http://schemas.microsoft.com/office/drawing/2014/main" id="{E37E8499-B820-4F2F-AA3F-1BF4FB24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90800"/>
            <a:ext cx="3124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30" name="milestone-gantt-deliverable-1">
            <a:extLst xmlns:a="http://schemas.openxmlformats.org/drawingml/2006/main">
              <a:ext uri="{FF2B5EF4-FFF2-40B4-BE49-F238E27FC236}">
                <a16:creationId xmlns:a16="http://schemas.microsoft.com/office/drawing/2014/main" id="{999128FB-F965-4561-A567-8B8B87F7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908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可用数据与质控报告</a:t>
            </a:r>
          </a:p>
        </p:txBody>
      </p:sp>
      <p:sp>
        <p:nvSpPr>
          <p:cNvPr id="31" name="milestone-gantt-task-2">
            <a:extLst xmlns:a="http://schemas.openxmlformats.org/drawingml/2006/main">
              <a:ext uri="{FF2B5EF4-FFF2-40B4-BE49-F238E27FC236}">
                <a16:creationId xmlns:a16="http://schemas.microsoft.com/office/drawing/2014/main" id="{BC13BABD-25FB-4C55-8D95-E80BBBA2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外部验证</a:t>
            </a:r>
          </a:p>
        </p:txBody>
      </p:sp>
      <p:sp>
        <p:nvSpPr>
          <p:cNvPr id="32" name="milestone-gantt-grid-2-1">
            <a:extLst xmlns:a="http://schemas.openxmlformats.org/drawingml/2006/main">
              <a:ext uri="{FF2B5EF4-FFF2-40B4-BE49-F238E27FC236}">
                <a16:creationId xmlns:a16="http://schemas.microsoft.com/office/drawing/2014/main" id="{28664224-18B9-4F05-B616-219E8AC0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33" name="milestone-gantt-grid-2-2">
            <a:extLst xmlns:a="http://schemas.openxmlformats.org/drawingml/2006/main">
              <a:ext uri="{FF2B5EF4-FFF2-40B4-BE49-F238E27FC236}">
                <a16:creationId xmlns:a16="http://schemas.microsoft.com/office/drawing/2014/main" id="{D4DE35C7-BE89-491C-9ACB-39BF4816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99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34" name="milestone-gantt-grid-2-3">
            <a:extLst xmlns:a="http://schemas.openxmlformats.org/drawingml/2006/main">
              <a:ext uri="{FF2B5EF4-FFF2-40B4-BE49-F238E27FC236}">
                <a16:creationId xmlns:a16="http://schemas.microsoft.com/office/drawing/2014/main" id="{4F1E8B73-590D-4087-A25C-9038529F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35" name="milestone-gantt-grid-2-4">
            <a:extLst xmlns:a="http://schemas.openxmlformats.org/drawingml/2006/main">
              <a:ext uri="{FF2B5EF4-FFF2-40B4-BE49-F238E27FC236}">
                <a16:creationId xmlns:a16="http://schemas.microsoft.com/office/drawing/2014/main" id="{F7B0D4A9-987B-46E8-AEA8-D9B4599F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36" name="milestone-gantt-grid-2-5">
            <a:extLst xmlns:a="http://schemas.openxmlformats.org/drawingml/2006/main">
              <a:ext uri="{FF2B5EF4-FFF2-40B4-BE49-F238E27FC236}">
                <a16:creationId xmlns:a16="http://schemas.microsoft.com/office/drawing/2014/main" id="{F3F13FDB-ADC4-474D-91A9-C6153D8D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99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37" name="milestone-gantt-bar-2">
            <a:extLst xmlns:a="http://schemas.openxmlformats.org/drawingml/2006/main">
              <a:ext uri="{FF2B5EF4-FFF2-40B4-BE49-F238E27FC236}">
                <a16:creationId xmlns:a16="http://schemas.microsoft.com/office/drawing/2014/main" id="{A2977134-EA2D-431D-A380-E219D1C3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3124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A2E"/>
          </a:solidFill>
          <a:ln xmlns:a="http://schemas.openxmlformats.org/drawingml/2006/main" w="0">
            <a:solidFill>
              <a:srgbClr val="B56A2E"/>
            </a:solidFill>
            <a:prstDash val="solid"/>
          </a:ln>
        </p:spPr>
      </p:sp>
      <p:sp>
        <p:nvSpPr>
          <p:cNvPr id="38" name="milestone-gantt-deliverable-2">
            <a:extLst xmlns:a="http://schemas.openxmlformats.org/drawingml/2006/main">
              <a:ext uri="{FF2B5EF4-FFF2-40B4-BE49-F238E27FC236}">
                <a16:creationId xmlns:a16="http://schemas.microsoft.com/office/drawing/2014/main" id="{D69B9700-AF87-489B-B07E-34257C28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432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效应、不确定性与边界</a:t>
            </a:r>
          </a:p>
        </p:txBody>
      </p:sp>
      <p:sp>
        <p:nvSpPr>
          <p:cNvPr id="39" name="milestone-gantt-task-3">
            <a:extLst xmlns:a="http://schemas.openxmlformats.org/drawingml/2006/main">
              <a:ext uri="{FF2B5EF4-FFF2-40B4-BE49-F238E27FC236}">
                <a16:creationId xmlns:a16="http://schemas.microsoft.com/office/drawing/2014/main" id="{65BC3EF0-6C9D-4140-BE82-4A52FDB9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结果整合与补充</a:t>
            </a:r>
          </a:p>
        </p:txBody>
      </p:sp>
      <p:sp>
        <p:nvSpPr>
          <p:cNvPr id="40" name="milestone-gantt-grid-3-1">
            <a:extLst xmlns:a="http://schemas.openxmlformats.org/drawingml/2006/main">
              <a:ext uri="{FF2B5EF4-FFF2-40B4-BE49-F238E27FC236}">
                <a16:creationId xmlns:a16="http://schemas.microsoft.com/office/drawing/2014/main" id="{277FC10F-6C94-4CD1-B207-A78A7AC2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1" name="milestone-gantt-grid-3-2">
            <a:extLst xmlns:a="http://schemas.openxmlformats.org/drawingml/2006/main">
              <a:ext uri="{FF2B5EF4-FFF2-40B4-BE49-F238E27FC236}">
                <a16:creationId xmlns:a16="http://schemas.microsoft.com/office/drawing/2014/main" id="{9E4129E3-F53C-4237-8741-7904CB26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2" name="milestone-gantt-grid-3-3">
            <a:extLst xmlns:a="http://schemas.openxmlformats.org/drawingml/2006/main">
              <a:ext uri="{FF2B5EF4-FFF2-40B4-BE49-F238E27FC236}">
                <a16:creationId xmlns:a16="http://schemas.microsoft.com/office/drawing/2014/main" id="{BCB82CB8-6C44-47A4-B658-18AC0729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3" name="milestone-gantt-grid-3-4">
            <a:extLst xmlns:a="http://schemas.openxmlformats.org/drawingml/2006/main">
              <a:ext uri="{FF2B5EF4-FFF2-40B4-BE49-F238E27FC236}">
                <a16:creationId xmlns:a16="http://schemas.microsoft.com/office/drawing/2014/main" id="{19D754D7-1E9D-47AD-919B-B518D1D2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4" name="milestone-gantt-grid-3-5">
            <a:extLst xmlns:a="http://schemas.openxmlformats.org/drawingml/2006/main">
              <a:ext uri="{FF2B5EF4-FFF2-40B4-BE49-F238E27FC236}">
                <a16:creationId xmlns:a16="http://schemas.microsoft.com/office/drawing/2014/main" id="{D7B4988A-05C9-489A-B013-D73DBFF7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623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5" name="milestone-gantt-bar-3">
            <a:extLst xmlns:a="http://schemas.openxmlformats.org/drawingml/2006/main">
              <a:ext uri="{FF2B5EF4-FFF2-40B4-BE49-F238E27FC236}">
                <a16:creationId xmlns:a16="http://schemas.microsoft.com/office/drawing/2014/main" id="{802606C8-A42A-4B14-91D8-C3526686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95700"/>
            <a:ext cx="476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46" name="milestone-gantt-deliverable-3">
            <a:extLst xmlns:a="http://schemas.openxmlformats.org/drawingml/2006/main">
              <a:ext uri="{FF2B5EF4-FFF2-40B4-BE49-F238E27FC236}">
                <a16:creationId xmlns:a16="http://schemas.microsoft.com/office/drawing/2014/main" id="{40301901-5ABF-4FA6-A15C-DAB504D8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完整证据链</a:t>
            </a:r>
          </a:p>
        </p:txBody>
      </p:sp>
      <p:sp>
        <p:nvSpPr>
          <p:cNvPr id="47" name="milestone-gantt-task-4">
            <a:extLst xmlns:a="http://schemas.openxmlformats.org/drawingml/2006/main">
              <a:ext uri="{FF2B5EF4-FFF2-40B4-BE49-F238E27FC236}">
                <a16:creationId xmlns:a16="http://schemas.microsoft.com/office/drawing/2014/main" id="{A5869CB2-F420-4284-89F3-2D4120DA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论文和答辩交付</a:t>
            </a:r>
          </a:p>
        </p:txBody>
      </p:sp>
      <p:sp>
        <p:nvSpPr>
          <p:cNvPr id="48" name="milestone-gantt-grid-4-1">
            <a:extLst xmlns:a="http://schemas.openxmlformats.org/drawingml/2006/main">
              <a:ext uri="{FF2B5EF4-FFF2-40B4-BE49-F238E27FC236}">
                <a16:creationId xmlns:a16="http://schemas.microsoft.com/office/drawing/2014/main" id="{4C102C08-44F1-4CA3-8909-C274DB95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148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49" name="milestone-gantt-grid-4-2">
            <a:extLst xmlns:a="http://schemas.openxmlformats.org/drawingml/2006/main">
              <a:ext uri="{FF2B5EF4-FFF2-40B4-BE49-F238E27FC236}">
                <a16:creationId xmlns:a16="http://schemas.microsoft.com/office/drawing/2014/main" id="{33603BF8-4423-4FA1-A33D-3C5D61A2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148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50" name="milestone-gantt-grid-4-3">
            <a:extLst xmlns:a="http://schemas.openxmlformats.org/drawingml/2006/main">
              <a:ext uri="{FF2B5EF4-FFF2-40B4-BE49-F238E27FC236}">
                <a16:creationId xmlns:a16="http://schemas.microsoft.com/office/drawing/2014/main" id="{5CD53938-466D-47E5-BC6E-7ABF2DCA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51" name="milestone-gantt-grid-4-4">
            <a:extLst xmlns:a="http://schemas.openxmlformats.org/drawingml/2006/main">
              <a:ext uri="{FF2B5EF4-FFF2-40B4-BE49-F238E27FC236}">
                <a16:creationId xmlns:a16="http://schemas.microsoft.com/office/drawing/2014/main" id="{3DF31D47-A8BD-4CE5-A2D7-010F551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52" name="milestone-gantt-grid-4-5">
            <a:extLst xmlns:a="http://schemas.openxmlformats.org/drawingml/2006/main">
              <a:ext uri="{FF2B5EF4-FFF2-40B4-BE49-F238E27FC236}">
                <a16:creationId xmlns:a16="http://schemas.microsoft.com/office/drawing/2014/main" id="{09E0E785-FCF5-46B7-B1D8-49362117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1480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8E1"/>
            </a:solidFill>
            <a:prstDash val="solid"/>
          </a:ln>
        </p:spPr>
      </p:sp>
      <p:sp>
        <p:nvSpPr>
          <p:cNvPr id="53" name="milestone-gantt-bar-4">
            <a:extLst xmlns:a="http://schemas.openxmlformats.org/drawingml/2006/main">
              <a:ext uri="{FF2B5EF4-FFF2-40B4-BE49-F238E27FC236}">
                <a16:creationId xmlns:a16="http://schemas.microsoft.com/office/drawing/2014/main" id="{E9709C58-B30F-404D-BD45-A24A1278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48150"/>
            <a:ext cx="3124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77A2"/>
          </a:solidFill>
          <a:ln xmlns:a="http://schemas.openxmlformats.org/drawingml/2006/main" w="0">
            <a:solidFill>
              <a:srgbClr val="5877A2"/>
            </a:solidFill>
            <a:prstDash val="solid"/>
          </a:ln>
        </p:spPr>
      </p:sp>
      <p:sp>
        <p:nvSpPr>
          <p:cNvPr id="54" name="milestone-gantt-deliverable-4">
            <a:extLst xmlns:a="http://schemas.openxmlformats.org/drawingml/2006/main">
              <a:ext uri="{FF2B5EF4-FFF2-40B4-BE49-F238E27FC236}">
                <a16:creationId xmlns:a16="http://schemas.microsoft.com/office/drawing/2014/main" id="{B5007E95-2799-462E-B024-11602143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论文初稿与答辩材料</a:t>
            </a:r>
          </a:p>
        </p:txBody>
      </p:sp>
      <p:sp>
        <p:nvSpPr>
          <p:cNvPr id="55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34D5F8C6-46BE-44C9-8351-364507BF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E8EDF4"/>
            </a:solidFill>
            <a:prstDash val="solid"/>
          </a:ln>
        </p:spPr>
      </p:sp>
      <p:sp>
        <p:nvSpPr>
          <p:cNvPr id="56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E81699AC-B4A4-4EB0-84E4-0F6AEB16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1051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10294C"/>
                </a:solidFill>
                <a:latin typeface="Microsoft YaHei"/>
                <a:ea typeface="Microsoft YaHei"/>
                <a:cs typeface="Microsoft YaHei"/>
              </a:rPr>
              <a:t>待决策｜请评委判断：若外部样本仍延迟，是否接受限定性结论并优先保证论文交付？</a:t>
            </a:r>
          </a:p>
        </p:txBody>
      </p:sp>
    </p:spTree>
    <p:extLst>
      <p:ext uri="{BB962C8B-B14F-4D97-AF65-F5344CB8AC3E}">
        <p14:creationId xmlns:p14="http://schemas.microsoft.com/office/powerpoint/2010/main" val="296938325"/>
      </p:ext>
    </p:extLst>
  </p:cSld>
</p:sld>
</file>

<file path=ppt/theme/theme1.xml><?xml version="1.0" encoding="utf-8"?>
<a:theme xmlns:a="http://schemas.openxmlformats.org/drawingml/2006/main" name="ChatGPT">
  <a:themeElements>
    <a:clrScheme name="Academic Slides · 学术蓝">
      <a:dk1>
        <a:srgbClr val="0B0F17"/>
      </a:dk1>
      <a:lt1>
        <a:srgbClr val="FFFFFF"/>
      </a:lt1>
      <a:dk2>
        <a:srgbClr val="10294C"/>
      </a:dk2>
      <a:lt2>
        <a:srgbClr val="E7EBF0"/>
      </a:lt2>
      <a:accent1>
        <a:srgbClr val="183A6A"/>
      </a:accent1>
      <a:accent2>
        <a:srgbClr val="5877A2"/>
      </a:accent2>
      <a:accent3>
        <a:srgbClr val="39786E"/>
      </a:accent3>
      <a:accent4>
        <a:srgbClr val="B77A2E"/>
      </a:accent4>
      <a:accent5>
        <a:srgbClr val="725A8B"/>
      </a:accent5>
      <a:accent6>
        <a:srgbClr val="A5424A"/>
      </a:accent6>
      <a:hlink>
        <a:srgbClr val="183A6A"/>
      </a:hlink>
      <a:folHlink>
        <a:srgbClr val="725A8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Slides · 学术蓝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2026-08-16T14:39:40.3840000Z</dcterms:created>
  <dcterms:modified xsi:type="dcterms:W3CDTF">2026-08-16T14:39:40.3840000Z</dcterms:modified>
</coreProperties>
</file>
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217565d6b64d80" /><Relationship Type="http://schemas.openxmlformats.org/officeDocument/2006/relationships/extended-properties" Target="/docProps/app.xml" Id="Rccae3050281d4bcb" /><Relationship Type="http://schemas.openxmlformats.org/officeDocument/2006/relationships/officeDocument" Target="/ppt/presentation.xml" Id="Rdfb24a7a2c3947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70b916db9546fa"/>
  </p:sldMasterIdLst>
  <p:notesMasterIdLst>
    <p:notesMasterId xmlns:r="http://schemas.openxmlformats.org/officeDocument/2006/relationships" r:id="Rbc62e7e5cbe94319"/>
  </p:notesMasterIdLst>
  <p:sldIdLst>
    <p:sldId xmlns:r="http://schemas.openxmlformats.org/officeDocument/2006/relationships" id="256" r:id="R3ec6e98d233e4de0"/>
    <p:sldId xmlns:r="http://schemas.openxmlformats.org/officeDocument/2006/relationships" id="257" r:id="R929c3449f9ac485f"/>
    <p:sldId xmlns:r="http://schemas.openxmlformats.org/officeDocument/2006/relationships" id="258" r:id="Ra41b4a4f9e2c4103"/>
    <p:sldId xmlns:r="http://schemas.openxmlformats.org/officeDocument/2006/relationships" id="259" r:id="Rada6d43e0c084a32"/>
    <p:sldId xmlns:r="http://schemas.openxmlformats.org/officeDocument/2006/relationships" id="260" r:id="R87fcf03d1c564be9"/>
    <p:sldId xmlns:r="http://schemas.openxmlformats.org/officeDocument/2006/relationships" id="261" r:id="Raeb7d27cd9f142c9"/>
    <p:sldId xmlns:r="http://schemas.openxmlformats.org/officeDocument/2006/relationships" id="262" r:id="Ra7cdcba89fc84da1"/>
    <p:sldId xmlns:r="http://schemas.openxmlformats.org/officeDocument/2006/relationships" id="263" r:id="Raa1e2154926e4cbc"/>
    <p:sldId xmlns:r="http://schemas.openxmlformats.org/officeDocument/2006/relationships" id="264" r:id="Rc3bf043786744020"/>
    <p:sldId xmlns:r="http://schemas.openxmlformats.org/officeDocument/2006/relationships" id="265" r:id="R680b6655f5834f28"/>
    <p:sldId xmlns:r="http://schemas.openxmlformats.org/officeDocument/2006/relationships" id="266" r:id="R6fc5d476a58c42dc"/>
    <p:sldId xmlns:r="http://schemas.openxmlformats.org/officeDocument/2006/relationships" id="267" r:id="R616d81f81d8943d1"/>
    <p:sldId xmlns:r="http://schemas.openxmlformats.org/officeDocument/2006/relationships" id="268" r:id="R2b89abb90a564163"/>
    <p:sldId xmlns:r="http://schemas.openxmlformats.org/officeDocument/2006/relationships" id="269" r:id="R5fda7e564c8b487a"/>
    <p:sldId xmlns:r="http://schemas.openxmlformats.org/officeDocument/2006/relationships" id="270" r:id="R820f2dd91e7243ca"/>
    <p:sldId xmlns:r="http://schemas.openxmlformats.org/officeDocument/2006/relationships" id="271" r:id="Rde2d39474a214bf6"/>
    <p:sldId xmlns:r="http://schemas.openxmlformats.org/officeDocument/2006/relationships" id="272" r:id="R926a2cfbb67f43eb"/>
    <p:sldId xmlns:r="http://schemas.openxmlformats.org/officeDocument/2006/relationships" id="273" r:id="Rd50c5f7f7bd547a7"/>
    <p:sldId xmlns:r="http://schemas.openxmlformats.org/officeDocument/2006/relationships" id="274" r:id="Raaa455b3de6f4c28"/>
    <p:sldId xmlns:r="http://schemas.openxmlformats.org/officeDocument/2006/relationships" id="275" r:id="R4cf45c69d1c6465f"/>
    <p:sldId xmlns:r="http://schemas.openxmlformats.org/officeDocument/2006/relationships" id="276" r:id="Ree5e276a2cfd4578"/>
    <p:sldId xmlns:r="http://schemas.openxmlformats.org/officeDocument/2006/relationships" id="277" r:id="R15ae7dba397948f9"/>
    <p:sldId xmlns:r="http://schemas.openxmlformats.org/officeDocument/2006/relationships" id="278" r:id="R0eeca0c26cc64faa"/>
    <p:sldId xmlns:r="http://schemas.openxmlformats.org/officeDocument/2006/relationships" id="279" r:id="Rea4c52a224d64393"/>
    <p:sldId xmlns:r="http://schemas.openxmlformats.org/officeDocument/2006/relationships" id="280" r:id="R4f798c01402d4b13"/>
    <p:sldId xmlns:r="http://schemas.openxmlformats.org/officeDocument/2006/relationships" id="281" r:id="R4af726d4e15d4ec7"/>
    <p:sldId xmlns:r="http://schemas.openxmlformats.org/officeDocument/2006/relationships" id="282" r:id="R3421c1590bd345c5"/>
    <p:sldId xmlns:r="http://schemas.openxmlformats.org/officeDocument/2006/relationships" id="283" r:id="Rc3757ed04f8a4b31"/>
    <p:sldId xmlns:r="http://schemas.openxmlformats.org/officeDocument/2006/relationships" id="284" r:id="R4b565b2630a249ef"/>
    <p:sldId xmlns:r="http://schemas.openxmlformats.org/officeDocument/2006/relationships" id="285" r:id="R8add50c8369544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3ed4f4269c4302" /><Relationship Type="http://schemas.openxmlformats.org/officeDocument/2006/relationships/slideMaster" Target="/ppt/slideMasters/slideMaster1.xml" Id="R7670b916db9546fa" /><Relationship Type="http://schemas.openxmlformats.org/officeDocument/2006/relationships/notesMaster" Target="/ppt/notesMasters/notesMaster1.xml" Id="Rbc62e7e5cbe94319" /><Relationship Type="http://schemas.openxmlformats.org/officeDocument/2006/relationships/presProps" Target="/ppt/presProps.xml" Id="R90ea6089efdd43f5" /><Relationship Type="http://schemas.openxmlformats.org/officeDocument/2006/relationships/tableStyles" Target="/ppt/tableStyles.xml" Id="Ra53045e59448469d" /><Relationship Type="http://schemas.openxmlformats.org/officeDocument/2006/relationships/slide" Target="/ppt/slides/slide1.xml" Id="R3ec6e98d233e4de0" /><Relationship Type="http://schemas.openxmlformats.org/officeDocument/2006/relationships/slide" Target="/ppt/slides/slide2.xml" Id="R929c3449f9ac485f" /><Relationship Type="http://schemas.openxmlformats.org/officeDocument/2006/relationships/slide" Target="/ppt/slides/slide3.xml" Id="Ra41b4a4f9e2c4103" /><Relationship Type="http://schemas.openxmlformats.org/officeDocument/2006/relationships/slide" Target="/ppt/slides/slide4.xml" Id="Rada6d43e0c084a32" /><Relationship Type="http://schemas.openxmlformats.org/officeDocument/2006/relationships/slide" Target="/ppt/slides/slide5.xml" Id="R87fcf03d1c564be9" /><Relationship Type="http://schemas.openxmlformats.org/officeDocument/2006/relationships/slide" Target="/ppt/slides/slide6.xml" Id="Raeb7d27cd9f142c9" /><Relationship Type="http://schemas.openxmlformats.org/officeDocument/2006/relationships/slide" Target="/ppt/slides/slide7.xml" Id="Ra7cdcba89fc84da1" /><Relationship Type="http://schemas.openxmlformats.org/officeDocument/2006/relationships/slide" Target="/ppt/slides/slide8.xml" Id="Raa1e2154926e4cbc" /><Relationship Type="http://schemas.openxmlformats.org/officeDocument/2006/relationships/slide" Target="/ppt/slides/slide9.xml" Id="Rc3bf043786744020" /><Relationship Type="http://schemas.openxmlformats.org/officeDocument/2006/relationships/slide" Target="/ppt/slides/slide10.xml" Id="R680b6655f5834f28" /><Relationship Type="http://schemas.openxmlformats.org/officeDocument/2006/relationships/slide" Target="/ppt/slides/slide11.xml" Id="R6fc5d476a58c42dc" /><Relationship Type="http://schemas.openxmlformats.org/officeDocument/2006/relationships/slide" Target="/ppt/slides/slide12.xml" Id="R616d81f81d8943d1" /><Relationship Type="http://schemas.openxmlformats.org/officeDocument/2006/relationships/slide" Target="/ppt/slides/slide13.xml" Id="R2b89abb90a564163" /><Relationship Type="http://schemas.openxmlformats.org/officeDocument/2006/relationships/slide" Target="/ppt/slides/slide14.xml" Id="R5fda7e564c8b487a" /><Relationship Type="http://schemas.openxmlformats.org/officeDocument/2006/relationships/slide" Target="/ppt/slides/slide15.xml" Id="R820f2dd91e7243ca" /><Relationship Type="http://schemas.openxmlformats.org/officeDocument/2006/relationships/slide" Target="/ppt/slides/slide16.xml" Id="Rde2d39474a214bf6" /><Relationship Type="http://schemas.openxmlformats.org/officeDocument/2006/relationships/slide" Target="/ppt/slides/slide17.xml" Id="R926a2cfbb67f43eb" /><Relationship Type="http://schemas.openxmlformats.org/officeDocument/2006/relationships/slide" Target="/ppt/slides/slide18.xml" Id="Rd50c5f7f7bd547a7" /><Relationship Type="http://schemas.openxmlformats.org/officeDocument/2006/relationships/slide" Target="/ppt/slides/slide19.xml" Id="Raaa455b3de6f4c28" /><Relationship Type="http://schemas.openxmlformats.org/officeDocument/2006/relationships/slide" Target="/ppt/slides/slide20.xml" Id="R4cf45c69d1c6465f" /><Relationship Type="http://schemas.openxmlformats.org/officeDocument/2006/relationships/slide" Target="/ppt/slides/slide21.xml" Id="Ree5e276a2cfd4578" /><Relationship Type="http://schemas.openxmlformats.org/officeDocument/2006/relationships/slide" Target="/ppt/slides/slide22.xml" Id="R15ae7dba397948f9" /><Relationship Type="http://schemas.openxmlformats.org/officeDocument/2006/relationships/slide" Target="/ppt/slides/slide23.xml" Id="R0eeca0c26cc64faa" /><Relationship Type="http://schemas.openxmlformats.org/officeDocument/2006/relationships/slide" Target="/ppt/slides/slide24.xml" Id="Rea4c52a224d64393" /><Relationship Type="http://schemas.openxmlformats.org/officeDocument/2006/relationships/slide" Target="/ppt/slides/slide25.xml" Id="R4f798c01402d4b13" /><Relationship Type="http://schemas.openxmlformats.org/officeDocument/2006/relationships/slide" Target="/ppt/slides/slide26.xml" Id="R4af726d4e15d4ec7" /><Relationship Type="http://schemas.openxmlformats.org/officeDocument/2006/relationships/slide" Target="/ppt/slides/slide27.xml" Id="R3421c1590bd345c5" /><Relationship Type="http://schemas.openxmlformats.org/officeDocument/2006/relationships/slide" Target="/ppt/slides/slide28.xml" Id="Rc3757ed04f8a4b31" /><Relationship Type="http://schemas.openxmlformats.org/officeDocument/2006/relationships/slide" Target="/ppt/slides/slide29.xml" Id="R4b565b2630a249ef" /><Relationship Type="http://schemas.openxmlformats.org/officeDocument/2006/relationships/slide" Target="/ppt/slides/slide30.xml" Id="R8add50c8369544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07abab6b040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cademic Slides · 学术蓝">
      <a:dk1>
        <a:srgbClr val="111827"/>
      </a:dk1>
      <a:lt1>
        <a:srgbClr val="FFFFFF"/>
      </a:lt1>
      <a:dk2>
        <a:srgbClr val="24355D"/>
      </a:dk2>
      <a:lt2>
        <a:srgbClr val="E8EDF5"/>
      </a:lt2>
      <a:accent1>
        <a:srgbClr val="32497B"/>
      </a:accent1>
      <a:accent2>
        <a:srgbClr val="6682B3"/>
      </a:accent2>
      <a:accent3>
        <a:srgbClr val="3C786D"/>
      </a:accent3>
      <a:accent4>
        <a:srgbClr val="C7922C"/>
      </a:accent4>
      <a:accent5>
        <a:srgbClr val="7B5A8E"/>
      </a:accent5>
      <a:accent6>
        <a:srgbClr val="A5424A"/>
      </a:accent6>
      <a:hlink>
        <a:srgbClr val="32497B"/>
      </a:hlink>
      <a:folHlink>
        <a:srgbClr val="7B5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a02c9445784ae0" /><Relationship Type="http://schemas.openxmlformats.org/officeDocument/2006/relationships/notesMaster" Target="/ppt/notesMasters/notesMaster1.xml" Id="Rfe38a4d74747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0f90ef32e543dc" /><Relationship Type="http://schemas.openxmlformats.org/officeDocument/2006/relationships/notesMaster" Target="/ppt/notesMasters/notesMaster1.xml" Id="R3326a6a3c44541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71befe18384755" /><Relationship Type="http://schemas.openxmlformats.org/officeDocument/2006/relationships/notesMaster" Target="/ppt/notesMasters/notesMaster1.xml" Id="Rf82c42984a24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37b3cd92394a4d" /><Relationship Type="http://schemas.openxmlformats.org/officeDocument/2006/relationships/notesMaster" Target="/ppt/notesMasters/notesMaster1.xml" Id="R334d8b9ad5ee47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cd9653f650459b" /><Relationship Type="http://schemas.openxmlformats.org/officeDocument/2006/relationships/notesMaster" Target="/ppt/notesMasters/notesMaster1.xml" Id="Rbf6ebe28ec7347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e5bd8d59f1493f" /><Relationship Type="http://schemas.openxmlformats.org/officeDocument/2006/relationships/notesMaster" Target="/ppt/notesMasters/notesMaster1.xml" Id="R501bcac9ee1a48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a489554ae042e4" /><Relationship Type="http://schemas.openxmlformats.org/officeDocument/2006/relationships/notesMaster" Target="/ppt/notesMasters/notesMaster1.xml" Id="R3738da4b3fa242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f497db94a44d45" /><Relationship Type="http://schemas.openxmlformats.org/officeDocument/2006/relationships/notesMaster" Target="/ppt/notesMasters/notesMaster1.xml" Id="R02db5996bc5e4e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b103568d0f4517" /><Relationship Type="http://schemas.openxmlformats.org/officeDocument/2006/relationships/notesMaster" Target="/ppt/notesMasters/notesMaster1.xml" Id="Rf2789aa0693e40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31a2c1becf4efa" /><Relationship Type="http://schemas.openxmlformats.org/officeDocument/2006/relationships/notesMaster" Target="/ppt/notesMasters/notesMaster1.xml" Id="R3e6ebf6c08f546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9b17b302404b3a" /><Relationship Type="http://schemas.openxmlformats.org/officeDocument/2006/relationships/notesMaster" Target="/ppt/notesMasters/notesMaster1.xml" Id="R8009f5d3fdea4b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a70d5df8b84ae7" /><Relationship Type="http://schemas.openxmlformats.org/officeDocument/2006/relationships/notesMaster" Target="/ppt/notesMasters/notesMaster1.xml" Id="Rcfcc1d577a334f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7d77e0a729447b" /><Relationship Type="http://schemas.openxmlformats.org/officeDocument/2006/relationships/notesMaster" Target="/ppt/notesMasters/notesMaster1.xml" Id="R774208733b3e48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1c3caf801df4198" /><Relationship Type="http://schemas.openxmlformats.org/officeDocument/2006/relationships/notesMaster" Target="/ppt/notesMasters/notesMaster1.xml" Id="R2234d8ff305743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3775cd49cd4d3b" /><Relationship Type="http://schemas.openxmlformats.org/officeDocument/2006/relationships/notesMaster" Target="/ppt/notesMasters/notesMaster1.xml" Id="R14ac3f5554f3413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d47333f4cc4543" /><Relationship Type="http://schemas.openxmlformats.org/officeDocument/2006/relationships/notesMaster" Target="/ppt/notesMasters/notesMaster1.xml" Id="R4cb986f29ba64b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89067caf0c4cfb" /><Relationship Type="http://schemas.openxmlformats.org/officeDocument/2006/relationships/notesMaster" Target="/ppt/notesMasters/notesMaster1.xml" Id="R46d0ad149ac9499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8c916749794920" /><Relationship Type="http://schemas.openxmlformats.org/officeDocument/2006/relationships/notesMaster" Target="/ppt/notesMasters/notesMaster1.xml" Id="R340fac91101241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5cdf84cdd04d29" /><Relationship Type="http://schemas.openxmlformats.org/officeDocument/2006/relationships/notesMaster" Target="/ppt/notesMasters/notesMaster1.xml" Id="Rec0619d1a76446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af1969e43240a8" /><Relationship Type="http://schemas.openxmlformats.org/officeDocument/2006/relationships/notesMaster" Target="/ppt/notesMasters/notesMaster1.xml" Id="R9da0beadb3bb4cc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e361ec9d7824191" /><Relationship Type="http://schemas.openxmlformats.org/officeDocument/2006/relationships/notesMaster" Target="/ppt/notesMasters/notesMaster1.xml" Id="R2596e60756454ef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b467a7f6f04bac" /><Relationship Type="http://schemas.openxmlformats.org/officeDocument/2006/relationships/notesMaster" Target="/ppt/notesMasters/notesMaster1.xml" Id="Rdae2cbfdee724a3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c409e1c76cf4709" /><Relationship Type="http://schemas.openxmlformats.org/officeDocument/2006/relationships/notesMaster" Target="/ppt/notesMasters/notesMaster1.xml" Id="R3f266b7ad8e24b8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ee8cd4ac5af4ebd" /><Relationship Type="http://schemas.openxmlformats.org/officeDocument/2006/relationships/notesMaster" Target="/ppt/notesMasters/notesMaster1.xml" Id="R0999c26f41634f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10078a0c9e64d92" /><Relationship Type="http://schemas.openxmlformats.org/officeDocument/2006/relationships/notesMaster" Target="/ppt/notesMasters/notesMaster1.xml" Id="R617f28d54fe9481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e9a8638ea04c6b" /><Relationship Type="http://schemas.openxmlformats.org/officeDocument/2006/relationships/notesMaster" Target="/ppt/notesMasters/notesMaster1.xml" Id="R2179a44e355c42a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e474e31f6d84662" /><Relationship Type="http://schemas.openxmlformats.org/officeDocument/2006/relationships/notesMaster" Target="/ppt/notesMasters/notesMaster1.xml" Id="R8a48da7df6504f7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36b604be10e4709" /><Relationship Type="http://schemas.openxmlformats.org/officeDocument/2006/relationships/notesMaster" Target="/ppt/notesMasters/notesMaster1.xml" Id="R6f208438addd461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5e47eb792a4e2a" /><Relationship Type="http://schemas.openxmlformats.org/officeDocument/2006/relationships/notesMaster" Target="/ppt/notesMasters/notesMaster1.xml" Id="R94c7b10f696144d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b2db41157f34d6b" /><Relationship Type="http://schemas.openxmlformats.org/officeDocument/2006/relationships/notesMaster" Target="/ppt/notesMasters/notesMaster1.xml" Id="R7f170f55b134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本页示范“组会文献汇报·学术通用｜布局库”。封面只交代共同问题、汇报身份与阅读范围。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过渡：下一页进入“文献地图”。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组会文献汇报通用版式注册表：group-cover；layoutId=group-cover</a:t>
            </a:r>
          </a:p>
          <a:p xmlns:a="http://schemas.openxmlformats.org/drawingml/2006/main">
            <a:r>
              <a:t>- [template-heritage] K105 组会文献汇报参考模板的 clean-generated 迁移记录；layoutId=group-cover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本页示范“文献地图”。论文数量和顺序由共同问题决定，不由模板固定。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过渡：下一页进入“PAPER 01｜论文精读”。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组会文献汇报通用版式注册表：paper-agenda；layoutId=paper-agenda</a:t>
            </a:r>
          </a:p>
          <a:p xmlns:a="http://schemas.openxmlformats.org/drawingml/2006/main">
            <a:r>
              <a:t>- [template-heritage] K105 组会文献汇报参考模板的 clean-generated 迁移记录；layoutId=paper-agenda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本页示范“PAPER 01｜论文精读”。章节页用于切换问题或论文，不承担正文。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过渡：下一页进入“论文档案：先核对身份，再讨论结论”。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组会文献汇报通用版式注册表：paper-divider；layoutId=paper-divider</a:t>
            </a:r>
          </a:p>
          <a:p xmlns:a="http://schemas.openxmlformats.org/drawingml/2006/main">
            <a:r>
              <a:t>- [template-heritage] K105 组会文献汇报参考模板的 clean-generated 迁移记录；layoutId=paper-divider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本页示范“论文档案：先核对身份，再讨论结论”。书目信息、研究问题与一句话贡献在同一页完成定位。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过渡：下一页进入“为什么选这些论文”。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组会文献汇报通用版式注册表：paper-profile；layoutId=paper-profile</a:t>
            </a:r>
          </a:p>
          <a:p xmlns:a="http://schemas.openxmlformats.org/drawingml/2006/main">
            <a:r>
              <a:t>- [template-heritage] K105 组会文献汇报参考模板的 clean-generated 迁移记录；layoutId=paper-profile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本页示范“为什么选这些论文”。选文必须服务共同问题，而不是按下载顺序罗列。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过渡：下一页进入“从已知到缺口，再到研究问题”。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组会文献汇报通用版式注册表：selection-rationale；layoutId=selection-rationale</a:t>
            </a:r>
          </a:p>
          <a:p xmlns:a="http://schemas.openxmlformats.org/drawingml/2006/main">
            <a:r>
              <a:t>- [template-heritage] K105 组会文献汇报参考模板的 clean-generated 迁移记录；layoutId=selection-rationale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本页示范“从已知到缺口，再到研究问题”。研究问题必须由证据缺口自然推出。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过渡：下一页进入“概念框架：变量如何共同形成可检验解释”。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组会文献汇报通用版式注册表：known-gap-question；layoutId=known-gap-question</a:t>
            </a:r>
          </a:p>
          <a:p xmlns:a="http://schemas.openxmlformats.org/drawingml/2006/main">
            <a:r>
              <a:t>- [template-heritage] K105 组会文献汇报参考模板的 clean-generated 迁移记录；layoutId=known-gap-question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本页示范“概念框架：变量如何共同形成可检验解释”。只有真实存在输入—机制—输出—边界关系时才绘制框架。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过渡：下一页进入“研究设计：从样本到结论的证据链”。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组会文献汇报通用版式注册表：concept-framework；layoutId=concept-framework</a:t>
            </a:r>
          </a:p>
          <a:p xmlns:a="http://schemas.openxmlformats.org/drawingml/2006/main">
            <a:r>
              <a:t>- [template-heritage] K105 组会文献汇报参考模板的 clean-generated 迁移记录；layoutId=concept-framework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本页示范“研究设计：从样本到结论的证据链”。把设计顺序、关键控制和最终输出一起展示。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过渡：下一页进入“方法时间线：每一步解决一个不确定性”。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组会文献汇报通用版式注册表：study-design；layoutId=study-design</a:t>
            </a:r>
          </a:p>
          <a:p xmlns:a="http://schemas.openxmlformats.org/drawingml/2006/main">
            <a:r>
              <a:t>- [template-heritage] K105 组会文献汇报参考模板的 clean-generated 迁移记录；layoutId=study-design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本页示范“方法时间线：每一步解决一个不确定性”。方法页强调为什么这样做，不罗列软件按钮。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过渡：下一页进入“方法比较：不同路径回答不同问题”。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组会文献汇报通用版式注册表：method-sequence；layoutId=method-sequence</a:t>
            </a:r>
          </a:p>
          <a:p xmlns:a="http://schemas.openxmlformats.org/drawingml/2006/main">
            <a:r>
              <a:t>- [template-heritage] K105 组会文献汇报参考模板的 clean-generated 迁移记录；layoutId=method-sequence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本页示范“方法比较：不同路径回答不同问题”。选择方法要与研究问题和证据强度匹配。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过渡：下一页进入“样本与数据：先交代可比性，再解释结果”。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组会文献汇报通用版式注册表：method-comparison；layoutId=method-comparison</a:t>
            </a:r>
          </a:p>
          <a:p xmlns:a="http://schemas.openxmlformats.org/drawingml/2006/main">
            <a:r>
              <a:t>- [template-heritage] K105 组会文献汇报参考模板的 clean-generated 迁移记录；layoutId=method-comparison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本页示范“样本与数据：先交代可比性，再解释结果”。样本结构与质量控制决定结论可以外推多远。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过渡：下一页进入“单一关键结果：主图占据视觉中心”。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组会文献汇报通用版式注册表：sample-data-profile；layoutId=sample-data-profile</a:t>
            </a:r>
          </a:p>
          <a:p xmlns:a="http://schemas.openxmlformats.org/drawingml/2006/main">
            <a:r>
              <a:t>- [template-heritage] K105 组会文献汇报参考模板的 clean-generated 迁移记录；layoutId=sample-data-profile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本页示范“单一关键结果：主图占据视觉中心”。主结果在核心条件下显著改变，并由独立分析支持。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过渡：下一页进入“结果对照：同一尺度下比较才有意义”。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组会文献汇报通用版式注册表：single-result-evidence；layoutId=single-result-evidence</a:t>
            </a:r>
          </a:p>
          <a:p xmlns:a="http://schemas.openxmlformats.org/drawingml/2006/main">
            <a:r>
              <a:t>- [template-heritage] K105 组会文献汇报参考模板的 clean-generated 迁移记录；layoutId=single-result-evidence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本页示范“结果对照：同一尺度下比较才有意义”。差异来自关键条件变化，而非坐标或样本口径不同。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过渡：下一页进入“多证据并列：每张图承担不同证据角色”。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组会文献汇报通用版式注册表：result-compare；layoutId=result-compare</a:t>
            </a:r>
          </a:p>
          <a:p xmlns:a="http://schemas.openxmlformats.org/drawingml/2006/main">
            <a:r>
              <a:t>- [template-heritage] K105 组会文献汇报参考模板的 clean-generated 迁移记录；layoutId=result-compare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本页示范“多证据并列：每张图承担不同证据角色”。现象、机制和外部验证共同决定结论可信度。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过渡：下一页进入“图表结果：趋势之后必须给出解释”。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组会文献汇报通用版式注册表：multi-result-evidence；layoutId=multi-result-evidence</a:t>
            </a:r>
          </a:p>
          <a:p xmlns:a="http://schemas.openxmlformats.org/drawingml/2006/main">
            <a:r>
              <a:t>- [template-heritage] K105 组会文献汇报参考模板的 clean-generated 迁移记录；layoutId=multi-result-evidence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本页示范“图表结果：趋势之后必须给出解释”。效应随条件增强，但在高水平区域出现平台。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过渡：下一页进入“机制解释：图中关系必须能被口头逐步追踪”。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组会文献汇报通用版式注册表：table-chart-result；layoutId=table-chart-result</a:t>
            </a:r>
          </a:p>
          <a:p xmlns:a="http://schemas.openxmlformats.org/drawingml/2006/main">
            <a:r>
              <a:t>- [template-heritage] K105 组会文献汇报参考模板的 clean-generated 迁移记录；layoutId=table-chart-result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本页示范“机制解释：图中关系必须能被口头逐步追踪”。关键中介连接输入与输出，并受边界条件调节。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过渡：下一页进入“把作者主张、证据与边界分开”。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组会文献汇报通用版式注册表：mechanism-explanation；layoutId=mechanism-explanation</a:t>
            </a:r>
          </a:p>
          <a:p xmlns:a="http://schemas.openxmlformats.org/drawingml/2006/main">
            <a:r>
              <a:t>- [template-heritage] K105 组会文献汇报参考模板的 clean-generated 迁移记录；layoutId=mechanism-explanation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本页示范“把作者主张、证据与边界分开”。作者声称不等于汇报者认同。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过渡：下一页进入“单篇论文结论：发现、依据与未证明内容”。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组会文献汇报通用版式注册表：claim-evidence-boundary；layoutId=claim-evidence-boundary</a:t>
            </a:r>
          </a:p>
          <a:p xmlns:a="http://schemas.openxmlformats.org/drawingml/2006/main">
            <a:r>
              <a:t>- [template-heritage] K105 组会文献汇报参考模板的 clean-generated 迁移记录；layoutId=claim-evidence-boundary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本页示范“单篇论文结论：发现、依据与未证明内容”。一页完成“发现—证据—边界”的论文收束。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过渡：下一页进入“批判性阅读：同时回答可信与不可信之处”。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组会文献汇报通用版式注册表：paper-conclusion；layoutId=paper-conclusion</a:t>
            </a:r>
          </a:p>
          <a:p xmlns:a="http://schemas.openxmlformats.org/drawingml/2006/main">
            <a:r>
              <a:t>- [template-heritage] K105 组会文献汇报参考模板的 clean-generated 迁移记录；layoutId=paper-conclusion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本页示范“批判性阅读：同时回答可信与不可信之处”。综合判断哪些结论可采纳，哪些仍需本组验证。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过渡：下一页进入“可复现性：从数据可得走到外部验证”。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组会文献汇报通用版式注册表：critical-appraisal；layoutId=critical-appraisal</a:t>
            </a:r>
          </a:p>
          <a:p xmlns:a="http://schemas.openxmlformats.org/drawingml/2006/main">
            <a:r>
              <a:t>- [template-heritage] K105 组会文献汇报参考模板的 clean-generated 迁移记录；layoutId=critical-appraisal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本页示范“可复现性：从数据可得走到外部验证”。可复现性不是一个标签，而是四层逐步核查。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过渡：下一页进入“跨论文矩阵：统一比较轴后再综合”。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组会文献汇报通用版式注册表：reproducibility-check；layoutId=reproducibility-check</a:t>
            </a:r>
          </a:p>
          <a:p xmlns:a="http://schemas.openxmlformats.org/drawingml/2006/main">
            <a:r>
              <a:t>- [template-heritage] K105 组会文献汇报参考模板的 clean-generated 迁移记录；layoutId=reproducibility-check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本页示范“跨论文矩阵：统一比较轴后再综合”。样本、方法和结论口径不同，不能只比较标题结论。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过渡：下一页进入“一致、冲突与原因要同时出现”。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组会文献汇报通用版式注册表：cross-paper-matrix；layoutId=cross-paper-matrix</a:t>
            </a:r>
          </a:p>
          <a:p xmlns:a="http://schemas.openxmlformats.org/drawingml/2006/main">
            <a:r>
              <a:t>- [template-heritage] K105 组会文献汇报参考模板的 clean-generated 迁移记录；layoutId=cross-paper-matrix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本页示范“一致、冲突与原因要同时出现”。冲突往往来自样本、测量或边界，而非简单的“谁对谁错”。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过渡：下一页进入“证据地图：强度与适用性是两个维度”。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组会文献汇报通用版式注册表：consensus-divergence；layoutId=consensus-divergence</a:t>
            </a:r>
          </a:p>
          <a:p xmlns:a="http://schemas.openxmlformats.org/drawingml/2006/main">
            <a:r>
              <a:t>- [template-heritage] K105 组会文献汇报参考模板的 clean-generated 迁移记录；layoutId=consensus-divergence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本页示范“证据地图：强度与适用性是两个维度”。优先讨论证据强但迁移边界不清的关键论文。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过渡：下一页进入“研究演进：问题如何被一轮轮收窄”。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组会文献汇报通用版式注册表：evidence-quality-map；layoutId=evidence-quality-map</a:t>
            </a:r>
          </a:p>
          <a:p xmlns:a="http://schemas.openxmlformats.org/drawingml/2006/main">
            <a:r>
              <a:t>- [template-heritage] K105 组会文献汇报参考模板的 clean-generated 迁移记录；layoutId=evidence-quality-map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本页示范“研究演进：问题如何被一轮轮收窄”。时间线展示证据演进，不机械罗列发表年份。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过渡：下一页进入“从论文结论迁移到本组动作”。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组会文献汇报通用版式注册表：research-evolution；layoutId=research-evolution</a:t>
            </a:r>
          </a:p>
          <a:p xmlns:a="http://schemas.openxmlformats.org/drawingml/2006/main">
            <a:r>
              <a:t>- [template-heritage] K105 组会文献汇报参考模板的 clean-generated 迁移记录；layoutId=research-evolution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本页示范“从论文结论迁移到本组动作”。迁移前先核对对象、尺度、工况与评价指标。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过渡：下一页进入“讨论问题：形成新的判断”。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组会文献汇报通用版式注册表：transfer-to-our-work；layoutId=transfer-to-our-work</a:t>
            </a:r>
          </a:p>
          <a:p xmlns:a="http://schemas.openxmlformats.org/drawingml/2006/main">
            <a:r>
              <a:t>- [template-heritage] K105 组会文献汇报参考模板的 clean-generated 迁移记录；layoutId=transfer-to-our-work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本页示范“讨论问题：形成新的判断”。讨论题应能改变判断、实验或阅读计划。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过渡：下一页进入“需要组会形成什么决定”。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组会文献汇报通用版式注册表：discussion-questions；layoutId=discussion-questions</a:t>
            </a:r>
          </a:p>
          <a:p xmlns:a="http://schemas.openxmlformats.org/drawingml/2006/main">
            <a:r>
              <a:t>- [template-heritage] K105 组会文献汇报参考模板的 clean-generated 迁移记录；layoutId=discussion-questions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本页示范“需要组会形成什么决定”。本次组会希望确定下一步验证优先级。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过渡：下一页进入“下一步阅读与验证安排”。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组会文献汇报通用版式注册表：decision-request；layoutId=decision-request</a:t>
            </a:r>
          </a:p>
          <a:p xmlns:a="http://schemas.openxmlformats.org/drawingml/2006/main">
            <a:r>
              <a:t>- [template-heritage] K105 组会文献汇报参考模板的 clean-generated 迁移记录；layoutId=decision-request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本页示范“下一步阅读与验证安排”。把组会结论转成责任明确、输出清楚的后续动作。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过渡：下一页进入“本次汇报精选来源”。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组会文献汇报通用版式注册表：next-reading-actions；layoutId=next-reading-actions</a:t>
            </a:r>
          </a:p>
          <a:p xmlns:a="http://schemas.openxmlformats.org/drawingml/2006/main">
            <a:r>
              <a:t>- [template-heritage] K105 组会文献汇报参考模板的 clean-generated 迁移记录；layoutId=next-reading-actions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本页示范“本次汇报精选来源”。只列真正进入论证链的论文、数据和方法来源。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过渡：下一页进入“讨论与下一步”。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组会文献汇报通用版式注册表：selected-sources；layoutId=selected-sources</a:t>
            </a:r>
          </a:p>
          <a:p xmlns:a="http://schemas.openxmlformats.org/drawingml/2006/main">
            <a:r>
              <a:t>- [template-heritage] K105 组会文献汇报参考模板的 clean-generated 迁移记录；layoutId=selected-sources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本页示范“讨论与下一步”。把阅读结论转成可检验假设和明确行动。 正式使用时先判断内容关系，再决定是否采用这个注册布局；不自然匹配时直接使用受设计令牌约束的自由画布。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过渡：下一页进入“讨论与下一步”。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[layout-registry] 组会文献汇报通用版式注册表：group-closing；layoutId=group-closing</a:t>
            </a:r>
          </a:p>
          <a:p xmlns:a="http://schemas.openxmlformats.org/drawingml/2006/main">
            <a:r>
              <a:t>- [template-heritage] K105 组会文献汇报参考模板的 clean-generated 迁移记录；layoutId=group-closing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2f963104741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c2d5d5449348e4" /><Relationship Type="http://schemas.openxmlformats.org/officeDocument/2006/relationships/slideLayout" Target="/ppt/slideLayouts/slideLayout1.xml" Id="R9ada14c80fad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a14c80fad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cademic Slides · 学术蓝">
      <a:dk1>
        <a:srgbClr val="111827"/>
      </a:dk1>
      <a:lt1>
        <a:srgbClr val="FFFFFF"/>
      </a:lt1>
      <a:dk2>
        <a:srgbClr val="24355D"/>
      </a:dk2>
      <a:lt2>
        <a:srgbClr val="E8EDF5"/>
      </a:lt2>
      <a:accent1>
        <a:srgbClr val="32497B"/>
      </a:accent1>
      <a:accent2>
        <a:srgbClr val="6682B3"/>
      </a:accent2>
      <a:accent3>
        <a:srgbClr val="3C786D"/>
      </a:accent3>
      <a:accent4>
        <a:srgbClr val="C7922C"/>
      </a:accent4>
      <a:accent5>
        <a:srgbClr val="7B5A8E"/>
      </a:accent5>
      <a:accent6>
        <a:srgbClr val="A5424A"/>
      </a:accent6>
      <a:hlink>
        <a:srgbClr val="32497B"/>
      </a:hlink>
      <a:folHlink>
        <a:srgbClr val="7B5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22ecaec6a4743" /><Relationship Type="http://schemas.openxmlformats.org/officeDocument/2006/relationships/notesSlide" Target="/ppt/notesSlides/notesSlide1.xml" Id="R1f3f04e0c7f244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d3bb21a38463a" /><Relationship Type="http://schemas.openxmlformats.org/officeDocument/2006/relationships/notesSlide" Target="/ppt/notesSlides/notesSlide2.xml" Id="R5cf0f96f11d846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02a8b242f4065" /><Relationship Type="http://schemas.openxmlformats.org/officeDocument/2006/relationships/notesSlide" Target="/ppt/notesSlides/notesSlide3.xml" Id="Rb305e49125c040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1cdd0714548ba" /><Relationship Type="http://schemas.openxmlformats.org/officeDocument/2006/relationships/notesSlide" Target="/ppt/notesSlides/notesSlide4.xml" Id="Rc7ba54d311eb49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7cfde69fa4cbf" /><Relationship Type="http://schemas.openxmlformats.org/officeDocument/2006/relationships/notesSlide" Target="/ppt/notesSlides/notesSlide5.xml" Id="R636eae041dd840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028114e7d4cdf" /><Relationship Type="http://schemas.openxmlformats.org/officeDocument/2006/relationships/notesSlide" Target="/ppt/notesSlides/notesSlide6.xml" Id="R81fdbef6d85041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9e98e7b584cd2" /><Relationship Type="http://schemas.openxmlformats.org/officeDocument/2006/relationships/notesSlide" Target="/ppt/notesSlides/notesSlide7.xml" Id="R4baa14af22e64c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ef66126544207" /><Relationship Type="http://schemas.openxmlformats.org/officeDocument/2006/relationships/notesSlide" Target="/ppt/notesSlides/notesSlide8.xml" Id="Ra2859d9071d249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42c64138547ce" /><Relationship Type="http://schemas.openxmlformats.org/officeDocument/2006/relationships/notesSlide" Target="/ppt/notesSlides/notesSlide9.xml" Id="R416070c3f41348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67fdebe9042ba" /><Relationship Type="http://schemas.openxmlformats.org/officeDocument/2006/relationships/notesSlide" Target="/ppt/notesSlides/notesSlide10.xml" Id="R1f96a6c774634a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26684735c4b61" /><Relationship Type="http://schemas.openxmlformats.org/officeDocument/2006/relationships/notesSlide" Target="/ppt/notesSlides/notesSlide11.xml" Id="R0160164e48f84e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6cbd148b64dca" /><Relationship Type="http://schemas.openxmlformats.org/officeDocument/2006/relationships/notesSlide" Target="/ppt/notesSlides/notesSlide12.xml" Id="Rdf7c1e87019f46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b067cb1e94936" /><Relationship Type="http://schemas.openxmlformats.org/officeDocument/2006/relationships/notesSlide" Target="/ppt/notesSlides/notesSlide13.xml" Id="R9dafc47ae4b145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550e4cd4d4f0c" /><Relationship Type="http://schemas.openxmlformats.org/officeDocument/2006/relationships/notesSlide" Target="/ppt/notesSlides/notesSlide14.xml" Id="R56ac05e0e1734a9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31ea028e94826" /><Relationship Type="http://schemas.openxmlformats.org/officeDocument/2006/relationships/chart" Target="/ppt/slides/charts/chart1.xml" Id="Rd1e84ec4951b47fe" /><Relationship Type="http://schemas.openxmlformats.org/officeDocument/2006/relationships/notesSlide" Target="/ppt/notesSlides/notesSlide15.xml" Id="R86e702e1aa4e45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6e2fa7ea448f4" /><Relationship Type="http://schemas.openxmlformats.org/officeDocument/2006/relationships/notesSlide" Target="/ppt/notesSlides/notesSlide16.xml" Id="R3624ea26d36b4d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b2f2373cf45d8" /><Relationship Type="http://schemas.openxmlformats.org/officeDocument/2006/relationships/notesSlide" Target="/ppt/notesSlides/notesSlide17.xml" Id="R2a86034e475041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0a97745a14c0c" /><Relationship Type="http://schemas.openxmlformats.org/officeDocument/2006/relationships/notesSlide" Target="/ppt/notesSlides/notesSlide18.xml" Id="Rd1b12e4ede5647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db59d88344406" /><Relationship Type="http://schemas.openxmlformats.org/officeDocument/2006/relationships/notesSlide" Target="/ppt/notesSlides/notesSlide19.xml" Id="R2c9f30380fb54b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24f1585294df0" /><Relationship Type="http://schemas.openxmlformats.org/officeDocument/2006/relationships/notesSlide" Target="/ppt/notesSlides/notesSlide20.xml" Id="R273e5bf589f244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d61b130924263" /><Relationship Type="http://schemas.openxmlformats.org/officeDocument/2006/relationships/notesSlide" Target="/ppt/notesSlides/notesSlide21.xml" Id="R07b5d9d703a04be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d82623d754b45" /><Relationship Type="http://schemas.openxmlformats.org/officeDocument/2006/relationships/notesSlide" Target="/ppt/notesSlides/notesSlide22.xml" Id="Rbc46439263144b6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ca7267370449b" /><Relationship Type="http://schemas.openxmlformats.org/officeDocument/2006/relationships/notesSlide" Target="/ppt/notesSlides/notesSlide23.xml" Id="Rb4b4b7e6ceba46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36b0d4fc74415" /><Relationship Type="http://schemas.openxmlformats.org/officeDocument/2006/relationships/notesSlide" Target="/ppt/notesSlides/notesSlide24.xml" Id="R76f9cd5e49d34e2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06459f66d4cc0" /><Relationship Type="http://schemas.openxmlformats.org/officeDocument/2006/relationships/notesSlide" Target="/ppt/notesSlides/notesSlide25.xml" Id="Rb25fdb84d51a4e7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9687f943447f" /><Relationship Type="http://schemas.openxmlformats.org/officeDocument/2006/relationships/notesSlide" Target="/ppt/notesSlides/notesSlide26.xml" Id="R832f90281839461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f134cae7f42f7" /><Relationship Type="http://schemas.openxmlformats.org/officeDocument/2006/relationships/notesSlide" Target="/ppt/notesSlides/notesSlide27.xml" Id="Rc7baaa20237c4c3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ab87a22664083" /><Relationship Type="http://schemas.openxmlformats.org/officeDocument/2006/relationships/notesSlide" Target="/ppt/notesSlides/notesSlide28.xml" Id="R201ce99ec3d044c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40fb2064c45ca" /><Relationship Type="http://schemas.openxmlformats.org/officeDocument/2006/relationships/notesSlide" Target="/ppt/notesSlides/notesSlide29.xml" Id="R55859673aebf44e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55c1c783248d4" /><Relationship Type="http://schemas.openxmlformats.org/officeDocument/2006/relationships/notesSlide" Target="/ppt/notesSlides/notesSlide30.xml" Id="R0ad14f903390479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相对响应</c:v>
          </c:tx>
          <c:spPr>
            <a:solidFill xmlns:a="http://schemas.openxmlformats.org/drawingml/2006/main">
              <a:srgbClr val="32497B"/>
            </a:solidFill>
            <a:ln xmlns:a="http://schemas.openxmlformats.org/drawingml/2006/main" w="23813">
              <a:solidFill>
                <a:srgbClr val="32497B"/>
              </a:solidFill>
              <a:prstDash val="solid"/>
            </a:ln>
          </c:spPr>
          <c:cat>
            <c:strLit>
              <c:ptCount val="4"/>
              <c:pt idx="0">
                <c:v>基线</c:v>
              </c:pt>
              <c:pt idx="1">
                <c:v>低</c:v>
              </c:pt>
              <c:pt idx="2">
                <c:v>中</c:v>
              </c:pt>
              <c:pt idx="3">
                <c:v>高</c:v>
              </c:pt>
            </c:strLit>
          </c:cat>
          <c:val>
            <c:numLit>
              <c:formatCode>General</c:formatCode>
              <c:ptCount val="4"/>
              <c:pt idx="0">
                <c:v>42</c:v>
              </c:pt>
              <c:pt idx="1">
                <c:v>48</c:v>
              </c:pt>
              <c:pt idx="2">
                <c:v>51</c:v>
              </c:pt>
              <c:pt idx="3">
                <c:v>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7213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9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0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9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67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roup-corner-tl-1">
            <a:extLst xmlns:a="http://schemas.openxmlformats.org/drawingml/2006/main">
              <a:ext uri="{FF2B5EF4-FFF2-40B4-BE49-F238E27FC236}">
                <a16:creationId xmlns:a16="http://schemas.microsoft.com/office/drawing/2014/main" id="{432CD99B-C7E4-4780-877D-76BA6719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group-corner-tl-2">
            <a:extLst xmlns:a="http://schemas.openxmlformats.org/drawingml/2006/main">
              <a:ext uri="{FF2B5EF4-FFF2-40B4-BE49-F238E27FC236}">
                <a16:creationId xmlns:a16="http://schemas.microsoft.com/office/drawing/2014/main" id="{CD401BBA-063A-4A28-A301-C0BDC9A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19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3" name="group-corner-tl-3">
            <a:extLst xmlns:a="http://schemas.openxmlformats.org/drawingml/2006/main">
              <a:ext uri="{FF2B5EF4-FFF2-40B4-BE49-F238E27FC236}">
                <a16:creationId xmlns:a16="http://schemas.microsoft.com/office/drawing/2014/main" id="{5086D2B6-174A-4898-AF53-96A4142F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2571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4" name="group-corner-br-1">
            <a:extLst xmlns:a="http://schemas.openxmlformats.org/drawingml/2006/main">
              <a:ext uri="{FF2B5EF4-FFF2-40B4-BE49-F238E27FC236}">
                <a16:creationId xmlns:a16="http://schemas.microsoft.com/office/drawing/2014/main" id="{CFB41018-0DCC-4147-936D-3548E9A0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7150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5" name="group-corner-br-2">
            <a:extLst xmlns:a="http://schemas.openxmlformats.org/drawingml/2006/main">
              <a:ext uri="{FF2B5EF4-FFF2-40B4-BE49-F238E27FC236}">
                <a16:creationId xmlns:a16="http://schemas.microsoft.com/office/drawing/2014/main" id="{C213D53C-4A42-4406-9C96-A410CD2D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10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6" name="group-corner-br-3">
            <a:extLst xmlns:a="http://schemas.openxmlformats.org/drawingml/2006/main">
              <a:ext uri="{FF2B5EF4-FFF2-40B4-BE49-F238E27FC236}">
                <a16:creationId xmlns:a16="http://schemas.microsoft.com/office/drawing/2014/main" id="{FC58DC07-5BA1-4E7D-B147-B0781D51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905500"/>
            <a:ext cx="2571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group-cover-kicker">
            <a:extLst xmlns:a="http://schemas.openxmlformats.org/drawingml/2006/main">
              <a:ext uri="{FF2B5EF4-FFF2-40B4-BE49-F238E27FC236}">
                <a16:creationId xmlns:a16="http://schemas.microsoft.com/office/drawing/2014/main" id="{27427D16-D2AA-4B0B-A38D-56D19A4A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GROUP MEETING · LITERATURE REVIEW</a:t>
            </a:r>
          </a:p>
        </p:txBody>
      </p:sp>
      <p:sp>
        <p:nvSpPr>
          <p:cNvPr id="8" name="group-cover-band">
            <a:extLst xmlns:a="http://schemas.openxmlformats.org/drawingml/2006/main">
              <a:ext uri="{FF2B5EF4-FFF2-40B4-BE49-F238E27FC236}">
                <a16:creationId xmlns:a16="http://schemas.microsoft.com/office/drawing/2014/main" id="{861D3678-E3E8-400F-8213-5B2F2B4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9" name="group-cover-title">
            <a:extLst xmlns:a="http://schemas.openxmlformats.org/drawingml/2006/main">
              <a:ext uri="{FF2B5EF4-FFF2-40B4-BE49-F238E27FC236}">
                <a16:creationId xmlns:a16="http://schemas.microsoft.com/office/drawing/2014/main" id="{B54B9F95-4C64-4C55-8063-B4173E8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009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组会文献汇报·学术通用｜布局库</a:t>
            </a:r>
          </a:p>
        </p:txBody>
      </p:sp>
      <p:sp>
        <p:nvSpPr>
          <p:cNvPr id="10" name="group-cover-subtitle">
            <a:extLst xmlns:a="http://schemas.openxmlformats.org/drawingml/2006/main">
              <a:ext uri="{FF2B5EF4-FFF2-40B4-BE49-F238E27FC236}">
                <a16:creationId xmlns:a16="http://schemas.microsoft.com/office/drawing/2014/main" id="{431A7FF3-331E-4D15-BA8F-B746134D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00" b="0" i="0">
                <a:solidFill>
                  <a:srgbClr val="F4F6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F4F6FB"/>
                </a:solidFill>
                <a:latin typeface="Microsoft YaHei"/>
                <a:ea typeface="Microsoft YaHei"/>
                <a:cs typeface="Microsoft YaHei"/>
              </a:rPr>
              <a:t>单篇精读与多篇综合的通用视觉语言</a:t>
            </a:r>
          </a:p>
        </p:txBody>
      </p:sp>
      <p:sp>
        <p:nvSpPr>
          <p:cNvPr id="11" name="group-cover-meta-1">
            <a:extLst xmlns:a="http://schemas.openxmlformats.org/drawingml/2006/main">
              <a:ext uri="{FF2B5EF4-FFF2-40B4-BE49-F238E27FC236}">
                <a16:creationId xmlns:a16="http://schemas.microsoft.com/office/drawing/2014/main" id="{E27FE999-0EAB-4293-8227-B2CF217B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43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汇报人：示范姓名</a:t>
            </a:r>
          </a:p>
        </p:txBody>
      </p:sp>
      <p:sp>
        <p:nvSpPr>
          <p:cNvPr id="12" name="group-cover-meta-2">
            <a:extLst xmlns:a="http://schemas.openxmlformats.org/drawingml/2006/main">
              <a:ext uri="{FF2B5EF4-FFF2-40B4-BE49-F238E27FC236}">
                <a16:creationId xmlns:a16="http://schemas.microsoft.com/office/drawing/2014/main" id="{49F2FE01-91FF-41C8-A428-532CBDAE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课题组：示范课题组</a:t>
            </a:r>
          </a:p>
        </p:txBody>
      </p:sp>
      <p:sp>
        <p:nvSpPr>
          <p:cNvPr id="13" name="group-cover-meta-3">
            <a:extLst xmlns:a="http://schemas.openxmlformats.org/drawingml/2006/main">
              <a:ext uri="{FF2B5EF4-FFF2-40B4-BE49-F238E27FC236}">
                <a16:creationId xmlns:a16="http://schemas.microsoft.com/office/drawing/2014/main" id="{FE5B5C9D-2DBC-44B5-BB7F-8B13BA3E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43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日期：20XX 年 X 月</a:t>
            </a:r>
          </a:p>
        </p:txBody>
      </p:sp>
    </p:spTree>
    <p:extLst>
      <p:ext uri="{BB962C8B-B14F-4D97-AF65-F5344CB8AC3E}">
        <p14:creationId xmlns:p14="http://schemas.microsoft.com/office/powerpoint/2010/main" val="1178780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per-agenda-border">
            <a:extLst xmlns:a="http://schemas.openxmlformats.org/drawingml/2006/main">
              <a:ext uri="{FF2B5EF4-FFF2-40B4-BE49-F238E27FC236}">
                <a16:creationId xmlns:a16="http://schemas.microsoft.com/office/drawing/2014/main" id="{D6C49B0A-B724-4DF9-B3EF-87699AA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2" name="paper-agenda-title-block">
            <a:extLst xmlns:a="http://schemas.openxmlformats.org/drawingml/2006/main">
              <a:ext uri="{FF2B5EF4-FFF2-40B4-BE49-F238E27FC236}">
                <a16:creationId xmlns:a16="http://schemas.microsoft.com/office/drawing/2014/main" id="{7B2C7621-716D-47E8-948B-3F13F441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3" name="paper-agenda-title">
            <a:extLst xmlns:a="http://schemas.openxmlformats.org/drawingml/2006/main">
              <a:ext uri="{FF2B5EF4-FFF2-40B4-BE49-F238E27FC236}">
                <a16:creationId xmlns:a16="http://schemas.microsoft.com/office/drawing/2014/main" id="{89D5EF73-361D-4CDE-B69B-4F76644A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0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文献地图</a:t>
            </a:r>
          </a:p>
        </p:txBody>
      </p:sp>
      <p:sp>
        <p:nvSpPr>
          <p:cNvPr id="4" name="paper-agenda-subtitle">
            <a:extLst xmlns:a="http://schemas.openxmlformats.org/drawingml/2006/main">
              <a:ext uri="{FF2B5EF4-FFF2-40B4-BE49-F238E27FC236}">
                <a16:creationId xmlns:a16="http://schemas.microsoft.com/office/drawing/2014/main" id="{74DB0DCA-6087-411B-9274-C533700C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95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DE5F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DE5F4"/>
                </a:solidFill>
                <a:latin typeface="Arial"/>
                <a:ea typeface="Arial"/>
                <a:cs typeface="Arial"/>
              </a:rPr>
              <a:t>PAPERS &amp; QUESTIONS</a:t>
            </a:r>
          </a:p>
        </p:txBody>
      </p:sp>
      <p:sp>
        <p:nvSpPr>
          <p:cNvPr id="5" name="paper-agenda-number-1">
            <a:extLst xmlns:a="http://schemas.openxmlformats.org/drawingml/2006/main">
              <a:ext uri="{FF2B5EF4-FFF2-40B4-BE49-F238E27FC236}">
                <a16:creationId xmlns:a16="http://schemas.microsoft.com/office/drawing/2014/main" id="{2B2D9FE2-122F-470C-A6C3-94C4592C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59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6" name="paper-agenda-number-label-1">
            <a:extLst xmlns:a="http://schemas.openxmlformats.org/drawingml/2006/main">
              <a:ext uri="{FF2B5EF4-FFF2-40B4-BE49-F238E27FC236}">
                <a16:creationId xmlns:a16="http://schemas.microsoft.com/office/drawing/2014/main" id="{8C9822CA-2114-4CE6-A9D8-213AEE58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aper-agenda-paper-title-1">
            <a:extLst xmlns:a="http://schemas.openxmlformats.org/drawingml/2006/main">
              <a:ext uri="{FF2B5EF4-FFF2-40B4-BE49-F238E27FC236}">
                <a16:creationId xmlns:a16="http://schemas.microsoft.com/office/drawing/2014/main" id="{5E30FB7E-9794-47E0-BC78-A3B9A07C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431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25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 A｜机制证据</a:t>
            </a:r>
          </a:p>
        </p:txBody>
      </p:sp>
      <p:sp>
        <p:nvSpPr>
          <p:cNvPr id="8" name="paper-agenda-paper-detail-1">
            <a:extLst xmlns:a="http://schemas.openxmlformats.org/drawingml/2006/main">
              <a:ext uri="{FF2B5EF4-FFF2-40B4-BE49-F238E27FC236}">
                <a16:creationId xmlns:a16="http://schemas.microsoft.com/office/drawing/2014/main" id="{166D4599-0052-470B-9B64-06D73BEA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6700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回答“是否存在”</a:t>
            </a:r>
          </a:p>
        </p:txBody>
      </p:sp>
      <p:sp>
        <p:nvSpPr>
          <p:cNvPr id="9" name="paper-agenda-number-2">
            <a:extLst xmlns:a="http://schemas.openxmlformats.org/drawingml/2006/main">
              <a:ext uri="{FF2B5EF4-FFF2-40B4-BE49-F238E27FC236}">
                <a16:creationId xmlns:a16="http://schemas.microsoft.com/office/drawing/2014/main" id="{CA721CC1-9D92-47D0-9E63-11262BC1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59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10" name="paper-agenda-number-label-2">
            <a:extLst xmlns:a="http://schemas.openxmlformats.org/drawingml/2006/main">
              <a:ext uri="{FF2B5EF4-FFF2-40B4-BE49-F238E27FC236}">
                <a16:creationId xmlns:a16="http://schemas.microsoft.com/office/drawing/2014/main" id="{14D87323-3ED0-48E7-B10B-A34D72C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paper-agenda-paper-title-2">
            <a:extLst xmlns:a="http://schemas.openxmlformats.org/drawingml/2006/main">
              <a:ext uri="{FF2B5EF4-FFF2-40B4-BE49-F238E27FC236}">
                <a16:creationId xmlns:a16="http://schemas.microsoft.com/office/drawing/2014/main" id="{420D7BB0-0292-4625-996C-182E9B45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25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 B｜方法证据</a:t>
            </a:r>
          </a:p>
        </p:txBody>
      </p:sp>
      <p:sp>
        <p:nvSpPr>
          <p:cNvPr id="12" name="paper-agenda-paper-detail-2">
            <a:extLst xmlns:a="http://schemas.openxmlformats.org/drawingml/2006/main">
              <a:ext uri="{FF2B5EF4-FFF2-40B4-BE49-F238E27FC236}">
                <a16:creationId xmlns:a16="http://schemas.microsoft.com/office/drawing/2014/main" id="{A6C23506-81FF-43DE-BC42-09886C98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回答“如何测量”</a:t>
            </a:r>
          </a:p>
        </p:txBody>
      </p:sp>
      <p:sp>
        <p:nvSpPr>
          <p:cNvPr id="13" name="paper-agenda-number-3">
            <a:extLst xmlns:a="http://schemas.openxmlformats.org/drawingml/2006/main">
              <a:ext uri="{FF2B5EF4-FFF2-40B4-BE49-F238E27FC236}">
                <a16:creationId xmlns:a16="http://schemas.microsoft.com/office/drawing/2014/main" id="{1CB93B1B-E3C8-4E4C-ABD4-B5F8BC52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590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14" name="paper-agenda-number-label-3">
            <a:extLst xmlns:a="http://schemas.openxmlformats.org/drawingml/2006/main">
              <a:ext uri="{FF2B5EF4-FFF2-40B4-BE49-F238E27FC236}">
                <a16:creationId xmlns:a16="http://schemas.microsoft.com/office/drawing/2014/main" id="{0737E915-33C2-4519-BDC7-CB63D24C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paper-agenda-paper-title-3">
            <a:extLst xmlns:a="http://schemas.openxmlformats.org/drawingml/2006/main">
              <a:ext uri="{FF2B5EF4-FFF2-40B4-BE49-F238E27FC236}">
                <a16:creationId xmlns:a16="http://schemas.microsoft.com/office/drawing/2014/main" id="{4437058D-F791-4F65-963E-CE24D41B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25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 C｜外部验证</a:t>
            </a:r>
          </a:p>
        </p:txBody>
      </p:sp>
      <p:sp>
        <p:nvSpPr>
          <p:cNvPr id="16" name="paper-agenda-paper-detail-3">
            <a:extLst xmlns:a="http://schemas.openxmlformats.org/drawingml/2006/main">
              <a:ext uri="{FF2B5EF4-FFF2-40B4-BE49-F238E27FC236}">
                <a16:creationId xmlns:a16="http://schemas.microsoft.com/office/drawing/2014/main" id="{BD79295A-6A67-43E6-A2E5-F1EAD036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19600"/>
            <a:ext cx="510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回答“能否迁移”</a:t>
            </a:r>
          </a:p>
        </p:txBody>
      </p:sp>
      <p:sp>
        <p:nvSpPr>
          <p:cNvPr id="17" name="paper-agenda-question-panel">
            <a:extLst xmlns:a="http://schemas.openxmlformats.org/drawingml/2006/main">
              <a:ext uri="{FF2B5EF4-FFF2-40B4-BE49-F238E27FC236}">
                <a16:creationId xmlns:a16="http://schemas.microsoft.com/office/drawing/2014/main" id="{3C8A5722-4623-4DFE-A55E-E6B42BCF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3733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18" name="paper-agenda-question-label">
            <a:extLst xmlns:a="http://schemas.openxmlformats.org/drawingml/2006/main">
              <a:ext uri="{FF2B5EF4-FFF2-40B4-BE49-F238E27FC236}">
                <a16:creationId xmlns:a16="http://schemas.microsoft.com/office/drawing/2014/main" id="{1162C267-AED2-4844-BE0E-C9464E13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05050"/>
            <a:ext cx="12573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共同问题</a:t>
            </a:r>
          </a:p>
        </p:txBody>
      </p:sp>
      <p:sp>
        <p:nvSpPr>
          <p:cNvPr id="19" name="paper-agenda-question-text">
            <a:extLst xmlns:a="http://schemas.openxmlformats.org/drawingml/2006/main">
              <a:ext uri="{FF2B5EF4-FFF2-40B4-BE49-F238E27FC236}">
                <a16:creationId xmlns:a16="http://schemas.microsoft.com/office/drawing/2014/main" id="{6D277EAD-4B3E-4FF1-98AF-F3887D82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哪些证据会改变我们的判断？</a:t>
            </a:r>
          </a:p>
        </p:txBody>
      </p:sp>
      <p:sp>
        <p:nvSpPr>
          <p:cNvPr id="20" name="paper-agenda-question-detail">
            <a:extLst xmlns:a="http://schemas.openxmlformats.org/drawingml/2006/main">
              <a:ext uri="{FF2B5EF4-FFF2-40B4-BE49-F238E27FC236}">
                <a16:creationId xmlns:a16="http://schemas.microsoft.com/office/drawing/2014/main" id="{4A8412F0-D626-4263-B48D-81B51CD7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跨论文综合</a:t>
            </a:r>
          </a:p>
        </p:txBody>
      </p:sp>
      <p:sp>
        <p:nvSpPr>
          <p:cNvPr id="2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3DCD253-5518-485C-AD79-B78B5E8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6419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59091"/>
          </a:bodyPr>
          <a:lstStyle xmlns:a="http://schemas.openxmlformats.org/drawingml/2006/main"/>
          <a:p xmlns:a="http://schemas.openxmlformats.org/drawingml/2006/main">
            <a:pPr algn="r">
              <a:defRPr sz="1100" b="0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0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718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per-divider-border">
            <a:extLst xmlns:a="http://schemas.openxmlformats.org/drawingml/2006/main">
              <a:ext uri="{FF2B5EF4-FFF2-40B4-BE49-F238E27FC236}">
                <a16:creationId xmlns:a16="http://schemas.microsoft.com/office/drawing/2014/main" id="{C18DEFD6-50B7-4899-B7E5-D8AF9502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1887200" cy="655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2" name="paper-divider-number-block">
            <a:extLst xmlns:a="http://schemas.openxmlformats.org/drawingml/2006/main">
              <a:ext uri="{FF2B5EF4-FFF2-40B4-BE49-F238E27FC236}">
                <a16:creationId xmlns:a16="http://schemas.microsoft.com/office/drawing/2014/main" id="{48D9B5DB-01FC-47ED-827D-00AF4A33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2400"/>
            <a:ext cx="2667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3" name="paper-divider-number">
            <a:extLst xmlns:a="http://schemas.openxmlformats.org/drawingml/2006/main">
              <a:ext uri="{FF2B5EF4-FFF2-40B4-BE49-F238E27FC236}">
                <a16:creationId xmlns:a16="http://schemas.microsoft.com/office/drawing/2014/main" id="{D55D0698-D6C2-43C3-99E1-D36BFD99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5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paper-divider-label">
            <a:extLst xmlns:a="http://schemas.openxmlformats.org/drawingml/2006/main">
              <a:ext uri="{FF2B5EF4-FFF2-40B4-BE49-F238E27FC236}">
                <a16:creationId xmlns:a16="http://schemas.microsoft.com/office/drawing/2014/main" id="{740A0C9C-0B6B-4499-B081-0627DC8F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28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DE5F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DE5F4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5" name="paper-divider-title">
            <a:extLst xmlns:a="http://schemas.openxmlformats.org/drawingml/2006/main">
              <a:ext uri="{FF2B5EF4-FFF2-40B4-BE49-F238E27FC236}">
                <a16:creationId xmlns:a16="http://schemas.microsoft.com/office/drawing/2014/main" id="{26465FC1-2219-4A8A-BF8B-00C3C12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009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PAPER 01｜论文精读</a:t>
            </a:r>
          </a:p>
        </p:txBody>
      </p:sp>
      <p:sp>
        <p:nvSpPr>
          <p:cNvPr id="6" name="paper-divider-purpose">
            <a:extLst xmlns:a="http://schemas.openxmlformats.org/drawingml/2006/main">
              <a:ext uri="{FF2B5EF4-FFF2-40B4-BE49-F238E27FC236}">
                <a16:creationId xmlns:a16="http://schemas.microsoft.com/office/drawing/2014/main" id="{F04B63E7-4FC3-4563-8104-6B1D9717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76750"/>
            <a:ext cx="8115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章节页用于切换问题或论文，不承担正文。</a:t>
            </a:r>
          </a:p>
        </p:txBody>
      </p:sp>
    </p:spTree>
    <p:extLst>
      <p:ext uri="{BB962C8B-B14F-4D97-AF65-F5344CB8AC3E}">
        <p14:creationId xmlns:p14="http://schemas.microsoft.com/office/powerpoint/2010/main" val="1870744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9A2D0876-6DC3-46FA-B775-92504E02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FFE4C9-9D00-45DA-ABC5-90198B94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论文档案：先核对身份，再讨论结论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EC2CA2DC-F5A3-46A1-969F-AA89717F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起始与选文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C16D2B04-8B6B-454B-8E12-A63E7933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F6CF9D31-45A0-41FE-9AAB-4F9C4EFE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67303607-8BF1-4E1A-8AA2-4C19C40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27F807A-E042-4F61-8EBB-91D5F600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paper-profile-metadata-panel">
            <a:extLst xmlns:a="http://schemas.openxmlformats.org/drawingml/2006/main">
              <a:ext uri="{FF2B5EF4-FFF2-40B4-BE49-F238E27FC236}">
                <a16:creationId xmlns:a16="http://schemas.microsoft.com/office/drawing/2014/main" id="{B4D45774-56C7-4647-B62B-A35D1583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3257550" cy="40957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9" name="paper-profile-meta-title">
            <a:extLst xmlns:a="http://schemas.openxmlformats.org/drawingml/2006/main">
              <a:ext uri="{FF2B5EF4-FFF2-40B4-BE49-F238E27FC236}">
                <a16:creationId xmlns:a16="http://schemas.microsoft.com/office/drawing/2014/main" id="{2A69F7BE-6C25-4BCD-A148-DA76A6C0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043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论文信息</a:t>
            </a:r>
          </a:p>
        </p:txBody>
      </p:sp>
      <p:sp>
        <p:nvSpPr>
          <p:cNvPr id="10" name="paper-profile-meta-label-1">
            <a:extLst xmlns:a="http://schemas.openxmlformats.org/drawingml/2006/main">
              <a:ext uri="{FF2B5EF4-FFF2-40B4-BE49-F238E27FC236}">
                <a16:creationId xmlns:a16="http://schemas.microsoft.com/office/drawing/2014/main" id="{D49962A0-1163-40A5-A082-3FB8E56B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1" name="paper-profile-meta-value-1">
            <a:extLst xmlns:a="http://schemas.openxmlformats.org/drawingml/2006/main">
              <a:ext uri="{FF2B5EF4-FFF2-40B4-BE49-F238E27FC236}">
                <a16:creationId xmlns:a16="http://schemas.microsoft.com/office/drawing/2014/main" id="{794A70C2-D67B-444B-A6D0-A7D89E8B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907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5062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期刊 / 会议 / 学位来源</a:t>
            </a:r>
          </a:p>
        </p:txBody>
      </p:sp>
      <p:sp>
        <p:nvSpPr>
          <p:cNvPr id="12" name="paper-profile-meta-rule-1">
            <a:extLst xmlns:a="http://schemas.openxmlformats.org/drawingml/2006/main">
              <a:ext uri="{FF2B5EF4-FFF2-40B4-BE49-F238E27FC236}">
                <a16:creationId xmlns:a16="http://schemas.microsoft.com/office/drawing/2014/main" id="{96357125-434A-4A6D-8374-4F2F4A7D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3" name="paper-profile-meta-label-2">
            <a:extLst xmlns:a="http://schemas.openxmlformats.org/drawingml/2006/main">
              <a:ext uri="{FF2B5EF4-FFF2-40B4-BE49-F238E27FC236}">
                <a16:creationId xmlns:a16="http://schemas.microsoft.com/office/drawing/2014/main" id="{E22861EB-41BB-4163-B41C-11DF4AD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作者</a:t>
            </a:r>
          </a:p>
        </p:txBody>
      </p:sp>
      <p:sp>
        <p:nvSpPr>
          <p:cNvPr id="14" name="paper-profile-meta-value-2">
            <a:extLst xmlns:a="http://schemas.openxmlformats.org/drawingml/2006/main">
              <a:ext uri="{FF2B5EF4-FFF2-40B4-BE49-F238E27FC236}">
                <a16:creationId xmlns:a16="http://schemas.microsoft.com/office/drawing/2014/main" id="{13513A9B-7EEC-49F1-B768-2E7F67C7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050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第一作者；共同作者；通讯作者</a:t>
            </a:r>
          </a:p>
        </p:txBody>
      </p:sp>
      <p:sp>
        <p:nvSpPr>
          <p:cNvPr id="15" name="paper-profile-meta-rule-2">
            <a:extLst xmlns:a="http://schemas.openxmlformats.org/drawingml/2006/main">
              <a:ext uri="{FF2B5EF4-FFF2-40B4-BE49-F238E27FC236}">
                <a16:creationId xmlns:a16="http://schemas.microsoft.com/office/drawing/2014/main" id="{2FD6C41F-52CF-42CC-B3E3-E60CE54C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6" name="paper-profile-meta-label-3">
            <a:extLst xmlns:a="http://schemas.openxmlformats.org/drawingml/2006/main">
              <a:ext uri="{FF2B5EF4-FFF2-40B4-BE49-F238E27FC236}">
                <a16:creationId xmlns:a16="http://schemas.microsoft.com/office/drawing/2014/main" id="{BE9C3D09-A1CA-4993-A1F8-0EF00923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年份</a:t>
            </a:r>
          </a:p>
        </p:txBody>
      </p:sp>
      <p:sp>
        <p:nvSpPr>
          <p:cNvPr id="17" name="paper-profile-meta-value-3">
            <a:extLst xmlns:a="http://schemas.openxmlformats.org/drawingml/2006/main">
              <a:ext uri="{FF2B5EF4-FFF2-40B4-BE49-F238E27FC236}">
                <a16:creationId xmlns:a16="http://schemas.microsoft.com/office/drawing/2014/main" id="{12763C1C-E47A-47F6-B087-2F5DF91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19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3A"/>
                </a:solidFill>
                <a:latin typeface="Arial"/>
                <a:ea typeface="Arial"/>
                <a:cs typeface="Arial"/>
              </a:rPr>
              <a:t>20XX</a:t>
            </a:r>
          </a:p>
        </p:txBody>
      </p:sp>
      <p:sp>
        <p:nvSpPr>
          <p:cNvPr id="18" name="paper-profile-meta-rule-3">
            <a:extLst xmlns:a="http://schemas.openxmlformats.org/drawingml/2006/main">
              <a:ext uri="{FF2B5EF4-FFF2-40B4-BE49-F238E27FC236}">
                <a16:creationId xmlns:a16="http://schemas.microsoft.com/office/drawing/2014/main" id="{179C828C-0DF9-4CA2-8FF3-091ACE3E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9" name="paper-profile-meta-label-4">
            <a:extLst xmlns:a="http://schemas.openxmlformats.org/drawingml/2006/main">
              <a:ext uri="{FF2B5EF4-FFF2-40B4-BE49-F238E27FC236}">
                <a16:creationId xmlns:a16="http://schemas.microsoft.com/office/drawing/2014/main" id="{67AEAC80-E0FC-45BD-91E4-C95845E6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20" name="paper-profile-meta-value-4">
            <a:extLst xmlns:a="http://schemas.openxmlformats.org/drawingml/2006/main">
              <a:ext uri="{FF2B5EF4-FFF2-40B4-BE49-F238E27FC236}">
                <a16:creationId xmlns:a16="http://schemas.microsoft.com/office/drawing/2014/main" id="{225B2C58-38B3-46F5-9969-763E48D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研究论文</a:t>
            </a:r>
          </a:p>
        </p:txBody>
      </p:sp>
      <p:sp>
        <p:nvSpPr>
          <p:cNvPr id="21" name="paper-profile-meta-rule-4">
            <a:extLst xmlns:a="http://schemas.openxmlformats.org/drawingml/2006/main">
              <a:ext uri="{FF2B5EF4-FFF2-40B4-BE49-F238E27FC236}">
                <a16:creationId xmlns:a16="http://schemas.microsoft.com/office/drawing/2014/main" id="{6142F716-9681-42D1-81FF-05941B37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22" name="paper-profile-meta-label-5">
            <a:extLst xmlns:a="http://schemas.openxmlformats.org/drawingml/2006/main">
              <a:ext uri="{FF2B5EF4-FFF2-40B4-BE49-F238E27FC236}">
                <a16:creationId xmlns:a16="http://schemas.microsoft.com/office/drawing/2014/main" id="{E0F41603-5C58-48C7-A7C2-A9215641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标识</a:t>
            </a:r>
          </a:p>
        </p:txBody>
      </p:sp>
      <p:sp>
        <p:nvSpPr>
          <p:cNvPr id="23" name="paper-profile-meta-value-5">
            <a:extLst xmlns:a="http://schemas.openxmlformats.org/drawingml/2006/main">
              <a:ext uri="{FF2B5EF4-FFF2-40B4-BE49-F238E27FC236}">
                <a16:creationId xmlns:a16="http://schemas.microsoft.com/office/drawing/2014/main" id="{8DF3CA43-B110-443C-98B5-32675FFF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481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DOI / PMID / arXiv（如有）</a:t>
            </a:r>
          </a:p>
        </p:txBody>
      </p:sp>
      <p:sp>
        <p:nvSpPr>
          <p:cNvPr id="24" name="paper-keyword-1">
            <a:extLst xmlns:a="http://schemas.openxmlformats.org/drawingml/2006/main">
              <a:ext uri="{FF2B5EF4-FFF2-40B4-BE49-F238E27FC236}">
                <a16:creationId xmlns:a16="http://schemas.microsoft.com/office/drawing/2014/main" id="{4EF1106D-437D-46E8-A930-2DAD4E9B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65985"/>
          </a:bodyPr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关键词一</a:t>
            </a:r>
          </a:p>
        </p:txBody>
      </p:sp>
      <p:sp>
        <p:nvSpPr>
          <p:cNvPr id="25" name="paper-keyword-2">
            <a:extLst xmlns:a="http://schemas.openxmlformats.org/drawingml/2006/main">
              <a:ext uri="{FF2B5EF4-FFF2-40B4-BE49-F238E27FC236}">
                <a16:creationId xmlns:a16="http://schemas.microsoft.com/office/drawing/2014/main" id="{3F6E3920-0141-485C-B010-8E2A7843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624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65985"/>
          </a:bodyPr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关键词二</a:t>
            </a:r>
          </a:p>
        </p:txBody>
      </p:sp>
      <p:sp>
        <p:nvSpPr>
          <p:cNvPr id="26" name="paper-keyword-3">
            <a:extLst xmlns:a="http://schemas.openxmlformats.org/drawingml/2006/main">
              <a:ext uri="{FF2B5EF4-FFF2-40B4-BE49-F238E27FC236}">
                <a16:creationId xmlns:a16="http://schemas.microsoft.com/office/drawing/2014/main" id="{0C44BC7F-7274-4F55-A9C0-F4F733C1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65985"/>
          </a:bodyPr>
          <a:lstStyle xmlns:a="http://schemas.openxmlformats.org/drawingml/2006/main"/>
          <a:p xmlns:a="http://schemas.openxmlformats.org/drawingml/2006/main">
            <a:pPr algn="ctr">
              <a:defRPr sz="1100" b="1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关键词三</a:t>
            </a:r>
          </a:p>
        </p:txBody>
      </p:sp>
      <p:sp>
        <p:nvSpPr>
          <p:cNvPr id="27" name="paper-profile-paper-title">
            <a:extLst xmlns:a="http://schemas.openxmlformats.org/drawingml/2006/main">
              <a:ext uri="{FF2B5EF4-FFF2-40B4-BE49-F238E27FC236}">
                <a16:creationId xmlns:a16="http://schemas.microsoft.com/office/drawing/2014/main" id="{0EFE6861-2468-4834-A872-C87D6A11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066800"/>
            <a:ext cx="7486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论文题目：用一句话说明研究对象与核心关系</a:t>
            </a:r>
          </a:p>
        </p:txBody>
      </p:sp>
      <p:sp>
        <p:nvSpPr>
          <p:cNvPr id="28" name="paper-profile-authors">
            <a:extLst xmlns:a="http://schemas.openxmlformats.org/drawingml/2006/main">
              <a:ext uri="{FF2B5EF4-FFF2-40B4-BE49-F238E27FC236}">
                <a16:creationId xmlns:a16="http://schemas.microsoft.com/office/drawing/2014/main" id="{87AE0AC2-9155-4EBA-9462-EC4E0C77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43100"/>
            <a:ext cx="748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第一作者；共同作者；通讯作者</a:t>
            </a:r>
          </a:p>
        </p:txBody>
      </p:sp>
      <p:sp>
        <p:nvSpPr>
          <p:cNvPr id="29" name="paper-profile-visual-frame">
            <a:extLst xmlns:a="http://schemas.openxmlformats.org/drawingml/2006/main">
              <a:ext uri="{FF2B5EF4-FFF2-40B4-BE49-F238E27FC236}">
                <a16:creationId xmlns:a16="http://schemas.microsoft.com/office/drawing/2014/main" id="{47A48A91-78B2-4E5C-B0DC-E85A48CA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62200"/>
            <a:ext cx="748665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30" name="paper-profile-visual-placeholder">
            <a:extLst xmlns:a="http://schemas.openxmlformats.org/drawingml/2006/main">
              <a:ext uri="{FF2B5EF4-FFF2-40B4-BE49-F238E27FC236}">
                <a16:creationId xmlns:a16="http://schemas.microsoft.com/office/drawing/2014/main" id="{C5ECA118-3C1B-4618-BB36-BFC844EE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28875"/>
            <a:ext cx="73533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31" name="paper-profile-summary-band">
            <a:extLst xmlns:a="http://schemas.openxmlformats.org/drawingml/2006/main">
              <a:ext uri="{FF2B5EF4-FFF2-40B4-BE49-F238E27FC236}">
                <a16:creationId xmlns:a16="http://schemas.microsoft.com/office/drawing/2014/main" id="{35BC54AA-27BF-47C2-BF6C-652279C1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1125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DF6"/>
          </a:solidFill>
          <a:ln xmlns:a="http://schemas.openxmlformats.org/drawingml/2006/main" w="0">
            <a:solidFill>
              <a:srgbClr val="E8EDF6"/>
            </a:solidFill>
            <a:prstDash val="solid"/>
          </a:ln>
        </p:spPr>
      </p:sp>
      <p:sp>
        <p:nvSpPr>
          <p:cNvPr id="32" name="paper-profile-question">
            <a:extLst xmlns:a="http://schemas.openxmlformats.org/drawingml/2006/main">
              <a:ext uri="{FF2B5EF4-FFF2-40B4-BE49-F238E27FC236}">
                <a16:creationId xmlns:a16="http://schemas.microsoft.com/office/drawing/2014/main" id="{BC740E33-414B-41B2-8AA6-4FA180AB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2353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研究问题｜在明确对象与条件下，作者究竟想回答什么？</a:t>
            </a:r>
          </a:p>
        </p:txBody>
      </p:sp>
      <p:sp>
        <p:nvSpPr>
          <p:cNvPr id="33" name="paper-profile-contribution">
            <a:extLst xmlns:a="http://schemas.openxmlformats.org/drawingml/2006/main">
              <a:ext uri="{FF2B5EF4-FFF2-40B4-BE49-F238E27FC236}">
                <a16:creationId xmlns:a16="http://schemas.microsoft.com/office/drawing/2014/main" id="{7D276422-1601-4ACD-BF48-A83A53FD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一句话贡献｜用新的证据链解释关键现象，并给出可验证预测。</a:t>
            </a:r>
          </a:p>
        </p:txBody>
      </p:sp>
    </p:spTree>
    <p:extLst>
      <p:ext uri="{BB962C8B-B14F-4D97-AF65-F5344CB8AC3E}">
        <p14:creationId xmlns:p14="http://schemas.microsoft.com/office/powerpoint/2010/main" val="908264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B926C17C-C1A1-4FF5-A34E-FD931570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FCC7F6-34F0-48E4-8EA7-96782D5F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为什么选这些论文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744E68D0-9CB5-4CD6-9B96-347D7ABE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起始与选文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AC9BCD4C-F98B-4A1A-872D-21F068A4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AF43EC12-4E44-4A4B-9F43-965DC662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C775BF23-2607-408B-9B41-771DBDD1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F488297-7DB1-4E03-AA53-0D643DB3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selection-card-1">
            <a:extLst xmlns:a="http://schemas.openxmlformats.org/drawingml/2006/main">
              <a:ext uri="{FF2B5EF4-FFF2-40B4-BE49-F238E27FC236}">
                <a16:creationId xmlns:a16="http://schemas.microsoft.com/office/drawing/2014/main" id="{B24E8E13-C40E-4F33-865C-16CA84B0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3556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9" name="selection-index-1">
            <a:extLst xmlns:a="http://schemas.openxmlformats.org/drawingml/2006/main">
              <a:ext uri="{FF2B5EF4-FFF2-40B4-BE49-F238E27FC236}">
                <a16:creationId xmlns:a16="http://schemas.microsoft.com/office/drawing/2014/main" id="{BF744F4B-23CC-4FE9-B9B8-0BDCF793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election-title-1">
            <a:extLst xmlns:a="http://schemas.openxmlformats.org/drawingml/2006/main">
              <a:ext uri="{FF2B5EF4-FFF2-40B4-BE49-F238E27FC236}">
                <a16:creationId xmlns:a16="http://schemas.microsoft.com/office/drawing/2014/main" id="{205F45E3-0C95-4C17-9D2E-D5AA6B35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313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问题相关</a:t>
            </a:r>
          </a:p>
        </p:txBody>
      </p:sp>
      <p:sp>
        <p:nvSpPr>
          <p:cNvPr id="11" name="selection-accent-1">
            <a:extLst xmlns:a="http://schemas.openxmlformats.org/drawingml/2006/main">
              <a:ext uri="{FF2B5EF4-FFF2-40B4-BE49-F238E27FC236}">
                <a16:creationId xmlns:a16="http://schemas.microsoft.com/office/drawing/2014/main" id="{CA561E4E-40F7-4893-BFBD-9FC464A9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0">
            <a:solidFill>
              <a:srgbClr val="C7922C"/>
            </a:solidFill>
            <a:prstDash val="solid"/>
          </a:ln>
        </p:spPr>
      </p:sp>
      <p:sp>
        <p:nvSpPr>
          <p:cNvPr id="12" name="selection-body-1">
            <a:extLst xmlns:a="http://schemas.openxmlformats.org/drawingml/2006/main">
              <a:ext uri="{FF2B5EF4-FFF2-40B4-BE49-F238E27FC236}">
                <a16:creationId xmlns:a16="http://schemas.microsoft.com/office/drawing/2014/main" id="{1354A68B-BE28-4A26-9191-4A91950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136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直接回应本组当前关心的科学问题。</a:t>
            </a:r>
          </a:p>
        </p:txBody>
      </p:sp>
      <p:sp>
        <p:nvSpPr>
          <p:cNvPr id="13" name="selection-card-2">
            <a:extLst xmlns:a="http://schemas.openxmlformats.org/drawingml/2006/main">
              <a:ext uri="{FF2B5EF4-FFF2-40B4-BE49-F238E27FC236}">
                <a16:creationId xmlns:a16="http://schemas.microsoft.com/office/drawing/2014/main" id="{F430BF8B-73B2-40A5-A0D8-9996EF3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43050"/>
            <a:ext cx="3556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4" name="selection-index-2">
            <a:extLst xmlns:a="http://schemas.openxmlformats.org/drawingml/2006/main">
              <a:ext uri="{FF2B5EF4-FFF2-40B4-BE49-F238E27FC236}">
                <a16:creationId xmlns:a16="http://schemas.microsoft.com/office/drawing/2014/main" id="{207D037A-4E43-4128-8D7C-C106E5C5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selection-title-2">
            <a:extLst xmlns:a="http://schemas.openxmlformats.org/drawingml/2006/main">
              <a:ext uri="{FF2B5EF4-FFF2-40B4-BE49-F238E27FC236}">
                <a16:creationId xmlns:a16="http://schemas.microsoft.com/office/drawing/2014/main" id="{6139C34C-648F-4551-B926-ACE84AFB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24100"/>
            <a:ext cx="313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证据互补</a:t>
            </a:r>
          </a:p>
        </p:txBody>
      </p:sp>
      <p:sp>
        <p:nvSpPr>
          <p:cNvPr id="16" name="selection-accent-2">
            <a:extLst xmlns:a="http://schemas.openxmlformats.org/drawingml/2006/main">
              <a:ext uri="{FF2B5EF4-FFF2-40B4-BE49-F238E27FC236}">
                <a16:creationId xmlns:a16="http://schemas.microsoft.com/office/drawing/2014/main" id="{BCDDD71D-1EDD-477E-9500-ED5B3BCD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0">
            <a:solidFill>
              <a:srgbClr val="C7922C"/>
            </a:solidFill>
            <a:prstDash val="solid"/>
          </a:ln>
        </p:spPr>
      </p:sp>
      <p:sp>
        <p:nvSpPr>
          <p:cNvPr id="17" name="selection-body-2">
            <a:extLst xmlns:a="http://schemas.openxmlformats.org/drawingml/2006/main">
              <a:ext uri="{FF2B5EF4-FFF2-40B4-BE49-F238E27FC236}">
                <a16:creationId xmlns:a16="http://schemas.microsoft.com/office/drawing/2014/main" id="{BF2C6EBC-83F6-4923-BA4C-B6D3711B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390900"/>
            <a:ext cx="3136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补充机制、方法或外部验证。</a:t>
            </a:r>
          </a:p>
        </p:txBody>
      </p:sp>
      <p:sp>
        <p:nvSpPr>
          <p:cNvPr id="18" name="selection-card-3">
            <a:extLst xmlns:a="http://schemas.openxmlformats.org/drawingml/2006/main">
              <a:ext uri="{FF2B5EF4-FFF2-40B4-BE49-F238E27FC236}">
                <a16:creationId xmlns:a16="http://schemas.microsoft.com/office/drawing/2014/main" id="{8005E9B3-647E-4994-B01D-F6C5958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1543050"/>
            <a:ext cx="35560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9" name="selection-index-3">
            <a:extLst xmlns:a="http://schemas.openxmlformats.org/drawingml/2006/main">
              <a:ext uri="{FF2B5EF4-FFF2-40B4-BE49-F238E27FC236}">
                <a16:creationId xmlns:a16="http://schemas.microsoft.com/office/drawing/2014/main" id="{4CE0C85C-0E04-41B4-8BCD-8B040227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17526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selection-title-3">
            <a:extLst xmlns:a="http://schemas.openxmlformats.org/drawingml/2006/main">
              <a:ext uri="{FF2B5EF4-FFF2-40B4-BE49-F238E27FC236}">
                <a16:creationId xmlns:a16="http://schemas.microsoft.com/office/drawing/2014/main" id="{265277DC-079C-4FE1-838F-A5B4CB6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2324100"/>
            <a:ext cx="313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存在张力</a:t>
            </a:r>
          </a:p>
        </p:txBody>
      </p:sp>
      <p:sp>
        <p:nvSpPr>
          <p:cNvPr id="21" name="selection-accent-3">
            <a:extLst xmlns:a="http://schemas.openxmlformats.org/drawingml/2006/main">
              <a:ext uri="{FF2B5EF4-FFF2-40B4-BE49-F238E27FC236}">
                <a16:creationId xmlns:a16="http://schemas.microsoft.com/office/drawing/2014/main" id="{18DB6EEA-A2E7-4DCD-AC63-F04CD298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1432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0">
            <a:solidFill>
              <a:srgbClr val="C7922C"/>
            </a:solidFill>
            <a:prstDash val="solid"/>
          </a:ln>
        </p:spPr>
      </p:sp>
      <p:sp>
        <p:nvSpPr>
          <p:cNvPr id="22" name="selection-body-3">
            <a:extLst xmlns:a="http://schemas.openxmlformats.org/drawingml/2006/main">
              <a:ext uri="{FF2B5EF4-FFF2-40B4-BE49-F238E27FC236}">
                <a16:creationId xmlns:a16="http://schemas.microsoft.com/office/drawing/2014/main" id="{601F8AC0-6175-40BB-A6F5-5729F06C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390900"/>
            <a:ext cx="3136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结论有冲突，或边界不同。</a:t>
            </a:r>
          </a:p>
        </p:txBody>
      </p:sp>
      <p:sp>
        <p:nvSpPr>
          <p:cNvPr id="2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7E94C1A1-66AA-4F04-8C69-844D1CC9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09EE2488-DAFE-4900-A9BA-7D4F09D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67325"/>
            <a:ext cx="10515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选文必须服务共同问题，而不是按下载顺序罗列。</a:t>
            </a:r>
          </a:p>
        </p:txBody>
      </p:sp>
    </p:spTree>
    <p:extLst>
      <p:ext uri="{BB962C8B-B14F-4D97-AF65-F5344CB8AC3E}">
        <p14:creationId xmlns:p14="http://schemas.microsoft.com/office/powerpoint/2010/main" val="108616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DDE8170A-B7BB-42AB-A8C6-7A0C20C0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1EECA3-BFCB-41F3-BBD3-F4B27A15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从已知到缺口，再到研究问题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2B6977C9-6259-46BA-A995-23FD3941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起始与选文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D9FA7A3C-A9CE-48EF-9152-76D04B3A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E902C1B1-3C40-469C-AE52-402DED5B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AAE93231-148F-4864-BEA3-9E27102B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F058EA2-3836-48D6-81BC-0EFF7887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known-gap-card-1">
            <a:extLst xmlns:a="http://schemas.openxmlformats.org/drawingml/2006/main">
              <a:ext uri="{FF2B5EF4-FFF2-40B4-BE49-F238E27FC236}">
                <a16:creationId xmlns:a16="http://schemas.microsoft.com/office/drawing/2014/main" id="{5F54B126-51F0-4462-82F5-38B5B4DF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124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</p:sp>
      <p:sp>
        <p:nvSpPr>
          <p:cNvPr id="9" name="known-gap-label-1">
            <a:extLst xmlns:a="http://schemas.openxmlformats.org/drawingml/2006/main">
              <a:ext uri="{FF2B5EF4-FFF2-40B4-BE49-F238E27FC236}">
                <a16:creationId xmlns:a16="http://schemas.microsoft.com/office/drawing/2014/main" id="{E8E17F19-743C-40C5-B3C1-C46051AF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10" name="known-gap-text-1">
            <a:extLst xmlns:a="http://schemas.openxmlformats.org/drawingml/2006/main">
              <a:ext uri="{FF2B5EF4-FFF2-40B4-BE49-F238E27FC236}">
                <a16:creationId xmlns:a16="http://schemas.microsoft.com/office/drawing/2014/main" id="{6A51B5AB-CD0A-45E9-B592-6C778E31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2667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既有研究已确认现象存在，但主要依赖单一场景与替代指标。</a:t>
            </a:r>
          </a:p>
        </p:txBody>
      </p:sp>
      <p:sp>
        <p:nvSpPr>
          <p:cNvPr id="11" name="known-gap-arrow-1">
            <a:extLst xmlns:a="http://schemas.openxmlformats.org/drawingml/2006/main">
              <a:ext uri="{FF2B5EF4-FFF2-40B4-BE49-F238E27FC236}">
                <a16:creationId xmlns:a16="http://schemas.microsoft.com/office/drawing/2014/main" id="{B347B816-300D-4320-9352-7C6DC8F3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051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2" name="known-gap-card-2">
            <a:extLst xmlns:a="http://schemas.openxmlformats.org/drawingml/2006/main">
              <a:ext uri="{FF2B5EF4-FFF2-40B4-BE49-F238E27FC236}">
                <a16:creationId xmlns:a16="http://schemas.microsoft.com/office/drawing/2014/main" id="{113ACFBD-ED9E-4AE5-A30D-8798A91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3124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17145">
            <a:solidFill>
              <a:srgbClr val="C7922C"/>
            </a:solidFill>
            <a:prstDash val="solid"/>
          </a:ln>
        </p:spPr>
      </p:sp>
      <p:sp>
        <p:nvSpPr>
          <p:cNvPr id="13" name="known-gap-label-2">
            <a:extLst xmlns:a="http://schemas.openxmlformats.org/drawingml/2006/main">
              <a:ext uri="{FF2B5EF4-FFF2-40B4-BE49-F238E27FC236}">
                <a16:creationId xmlns:a16="http://schemas.microsoft.com/office/drawing/2014/main" id="{EA9AFAB8-71CF-45D0-98BE-0BA270C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38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22C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4" name="known-gap-text-2">
            <a:extLst xmlns:a="http://schemas.openxmlformats.org/drawingml/2006/main">
              <a:ext uri="{FF2B5EF4-FFF2-40B4-BE49-F238E27FC236}">
                <a16:creationId xmlns:a16="http://schemas.microsoft.com/office/drawing/2014/main" id="{63530559-9630-4452-B514-9C6594A5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2667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缺少直接机制证据，也不清楚结论能否跨样本迁移。</a:t>
            </a:r>
          </a:p>
        </p:txBody>
      </p:sp>
      <p:sp>
        <p:nvSpPr>
          <p:cNvPr id="15" name="known-gap-arrow-2">
            <a:extLst xmlns:a="http://schemas.openxmlformats.org/drawingml/2006/main">
              <a:ext uri="{FF2B5EF4-FFF2-40B4-BE49-F238E27FC236}">
                <a16:creationId xmlns:a16="http://schemas.microsoft.com/office/drawing/2014/main" id="{CB5C6A97-AF23-40AF-9F0F-6E5185F3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6" name="known-gap-card-3">
            <a:extLst xmlns:a="http://schemas.openxmlformats.org/drawingml/2006/main">
              <a:ext uri="{FF2B5EF4-FFF2-40B4-BE49-F238E27FC236}">
                <a16:creationId xmlns:a16="http://schemas.microsoft.com/office/drawing/2014/main" id="{5E098D2C-2820-4538-8036-5DFD5E1A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28800"/>
            <a:ext cx="31242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</p:sp>
      <p:sp>
        <p:nvSpPr>
          <p:cNvPr id="17" name="known-gap-label-3">
            <a:extLst xmlns:a="http://schemas.openxmlformats.org/drawingml/2006/main">
              <a:ext uri="{FF2B5EF4-FFF2-40B4-BE49-F238E27FC236}">
                <a16:creationId xmlns:a16="http://schemas.microsoft.com/office/drawing/2014/main" id="{AEBFDC9C-F6D0-449E-BC83-DB29C67D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18" name="known-gap-text-3">
            <a:extLst xmlns:a="http://schemas.openxmlformats.org/drawingml/2006/main">
              <a:ext uri="{FF2B5EF4-FFF2-40B4-BE49-F238E27FC236}">
                <a16:creationId xmlns:a16="http://schemas.microsoft.com/office/drawing/2014/main" id="{20F1F55F-10BD-44A8-9BF2-8F77F759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667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哪条机制链真正驱动该现象，且在什么边界内成立？</a:t>
            </a:r>
          </a:p>
        </p:txBody>
      </p:sp>
      <p:sp>
        <p:nvSpPr>
          <p:cNvPr id="1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88F1D4FD-ECB7-4C59-A0A8-67E3C753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23F87599-0C43-4237-8A6D-A8DD140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0515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已知、缺口和问题应来自论文文本与证据，而不是套用固定三段式。</a:t>
            </a:r>
          </a:p>
        </p:txBody>
      </p:sp>
    </p:spTree>
    <p:extLst>
      <p:ext uri="{BB962C8B-B14F-4D97-AF65-F5344CB8AC3E}">
        <p14:creationId xmlns:p14="http://schemas.microsoft.com/office/powerpoint/2010/main" val="5855764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8920270A-9D0D-458F-9DD0-A80D568E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87379B-5AE4-45B6-9F8C-37EE3501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概念框架：变量如何共同形成可检验解释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538E6036-386E-417A-9E63-11034752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DF77492E-7277-499F-B775-AA6047B8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95533046-B6CE-4990-B258-0C9222C6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86F72D52-D15C-47C3-BD0A-A8E09C48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8A33DF5-9C14-4351-A149-266BD1A4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framework-link-input-core">
            <a:extLst xmlns:a="http://schemas.openxmlformats.org/drawingml/2006/main">
              <a:ext uri="{FF2B5EF4-FFF2-40B4-BE49-F238E27FC236}">
                <a16:creationId xmlns:a16="http://schemas.microsoft.com/office/drawing/2014/main" id="{7FD700EF-AFE9-406E-8DE8-2EBD131D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9" name="framework-arrow-input-core">
            <a:extLst xmlns:a="http://schemas.openxmlformats.org/drawingml/2006/main">
              <a:ext uri="{FF2B5EF4-FFF2-40B4-BE49-F238E27FC236}">
                <a16:creationId xmlns:a16="http://schemas.microsoft.com/office/drawing/2014/main" id="{81AB3A9B-F9BA-4953-BDEB-D4940E5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0" name="framework-link-core-output">
            <a:extLst xmlns:a="http://schemas.openxmlformats.org/drawingml/2006/main">
              <a:ext uri="{FF2B5EF4-FFF2-40B4-BE49-F238E27FC236}">
                <a16:creationId xmlns:a16="http://schemas.microsoft.com/office/drawing/2014/main" id="{94EDD301-C111-4281-8ADD-8577385E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337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1" name="framework-arrow-core-output">
            <a:extLst xmlns:a="http://schemas.openxmlformats.org/drawingml/2006/main">
              <a:ext uri="{FF2B5EF4-FFF2-40B4-BE49-F238E27FC236}">
                <a16:creationId xmlns:a16="http://schemas.microsoft.com/office/drawing/2014/main" id="{4CDF60A7-C18F-4572-88C5-32F3B27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1619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2" name="framework-link-boundary">
            <a:extLst xmlns:a="http://schemas.openxmlformats.org/drawingml/2006/main">
              <a:ext uri="{FF2B5EF4-FFF2-40B4-BE49-F238E27FC236}">
                <a16:creationId xmlns:a16="http://schemas.microsoft.com/office/drawing/2014/main" id="{2E6FC455-1772-4985-B742-A9D7E885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3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0">
            <a:solidFill>
              <a:srgbClr val="C7922C"/>
            </a:solidFill>
            <a:prstDash val="solid"/>
          </a:ln>
        </p:spPr>
      </p:sp>
      <p:sp>
        <p:nvSpPr>
          <p:cNvPr id="13" name="framework-link-evidence">
            <a:extLst xmlns:a="http://schemas.openxmlformats.org/drawingml/2006/main">
              <a:ext uri="{FF2B5EF4-FFF2-40B4-BE49-F238E27FC236}">
                <a16:creationId xmlns:a16="http://schemas.microsoft.com/office/drawing/2014/main" id="{A4828086-F406-40D8-8450-53BA939F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050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4" name="framework-node-input">
            <a:extLst xmlns:a="http://schemas.openxmlformats.org/drawingml/2006/main">
              <a:ext uri="{FF2B5EF4-FFF2-40B4-BE49-F238E27FC236}">
                <a16:creationId xmlns:a16="http://schemas.microsoft.com/office/drawing/2014/main" id="{2B16B18B-7A96-4A42-94D8-9D993AA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15" name="framework-label-input">
            <a:extLst xmlns:a="http://schemas.openxmlformats.org/drawingml/2006/main">
              <a:ext uri="{FF2B5EF4-FFF2-40B4-BE49-F238E27FC236}">
                <a16:creationId xmlns:a16="http://schemas.microsoft.com/office/drawing/2014/main" id="{F20C5355-46C9-4426-BB07-B44C3EAB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研究情境</a:t>
            </a:r>
          </a:p>
        </p:txBody>
      </p:sp>
      <p:sp>
        <p:nvSpPr>
          <p:cNvPr id="16" name="framework-detail-input">
            <a:extLst xmlns:a="http://schemas.openxmlformats.org/drawingml/2006/main">
              <a:ext uri="{FF2B5EF4-FFF2-40B4-BE49-F238E27FC236}">
                <a16:creationId xmlns:a16="http://schemas.microsoft.com/office/drawing/2014/main" id="{F7D10887-8C41-41B8-BE1A-EAD19058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2133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从问题与证据出发</a:t>
            </a:r>
          </a:p>
        </p:txBody>
      </p:sp>
      <p:sp>
        <p:nvSpPr>
          <p:cNvPr id="17" name="framework-node-core">
            <a:extLst xmlns:a="http://schemas.openxmlformats.org/drawingml/2006/main">
              <a:ext uri="{FF2B5EF4-FFF2-40B4-BE49-F238E27FC236}">
                <a16:creationId xmlns:a16="http://schemas.microsoft.com/office/drawing/2014/main" id="{DF87170A-67F8-4D61-962C-9AC321A7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15240">
            <a:solidFill>
              <a:srgbClr val="32497B"/>
            </a:solidFill>
            <a:prstDash val="solid"/>
          </a:ln>
        </p:spPr>
      </p:sp>
      <p:sp>
        <p:nvSpPr>
          <p:cNvPr id="18" name="framework-label-core">
            <a:extLst xmlns:a="http://schemas.openxmlformats.org/drawingml/2006/main">
              <a:ext uri="{FF2B5EF4-FFF2-40B4-BE49-F238E27FC236}">
                <a16:creationId xmlns:a16="http://schemas.microsoft.com/office/drawing/2014/main" id="{154AAFDD-BA68-488E-B212-50C3CB01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67000"/>
            <a:ext cx="289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9" name="framework-node-output">
            <a:extLst xmlns:a="http://schemas.openxmlformats.org/drawingml/2006/main">
              <a:ext uri="{FF2B5EF4-FFF2-40B4-BE49-F238E27FC236}">
                <a16:creationId xmlns:a16="http://schemas.microsoft.com/office/drawing/2014/main" id="{E7C16414-BE81-4F43-9517-3C29361E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476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20" name="framework-label-output">
            <a:extLst xmlns:a="http://schemas.openxmlformats.org/drawingml/2006/main">
              <a:ext uri="{FF2B5EF4-FFF2-40B4-BE49-F238E27FC236}">
                <a16:creationId xmlns:a16="http://schemas.microsoft.com/office/drawing/2014/main" id="{1C5346E7-6570-448A-B8A3-93E12649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5275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可观测结果</a:t>
            </a:r>
          </a:p>
        </p:txBody>
      </p:sp>
      <p:sp>
        <p:nvSpPr>
          <p:cNvPr id="21" name="framework-node-boundary">
            <a:extLst xmlns:a="http://schemas.openxmlformats.org/drawingml/2006/main">
              <a:ext uri="{FF2B5EF4-FFF2-40B4-BE49-F238E27FC236}">
                <a16:creationId xmlns:a16="http://schemas.microsoft.com/office/drawing/2014/main" id="{5EE6EADA-8CC0-442B-A085-E227252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3238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5240">
            <a:solidFill>
              <a:srgbClr val="C7922C"/>
            </a:solidFill>
            <a:prstDash val="solid"/>
          </a:ln>
        </p:spPr>
      </p:sp>
      <p:sp>
        <p:nvSpPr>
          <p:cNvPr id="22" name="framework-label-boundary">
            <a:extLst xmlns:a="http://schemas.openxmlformats.org/drawingml/2006/main">
              <a:ext uri="{FF2B5EF4-FFF2-40B4-BE49-F238E27FC236}">
                <a16:creationId xmlns:a16="http://schemas.microsoft.com/office/drawing/2014/main" id="{8010497B-7651-4F88-9F84-CD73512B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815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3" name="framework-node-evidence">
            <a:extLst xmlns:a="http://schemas.openxmlformats.org/drawingml/2006/main">
              <a:ext uri="{FF2B5EF4-FFF2-40B4-BE49-F238E27FC236}">
                <a16:creationId xmlns:a16="http://schemas.microsoft.com/office/drawing/2014/main" id="{5520F61D-BCF1-47BA-8596-A111E69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24" name="framework-label-evidence">
            <a:extLst xmlns:a="http://schemas.openxmlformats.org/drawingml/2006/main">
              <a:ext uri="{FF2B5EF4-FFF2-40B4-BE49-F238E27FC236}">
                <a16:creationId xmlns:a16="http://schemas.microsoft.com/office/drawing/2014/main" id="{004A2EA8-780C-4480-82FE-53971B81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关键证据</a:t>
            </a:r>
          </a:p>
        </p:txBody>
      </p:sp>
      <p:sp>
        <p:nvSpPr>
          <p:cNvPr id="2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B9D24A6A-DA77-4DD3-A7AC-F4277B7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80087F64-BEE8-45DD-95F5-CFE7655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只有真实存在输入—机制—输出—边界关系时才绘制框架。</a:t>
            </a:r>
          </a:p>
        </p:txBody>
      </p:sp>
    </p:spTree>
    <p:extLst>
      <p:ext uri="{BB962C8B-B14F-4D97-AF65-F5344CB8AC3E}">
        <p14:creationId xmlns:p14="http://schemas.microsoft.com/office/powerpoint/2010/main" val="687170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D3A17E27-8E90-4D64-B6E0-71D83B1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969417-4E75-44AC-9EE6-222CAB67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研究设计：从样本到结论的证据链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ECA42F30-268E-4E56-A74D-E0E04A5B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CEB16D8F-E3DF-448C-A6F8-14C4039A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C48D782C-E5F5-46A8-9600-5BDEB78F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EF83D3E0-E186-4E63-8D01-91D58AE9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50DF57F-DD73-4CB4-81BD-780704AD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DA8BF022-D5A9-4676-8FA4-67515E45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820" y="3152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9" name="process-arrow-1">
            <a:extLst xmlns:a="http://schemas.openxmlformats.org/drawingml/2006/main">
              <a:ext uri="{FF2B5EF4-FFF2-40B4-BE49-F238E27FC236}">
                <a16:creationId xmlns:a16="http://schemas.microsoft.com/office/drawing/2014/main" id="{B93B0B14-F7B1-42F5-BC91-84A48E0D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545" y="3095625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0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C0C19AF9-33BB-4C13-9B94-50DD274E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152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1" name="process-arrow-2">
            <a:extLst xmlns:a="http://schemas.openxmlformats.org/drawingml/2006/main">
              <a:ext uri="{FF2B5EF4-FFF2-40B4-BE49-F238E27FC236}">
                <a16:creationId xmlns:a16="http://schemas.microsoft.com/office/drawing/2014/main" id="{ED62A4A4-7F45-4AC4-9D47-FB1A4031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6815" y="3095625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2" name="process-link-3">
            <a:extLst xmlns:a="http://schemas.openxmlformats.org/drawingml/2006/main">
              <a:ext uri="{FF2B5EF4-FFF2-40B4-BE49-F238E27FC236}">
                <a16:creationId xmlns:a16="http://schemas.microsoft.com/office/drawing/2014/main" id="{1298CA77-2DC2-429F-9F51-F1C1DD3A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152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3" name="process-arrow-3">
            <a:extLst xmlns:a="http://schemas.openxmlformats.org/drawingml/2006/main">
              <a:ext uri="{FF2B5EF4-FFF2-40B4-BE49-F238E27FC236}">
                <a16:creationId xmlns:a16="http://schemas.microsoft.com/office/drawing/2014/main" id="{881F0D31-CC61-4C8A-B1D0-62C8B5DB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3095625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4" name="process-link-4">
            <a:extLst xmlns:a="http://schemas.openxmlformats.org/drawingml/2006/main">
              <a:ext uri="{FF2B5EF4-FFF2-40B4-BE49-F238E27FC236}">
                <a16:creationId xmlns:a16="http://schemas.microsoft.com/office/drawing/2014/main" id="{68A2DFB1-79FC-428B-88DA-74021633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1630" y="3152775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5" name="process-arrow-4">
            <a:extLst xmlns:a="http://schemas.openxmlformats.org/drawingml/2006/main">
              <a:ext uri="{FF2B5EF4-FFF2-40B4-BE49-F238E27FC236}">
                <a16:creationId xmlns:a16="http://schemas.microsoft.com/office/drawing/2014/main" id="{1C3D7D3C-B716-4B64-A83F-0AAC9B93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355" y="3095625"/>
            <a:ext cx="133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6" name="process-node-sample">
            <a:extLst xmlns:a="http://schemas.openxmlformats.org/drawingml/2006/main">
              <a:ext uri="{FF2B5EF4-FFF2-40B4-BE49-F238E27FC236}">
                <a16:creationId xmlns:a16="http://schemas.microsoft.com/office/drawing/2014/main" id="{7F31DD82-1D93-484E-A10E-8EBCBF95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9507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17" name="process-index-1">
            <a:extLst xmlns:a="http://schemas.openxmlformats.org/drawingml/2006/main">
              <a:ext uri="{FF2B5EF4-FFF2-40B4-BE49-F238E27FC236}">
                <a16:creationId xmlns:a16="http://schemas.microsoft.com/office/drawing/2014/main" id="{A19382BC-951C-4D1E-961C-DF02ECD9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8" name="process-label-1">
            <a:extLst xmlns:a="http://schemas.openxmlformats.org/drawingml/2006/main">
              <a:ext uri="{FF2B5EF4-FFF2-40B4-BE49-F238E27FC236}">
                <a16:creationId xmlns:a16="http://schemas.microsoft.com/office/drawing/2014/main" id="{5D6A6621-7128-4EA2-974A-88B17BB7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38450"/>
            <a:ext cx="160782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样本与分组</a:t>
            </a:r>
          </a:p>
        </p:txBody>
      </p:sp>
      <p:sp>
        <p:nvSpPr>
          <p:cNvPr id="19" name="process-detail-1">
            <a:extLst xmlns:a="http://schemas.openxmlformats.org/drawingml/2006/main">
              <a:ext uri="{FF2B5EF4-FFF2-40B4-BE49-F238E27FC236}">
                <a16:creationId xmlns:a16="http://schemas.microsoft.com/office/drawing/2014/main" id="{1A0FB614-3926-4AD3-8F19-84C0D9FC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6459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从问题与证据出发</a:t>
            </a:r>
          </a:p>
        </p:txBody>
      </p:sp>
      <p:sp>
        <p:nvSpPr>
          <p:cNvPr id="20" name="process-node-measure">
            <a:extLst xmlns:a="http://schemas.openxmlformats.org/drawingml/2006/main">
              <a:ext uri="{FF2B5EF4-FFF2-40B4-BE49-F238E27FC236}">
                <a16:creationId xmlns:a16="http://schemas.microsoft.com/office/drawing/2014/main" id="{6677BF01-B2F2-4129-AE6D-1C63EAD4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370" y="2457450"/>
            <a:ext cx="19507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21" name="process-index-2">
            <a:extLst xmlns:a="http://schemas.openxmlformats.org/drawingml/2006/main">
              <a:ext uri="{FF2B5EF4-FFF2-40B4-BE49-F238E27FC236}">
                <a16:creationId xmlns:a16="http://schemas.microsoft.com/office/drawing/2014/main" id="{1E1D0408-E392-46DA-AF89-C573B65A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2770" y="2571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process-label-2">
            <a:extLst xmlns:a="http://schemas.openxmlformats.org/drawingml/2006/main">
              <a:ext uri="{FF2B5EF4-FFF2-40B4-BE49-F238E27FC236}">
                <a16:creationId xmlns:a16="http://schemas.microsoft.com/office/drawing/2014/main" id="{1B76FF0F-52AC-41F0-A95F-F48B57FC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20" y="2838450"/>
            <a:ext cx="160782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测量与干预</a:t>
            </a:r>
          </a:p>
        </p:txBody>
      </p:sp>
      <p:sp>
        <p:nvSpPr>
          <p:cNvPr id="23" name="process-node-analysis">
            <a:extLst xmlns:a="http://schemas.openxmlformats.org/drawingml/2006/main">
              <a:ext uri="{FF2B5EF4-FFF2-40B4-BE49-F238E27FC236}">
                <a16:creationId xmlns:a16="http://schemas.microsoft.com/office/drawing/2014/main" id="{590E577C-B462-4433-8F35-193A7213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457450"/>
            <a:ext cx="19507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24" name="process-index-3">
            <a:extLst xmlns:a="http://schemas.openxmlformats.org/drawingml/2006/main">
              <a:ext uri="{FF2B5EF4-FFF2-40B4-BE49-F238E27FC236}">
                <a16:creationId xmlns:a16="http://schemas.microsoft.com/office/drawing/2014/main" id="{30189CC4-EC76-4B55-951E-BF2515F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571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process-label-3">
            <a:extLst xmlns:a="http://schemas.openxmlformats.org/drawingml/2006/main">
              <a:ext uri="{FF2B5EF4-FFF2-40B4-BE49-F238E27FC236}">
                <a16:creationId xmlns:a16="http://schemas.microsoft.com/office/drawing/2014/main" id="{F89866CA-34A5-4075-A285-EA29C323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2090" y="2838450"/>
            <a:ext cx="160782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分析与对照</a:t>
            </a:r>
          </a:p>
        </p:txBody>
      </p:sp>
      <p:sp>
        <p:nvSpPr>
          <p:cNvPr id="26" name="process-node-validation">
            <a:extLst xmlns:a="http://schemas.openxmlformats.org/drawingml/2006/main">
              <a:ext uri="{FF2B5EF4-FFF2-40B4-BE49-F238E27FC236}">
                <a16:creationId xmlns:a16="http://schemas.microsoft.com/office/drawing/2014/main" id="{D36F8A30-1E41-4A07-BF88-E334CD7C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457450"/>
            <a:ext cx="19507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5240">
            <a:solidFill>
              <a:srgbClr val="6682B3"/>
            </a:solidFill>
            <a:prstDash val="solid"/>
          </a:ln>
        </p:spPr>
      </p:sp>
      <p:sp>
        <p:nvSpPr>
          <p:cNvPr id="27" name="process-index-4">
            <a:extLst xmlns:a="http://schemas.openxmlformats.org/drawingml/2006/main">
              <a:ext uri="{FF2B5EF4-FFF2-40B4-BE49-F238E27FC236}">
                <a16:creationId xmlns:a16="http://schemas.microsoft.com/office/drawing/2014/main" id="{1EAA0A1D-8B45-4413-9212-DAD0D56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2571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process-label-4">
            <a:extLst xmlns:a="http://schemas.openxmlformats.org/drawingml/2006/main">
              <a:ext uri="{FF2B5EF4-FFF2-40B4-BE49-F238E27FC236}">
                <a16:creationId xmlns:a16="http://schemas.microsoft.com/office/drawing/2014/main" id="{A730D7BE-B4A8-4CBE-B482-C336ACA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8450"/>
            <a:ext cx="160782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稳健性检查</a:t>
            </a:r>
          </a:p>
        </p:txBody>
      </p:sp>
      <p:sp>
        <p:nvSpPr>
          <p:cNvPr id="29" name="process-node-result">
            <a:extLst xmlns:a="http://schemas.openxmlformats.org/drawingml/2006/main">
              <a:ext uri="{FF2B5EF4-FFF2-40B4-BE49-F238E27FC236}">
                <a16:creationId xmlns:a16="http://schemas.microsoft.com/office/drawing/2014/main" id="{E17DD4BE-3314-4E5A-8021-19081C8D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1180" y="2457450"/>
            <a:ext cx="195072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15240">
            <a:solidFill>
              <a:srgbClr val="32497B"/>
            </a:solidFill>
            <a:prstDash val="solid"/>
          </a:ln>
        </p:spPr>
      </p:sp>
      <p:sp>
        <p:nvSpPr>
          <p:cNvPr id="30" name="process-index-5">
            <a:extLst xmlns:a="http://schemas.openxmlformats.org/drawingml/2006/main">
              <a:ext uri="{FF2B5EF4-FFF2-40B4-BE49-F238E27FC236}">
                <a16:creationId xmlns:a16="http://schemas.microsoft.com/office/drawing/2014/main" id="{913909B9-7404-41BC-ACC1-9EDA24E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2571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E8EDF6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E8EDF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process-label-5">
            <a:extLst xmlns:a="http://schemas.openxmlformats.org/drawingml/2006/main">
              <a:ext uri="{FF2B5EF4-FFF2-40B4-BE49-F238E27FC236}">
                <a16:creationId xmlns:a16="http://schemas.microsoft.com/office/drawing/2014/main" id="{F92C598E-D7D1-4A85-83BA-78C47483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838450"/>
            <a:ext cx="160782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32" name="process-intro">
            <a:extLst xmlns:a="http://schemas.openxmlformats.org/drawingml/2006/main">
              <a:ext uri="{FF2B5EF4-FFF2-40B4-BE49-F238E27FC236}">
                <a16:creationId xmlns:a16="http://schemas.microsoft.com/office/drawing/2014/main" id="{A90190A7-EA3F-4BB1-AEBD-CC6511B0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7640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内容包含三步以上的顺序或依赖关系，关系图比列表更清楚。</a:t>
            </a:r>
          </a:p>
        </p:txBody>
      </p:sp>
      <p:sp>
        <p:nvSpPr>
          <p:cNvPr id="33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BB546455-3F7F-4C1B-9939-8C82F6EB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34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1D3B694A-0C99-460D-AE9E-7F56880A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把设计顺序、关键控制和最终输出一起展示。</a:t>
            </a:r>
          </a:p>
        </p:txBody>
      </p:sp>
    </p:spTree>
    <p:extLst>
      <p:ext uri="{BB962C8B-B14F-4D97-AF65-F5344CB8AC3E}">
        <p14:creationId xmlns:p14="http://schemas.microsoft.com/office/powerpoint/2010/main" val="17663016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FC328524-6C52-437B-8028-7415418F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F5301D-116F-47D6-9469-00CAC16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方法时间线：每一步解决一个不确定性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A66383B2-EC7D-4F69-9114-C3E7D2C3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B51248AB-BF40-4E99-8F4D-C6FF329E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D5C6C8AA-3253-453B-BE11-474239E0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3EE989D1-D661-404A-AA43-B538E656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EC9F36D-004C-4D80-8BB9-2A1A7EDE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timeline-rail">
            <a:extLst xmlns:a="http://schemas.openxmlformats.org/drawingml/2006/main">
              <a:ext uri="{FF2B5EF4-FFF2-40B4-BE49-F238E27FC236}">
                <a16:creationId xmlns:a16="http://schemas.microsoft.com/office/drawing/2014/main" id="{AA979DB9-F1AE-416E-B76D-F5727EA1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9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9B9F83AD-CB89-4CAC-BD23-090D8D6C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30A1CA44-C50B-4E65-A8C8-E482B68C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288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样本准备</a:t>
            </a:r>
          </a:p>
        </p:txBody>
      </p:sp>
      <p:sp>
        <p:nvSpPr>
          <p:cNvPr id="11" name="timeline-caption-1">
            <a:extLst xmlns:a="http://schemas.openxmlformats.org/drawingml/2006/main">
              <a:ext uri="{FF2B5EF4-FFF2-40B4-BE49-F238E27FC236}">
                <a16:creationId xmlns:a16="http://schemas.microsoft.com/office/drawing/2014/main" id="{44060A47-2649-4DE3-BEE3-0773CE8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7716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定义对象与排除标准</a:t>
            </a:r>
          </a:p>
        </p:txBody>
      </p:sp>
      <p:sp>
        <p:nvSpPr>
          <p:cNvPr id="12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CF18D522-70FF-4DD7-919A-ACFDAAD7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42FB79F4-4708-4BE7-8ACC-C577600C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模式识别</a:t>
            </a:r>
          </a:p>
        </p:txBody>
      </p:sp>
      <p:sp>
        <p:nvSpPr>
          <p:cNvPr id="14" name="timeline-caption-2">
            <a:extLst xmlns:a="http://schemas.openxmlformats.org/drawingml/2006/main">
              <a:ext uri="{FF2B5EF4-FFF2-40B4-BE49-F238E27FC236}">
                <a16:creationId xmlns:a16="http://schemas.microsoft.com/office/drawing/2014/main" id="{1AC9D22A-9845-4944-B917-9EA37409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148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发现候选关系</a:t>
            </a:r>
          </a:p>
        </p:txBody>
      </p:sp>
      <p:sp>
        <p:nvSpPr>
          <p:cNvPr id="15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FF09756F-64E9-47D0-BF71-0AD2ABAB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F0CC597F-5AF6-4FEA-80F6-08F32718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机制检验</a:t>
            </a:r>
          </a:p>
        </p:txBody>
      </p:sp>
      <p:sp>
        <p:nvSpPr>
          <p:cNvPr id="17" name="timeline-caption-3">
            <a:extLst xmlns:a="http://schemas.openxmlformats.org/drawingml/2006/main">
              <a:ext uri="{FF2B5EF4-FFF2-40B4-BE49-F238E27FC236}">
                <a16:creationId xmlns:a16="http://schemas.microsoft.com/office/drawing/2014/main" id="{F3BB6484-DA72-4C63-A129-14494FCA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排除替代解释</a:t>
            </a:r>
          </a:p>
        </p:txBody>
      </p:sp>
      <p:sp>
        <p:nvSpPr>
          <p:cNvPr id="18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6A4D3ABC-1822-4531-A4BF-D2E8B76E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8EAAA9FE-30EF-4F67-BE48-68009386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外部验证</a:t>
            </a:r>
          </a:p>
        </p:txBody>
      </p:sp>
      <p:sp>
        <p:nvSpPr>
          <p:cNvPr id="20" name="timeline-caption-4">
            <a:extLst xmlns:a="http://schemas.openxmlformats.org/drawingml/2006/main">
              <a:ext uri="{FF2B5EF4-FFF2-40B4-BE49-F238E27FC236}">
                <a16:creationId xmlns:a16="http://schemas.microsoft.com/office/drawing/2014/main" id="{D219E6E8-6A9A-4410-988D-70403130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148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检查可迁移性</a:t>
            </a:r>
          </a:p>
        </p:txBody>
      </p:sp>
      <p:sp>
        <p:nvSpPr>
          <p:cNvPr id="2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A5226495-FBBD-4E98-A584-C6D03AF9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5D3A3CB-563E-4B52-B75B-09FE2383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方法页强调为什么这样做，不罗列软件按钮。</a:t>
            </a:r>
          </a:p>
        </p:txBody>
      </p:sp>
    </p:spTree>
    <p:extLst>
      <p:ext uri="{BB962C8B-B14F-4D97-AF65-F5344CB8AC3E}">
        <p14:creationId xmlns:p14="http://schemas.microsoft.com/office/powerpoint/2010/main" val="927986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6BE9805F-E16C-4DE6-B1E6-DA1A399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FCD5A2-9BB9-4928-BDAF-BC04414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方法比较：不同路径回答不同问题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F9F936CF-981A-477B-9944-BD76B1F9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DEE1A7A5-B475-4573-9C63-594CDFFB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D9C42CFD-DAB0-4092-B175-7E72BA6E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ABC06514-C827-493D-B3F5-37151877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1BAAA80-53ED-4C1E-9AFF-E6A9DEA7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743200"/>
                <a:gridCol w="2743200"/>
                <a:gridCol w="2743200"/>
                <a:gridCol w="27432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回答的问题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观察研究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是否相关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混杂偏倚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干预实验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是否因果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控制明确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外部效度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模型分析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机制是否自洽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可检验预测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假设依赖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89CBF52-C997-4901-9560-CDE8953E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1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A947C405-9CD4-4F20-BD00-5C8531A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选择方法要与研究问题和证据强度匹配。</a:t>
            </a:r>
          </a:p>
        </p:txBody>
      </p:sp>
    </p:spTree>
    <p:extLst>
      <p:ext uri="{BB962C8B-B14F-4D97-AF65-F5344CB8AC3E}">
        <p14:creationId xmlns:p14="http://schemas.microsoft.com/office/powerpoint/2010/main" val="14161286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160A900A-BF19-4C47-BF9F-D0E5158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0760F2-331A-47B6-9C9B-A60D6D3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样本与数据：先交代可比性，再解释结果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9EDC04B3-1606-428A-B6A3-8B771D49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564BA01A-DBBA-42C5-A915-160E26D5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E5A8CE7B-7CFC-4A0F-B3F5-97972462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27B17D8C-E5B5-49B2-92C7-3A0B2E7B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C4BC206-92BD-40DB-96F2-EEA7A66A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sample-profile-panel">
            <a:extLst xmlns:a="http://schemas.openxmlformats.org/drawingml/2006/main">
              <a:ext uri="{FF2B5EF4-FFF2-40B4-BE49-F238E27FC236}">
                <a16:creationId xmlns:a16="http://schemas.microsoft.com/office/drawing/2014/main" id="{BF695620-2084-41A6-8352-980FD3CE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3810000" cy="43243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9" name="sample-profile-label">
            <a:extLst xmlns:a="http://schemas.openxmlformats.org/drawingml/2006/main">
              <a:ext uri="{FF2B5EF4-FFF2-40B4-BE49-F238E27FC236}">
                <a16:creationId xmlns:a16="http://schemas.microsoft.com/office/drawing/2014/main" id="{A6A04455-1C54-44C6-A853-EFE06CAC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7727"/>
          </a:bodyPr>
          <a:lstStyle xmlns:a="http://schemas.openxmlformats.org/drawingml/2006/main"/>
          <a:p xmlns:a="http://schemas.openxmlformats.org/drawingml/2006/main">
            <a:pPr algn="l">
              <a:def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 / 数据概况</a:t>
            </a:r>
          </a:p>
        </p:txBody>
      </p:sp>
      <p:sp>
        <p:nvSpPr>
          <p:cNvPr id="10" name="sample-metric-value-1">
            <a:extLst xmlns:a="http://schemas.openxmlformats.org/drawingml/2006/main">
              <a:ext uri="{FF2B5EF4-FFF2-40B4-BE49-F238E27FC236}">
                <a16:creationId xmlns:a16="http://schemas.microsoft.com/office/drawing/2014/main" id="{1B96B2DC-8B2F-4BFD-A117-B02FC7BC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N=XX</a:t>
            </a:r>
          </a:p>
        </p:txBody>
      </p:sp>
      <p:sp>
        <p:nvSpPr>
          <p:cNvPr id="11" name="sample-metric-label-1">
            <a:extLst xmlns:a="http://schemas.openxmlformats.org/drawingml/2006/main">
              <a:ext uri="{FF2B5EF4-FFF2-40B4-BE49-F238E27FC236}">
                <a16:creationId xmlns:a16="http://schemas.microsoft.com/office/drawing/2014/main" id="{C1813612-CA76-4E77-9BBA-02125079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  <p:sp>
        <p:nvSpPr>
          <p:cNvPr id="12" name="sample-metric-value-2">
            <a:extLst xmlns:a="http://schemas.openxmlformats.org/drawingml/2006/main">
              <a:ext uri="{FF2B5EF4-FFF2-40B4-BE49-F238E27FC236}">
                <a16:creationId xmlns:a16="http://schemas.microsoft.com/office/drawing/2014/main" id="{21C2B48F-B607-46B2-ACF8-B5CACB9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860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类</a:t>
            </a:r>
          </a:p>
        </p:txBody>
      </p:sp>
      <p:sp>
        <p:nvSpPr>
          <p:cNvPr id="13" name="sample-metric-label-2">
            <a:extLst xmlns:a="http://schemas.openxmlformats.org/drawingml/2006/main">
              <a:ext uri="{FF2B5EF4-FFF2-40B4-BE49-F238E27FC236}">
                <a16:creationId xmlns:a16="http://schemas.microsoft.com/office/drawing/2014/main" id="{9E7064D0-FED8-42E6-86B9-021215D2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数据模态</a:t>
            </a:r>
          </a:p>
        </p:txBody>
      </p:sp>
      <p:sp>
        <p:nvSpPr>
          <p:cNvPr id="14" name="sample-metric-value-3">
            <a:extLst xmlns:a="http://schemas.openxmlformats.org/drawingml/2006/main">
              <a:ext uri="{FF2B5EF4-FFF2-40B4-BE49-F238E27FC236}">
                <a16:creationId xmlns:a16="http://schemas.microsoft.com/office/drawing/2014/main" id="{E3F5232D-4E8A-4EE5-93D2-C9317C33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组</a:t>
            </a:r>
          </a:p>
        </p:txBody>
      </p:sp>
      <p:sp>
        <p:nvSpPr>
          <p:cNvPr id="15" name="sample-metric-label-3">
            <a:extLst xmlns:a="http://schemas.openxmlformats.org/drawingml/2006/main">
              <a:ext uri="{FF2B5EF4-FFF2-40B4-BE49-F238E27FC236}">
                <a16:creationId xmlns:a16="http://schemas.microsoft.com/office/drawing/2014/main" id="{3D95D3CD-0732-4244-94F2-B73EFC25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关键分组</a:t>
            </a:r>
          </a:p>
        </p:txBody>
      </p:sp>
      <p:sp>
        <p:nvSpPr>
          <p:cNvPr id="16" name="sample-metric-value-4">
            <a:extLst xmlns:a="http://schemas.openxmlformats.org/drawingml/2006/main">
              <a:ext uri="{FF2B5EF4-FFF2-40B4-BE49-F238E27FC236}">
                <a16:creationId xmlns:a16="http://schemas.microsoft.com/office/drawing/2014/main" id="{811A9346-4353-49EE-8824-F8EEB040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05200"/>
            <a:ext cx="1466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4531"/>
          </a:bodyPr>
          <a:lstStyle xmlns:a="http://schemas.openxmlformats.org/drawingml/2006/main"/>
          <a:p xmlns:a="http://schemas.openxmlformats.org/drawingml/2006/main">
            <a:pPr algn="l">
              <a:defRPr sz="3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 个</a:t>
            </a:r>
          </a:p>
        </p:txBody>
      </p:sp>
      <p:sp>
        <p:nvSpPr>
          <p:cNvPr id="17" name="sample-metric-label-4">
            <a:extLst xmlns:a="http://schemas.openxmlformats.org/drawingml/2006/main">
              <a:ext uri="{FF2B5EF4-FFF2-40B4-BE49-F238E27FC236}">
                <a16:creationId xmlns:a16="http://schemas.microsoft.com/office/drawing/2014/main" id="{4CFD2876-3581-4B43-AB15-8D427BE3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76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时间点</a:t>
            </a:r>
          </a:p>
        </p:txBody>
      </p:sp>
      <p:sp>
        <p:nvSpPr>
          <p:cNvPr id="18" name="data-layer-index-1">
            <a:extLst xmlns:a="http://schemas.openxmlformats.org/drawingml/2006/main">
              <a:ext uri="{FF2B5EF4-FFF2-40B4-BE49-F238E27FC236}">
                <a16:creationId xmlns:a16="http://schemas.microsoft.com/office/drawing/2014/main" id="{A59F5639-F6F2-4B65-8388-10430920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data-layer-title-1">
            <a:extLst xmlns:a="http://schemas.openxmlformats.org/drawingml/2006/main">
              <a:ext uri="{FF2B5EF4-FFF2-40B4-BE49-F238E27FC236}">
                <a16:creationId xmlns:a16="http://schemas.microsoft.com/office/drawing/2014/main" id="{9CD923D9-85CA-47A5-B929-34A15DB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668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20" name="data-layer-body-1">
            <a:extLst xmlns:a="http://schemas.openxmlformats.org/drawingml/2006/main">
              <a:ext uri="{FF2B5EF4-FFF2-40B4-BE49-F238E27FC236}">
                <a16:creationId xmlns:a16="http://schemas.microsoft.com/office/drawing/2014/main" id="{080B4A39-7821-475C-A1AC-08222140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68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来源、纳入标准与关键分层。</a:t>
            </a:r>
          </a:p>
        </p:txBody>
      </p:sp>
      <p:sp>
        <p:nvSpPr>
          <p:cNvPr id="21" name="data-layer-rule-1">
            <a:extLst xmlns:a="http://schemas.openxmlformats.org/drawingml/2006/main">
              <a:ext uri="{FF2B5EF4-FFF2-40B4-BE49-F238E27FC236}">
                <a16:creationId xmlns:a16="http://schemas.microsoft.com/office/drawing/2014/main" id="{91E54BFD-026B-48BB-B1DA-A4F3322B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22" name="data-layer-index-2">
            <a:extLst xmlns:a="http://schemas.openxmlformats.org/drawingml/2006/main">
              <a:ext uri="{FF2B5EF4-FFF2-40B4-BE49-F238E27FC236}">
                <a16:creationId xmlns:a16="http://schemas.microsoft.com/office/drawing/2014/main" id="{818A6414-290E-4847-8477-825EA6B7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data-layer-title-2">
            <a:extLst xmlns:a="http://schemas.openxmlformats.org/drawingml/2006/main">
              <a:ext uri="{FF2B5EF4-FFF2-40B4-BE49-F238E27FC236}">
                <a16:creationId xmlns:a16="http://schemas.microsoft.com/office/drawing/2014/main" id="{377A317C-6AFC-4925-8926-E7FBBCFE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测量与数据</a:t>
            </a:r>
          </a:p>
        </p:txBody>
      </p:sp>
      <p:sp>
        <p:nvSpPr>
          <p:cNvPr id="24" name="data-layer-body-2">
            <a:extLst xmlns:a="http://schemas.openxmlformats.org/drawingml/2006/main">
              <a:ext uri="{FF2B5EF4-FFF2-40B4-BE49-F238E27FC236}">
                <a16:creationId xmlns:a16="http://schemas.microsoft.com/office/drawing/2014/main" id="{995FDB87-83BC-492A-B28E-065373B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指标、数据模态与时间尺度。</a:t>
            </a:r>
          </a:p>
        </p:txBody>
      </p:sp>
      <p:sp>
        <p:nvSpPr>
          <p:cNvPr id="25" name="data-layer-rule-2">
            <a:extLst xmlns:a="http://schemas.openxmlformats.org/drawingml/2006/main">
              <a:ext uri="{FF2B5EF4-FFF2-40B4-BE49-F238E27FC236}">
                <a16:creationId xmlns:a16="http://schemas.microsoft.com/office/drawing/2014/main" id="{D1E51569-63C9-46C5-B458-08BF032A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29000"/>
            <a:ext cx="581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26" name="data-layer-index-3">
            <a:extLst xmlns:a="http://schemas.openxmlformats.org/drawingml/2006/main">
              <a:ext uri="{FF2B5EF4-FFF2-40B4-BE49-F238E27FC236}">
                <a16:creationId xmlns:a16="http://schemas.microsoft.com/office/drawing/2014/main" id="{3DDCF8BD-921E-470C-808C-2F3535FC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2905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data-layer-title-3">
            <a:extLst xmlns:a="http://schemas.openxmlformats.org/drawingml/2006/main">
              <a:ext uri="{FF2B5EF4-FFF2-40B4-BE49-F238E27FC236}">
                <a16:creationId xmlns:a16="http://schemas.microsoft.com/office/drawing/2014/main" id="{CEE83BA4-636A-47F3-9A55-A61D0DE4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质量控制</a:t>
            </a:r>
          </a:p>
        </p:txBody>
      </p:sp>
      <p:sp>
        <p:nvSpPr>
          <p:cNvPr id="28" name="data-layer-body-3">
            <a:extLst xmlns:a="http://schemas.openxmlformats.org/drawingml/2006/main">
              <a:ext uri="{FF2B5EF4-FFF2-40B4-BE49-F238E27FC236}">
                <a16:creationId xmlns:a16="http://schemas.microsoft.com/office/drawing/2014/main" id="{2A2E11C6-40FE-455A-A6CB-29250E87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46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缺失处理、批次效应与偏倚控制。</a:t>
            </a:r>
          </a:p>
        </p:txBody>
      </p:sp>
      <p:sp>
        <p:nvSpPr>
          <p:cNvPr id="2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80845A5B-6B1C-4CDB-B1C4-8925E8C6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3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517B35C0-EE24-4018-8DD7-973C4E80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样本结构与质量控制决定结论可以外推多远。</a:t>
            </a:r>
          </a:p>
        </p:txBody>
      </p:sp>
    </p:spTree>
    <p:extLst>
      <p:ext uri="{BB962C8B-B14F-4D97-AF65-F5344CB8AC3E}">
        <p14:creationId xmlns:p14="http://schemas.microsoft.com/office/powerpoint/2010/main" val="10921776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26D8C235-A5A0-4712-80E1-93CCE57F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0929DD-DA12-4E0E-9428-7E1F9876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单一关键结果：主图占据视觉中心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A8C9954E-6F63-46AC-ACC9-3F2C6688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4CEFAF28-7FE8-4271-89C4-5AEDD7DA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4BF18884-143C-4748-AAD8-6BCCB8EC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BC2EA6FA-7817-4B78-B95D-1B393106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2C224A8-0D38-496A-BE2A-9A37DBB7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figure-conclusion-image-frame">
            <a:extLst xmlns:a="http://schemas.openxmlformats.org/drawingml/2006/main">
              <a:ext uri="{FF2B5EF4-FFF2-40B4-BE49-F238E27FC236}">
                <a16:creationId xmlns:a16="http://schemas.microsoft.com/office/drawing/2014/main" id="{33AD40E0-61A8-4A8D-9074-A7F4D02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33425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9" name="figure-conclusion-image-placeholder">
            <a:extLst xmlns:a="http://schemas.openxmlformats.org/drawingml/2006/main">
              <a:ext uri="{FF2B5EF4-FFF2-40B4-BE49-F238E27FC236}">
                <a16:creationId xmlns:a16="http://schemas.microsoft.com/office/drawing/2014/main" id="{EABB960D-1F50-4C46-AD04-FF645DA0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72009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0" name="figure-conclusion-panel">
            <a:extLst xmlns:a="http://schemas.openxmlformats.org/drawingml/2006/main">
              <a:ext uri="{FF2B5EF4-FFF2-40B4-BE49-F238E27FC236}">
                <a16:creationId xmlns:a16="http://schemas.microsoft.com/office/drawing/2014/main" id="{594E805B-44D7-4CA7-8CA6-39D18596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33750" cy="35623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2497B"/>
            </a:solidFill>
            <a:prstDash val="solid"/>
          </a:ln>
        </p:spPr>
      </p:sp>
      <p:sp>
        <p:nvSpPr>
          <p:cNvPr id="11" name="figure-conclusion-label">
            <a:extLst xmlns:a="http://schemas.openxmlformats.org/drawingml/2006/main">
              <a:ext uri="{FF2B5EF4-FFF2-40B4-BE49-F238E27FC236}">
                <a16:creationId xmlns:a16="http://schemas.microsoft.com/office/drawing/2014/main" id="{82C9A11B-3947-4E5C-8B77-9E89AA04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2" name="figure-conclusion-claim">
            <a:extLst xmlns:a="http://schemas.openxmlformats.org/drawingml/2006/main">
              <a:ext uri="{FF2B5EF4-FFF2-40B4-BE49-F238E27FC236}">
                <a16:creationId xmlns:a16="http://schemas.microsoft.com/office/drawing/2014/main" id="{0CECFEC3-4578-45B8-8850-558E7FBA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57450"/>
            <a:ext cx="2800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主结果在核心条件下显著改变，并由独立分析支持。</a:t>
            </a:r>
          </a:p>
        </p:txBody>
      </p:sp>
      <p:sp>
        <p:nvSpPr>
          <p:cNvPr id="13" name="figure-conclusion-metric-value">
            <a:extLst xmlns:a="http://schemas.openxmlformats.org/drawingml/2006/main">
              <a:ext uri="{FF2B5EF4-FFF2-40B4-BE49-F238E27FC236}">
                <a16:creationId xmlns:a16="http://schemas.microsoft.com/office/drawing/2014/main" id="{C4B9ABA4-336D-4C78-9674-2C98C781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+32 %</a:t>
            </a:r>
          </a:p>
        </p:txBody>
      </p:sp>
      <p:sp>
        <p:nvSpPr>
          <p:cNvPr id="14" name="figure-conclusion-metric-label">
            <a:extLst xmlns:a="http://schemas.openxmlformats.org/drawingml/2006/main">
              <a:ext uri="{FF2B5EF4-FFF2-40B4-BE49-F238E27FC236}">
                <a16:creationId xmlns:a16="http://schemas.microsoft.com/office/drawing/2014/main" id="{BB4691E9-BC31-4F47-94BD-40AC2EA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52950"/>
            <a:ext cx="2800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效应变化</a:t>
            </a:r>
          </a:p>
        </p:txBody>
      </p:sp>
      <p:sp>
        <p:nvSpPr>
          <p:cNvPr id="15" name="figure-conclusion-caption">
            <a:extLst xmlns:a="http://schemas.openxmlformats.org/drawingml/2006/main">
              <a:ext uri="{FF2B5EF4-FFF2-40B4-BE49-F238E27FC236}">
                <a16:creationId xmlns:a16="http://schemas.microsoft.com/office/drawing/2014/main" id="{E72A1F67-D24F-426B-8ACE-FB572DA9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18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8077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8A9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8A93A5"/>
                </a:solidFill>
                <a:latin typeface="Microsoft YaHei"/>
                <a:ea typeface="Microsoft YaHei"/>
                <a:cs typeface="Microsoft YaHei"/>
              </a:rPr>
              <a:t>证据图 1</a:t>
            </a:r>
          </a:p>
        </p:txBody>
      </p:sp>
    </p:spTree>
    <p:extLst>
      <p:ext uri="{BB962C8B-B14F-4D97-AF65-F5344CB8AC3E}">
        <p14:creationId xmlns:p14="http://schemas.microsoft.com/office/powerpoint/2010/main" val="6141758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FE5100F9-C9A8-4D90-926B-C32EF5E4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8FD3E7-950E-435F-836B-718E637F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结果对照：同一尺度下比较才有意义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1A5F7B2A-4B29-471C-9939-56182C39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41761B45-EEB3-4534-8E04-76B84354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C58742B6-CD5A-4966-951C-46A0A3B0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8FC95C26-6025-4196-B55D-F9ADAD25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707749B-C03D-4850-8958-CC87BD32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compare-left-label">
            <a:extLst xmlns:a="http://schemas.openxmlformats.org/drawingml/2006/main">
              <a:ext uri="{FF2B5EF4-FFF2-40B4-BE49-F238E27FC236}">
                <a16:creationId xmlns:a16="http://schemas.microsoft.com/office/drawing/2014/main" id="{58125DE6-B3DC-478F-9CF5-1D962A77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95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5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基线 / 对照</a:t>
            </a:r>
          </a:p>
        </p:txBody>
      </p:sp>
      <p:sp>
        <p:nvSpPr>
          <p:cNvPr id="9" name="compare-right-label">
            <a:extLst xmlns:a="http://schemas.openxmlformats.org/drawingml/2006/main">
              <a:ext uri="{FF2B5EF4-FFF2-40B4-BE49-F238E27FC236}">
                <a16:creationId xmlns:a16="http://schemas.microsoft.com/office/drawing/2014/main" id="{E02A0392-2857-4901-988F-6F4BB1B8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38300"/>
            <a:ext cx="4953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64472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干预 / 目标条件</a:t>
            </a:r>
          </a:p>
        </p:txBody>
      </p:sp>
      <p:sp>
        <p:nvSpPr>
          <p:cNvPr id="10" name="compare-left-frame">
            <a:extLst xmlns:a="http://schemas.openxmlformats.org/drawingml/2006/main">
              <a:ext uri="{FF2B5EF4-FFF2-40B4-BE49-F238E27FC236}">
                <a16:creationId xmlns:a16="http://schemas.microsoft.com/office/drawing/2014/main" id="{430F0B9C-7937-4147-A030-CE1AD9CF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95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1" name="compare-left-placeholder">
            <a:extLst xmlns:a="http://schemas.openxmlformats.org/drawingml/2006/main">
              <a:ext uri="{FF2B5EF4-FFF2-40B4-BE49-F238E27FC236}">
                <a16:creationId xmlns:a16="http://schemas.microsoft.com/office/drawing/2014/main" id="{BEC4D656-EBA9-49F8-870E-FFADE80B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43125"/>
            <a:ext cx="4819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2" name="compare-right-frame">
            <a:extLst xmlns:a="http://schemas.openxmlformats.org/drawingml/2006/main">
              <a:ext uri="{FF2B5EF4-FFF2-40B4-BE49-F238E27FC236}">
                <a16:creationId xmlns:a16="http://schemas.microsoft.com/office/drawing/2014/main" id="{ECEB6878-D6F3-4F0F-99B1-4C2B9243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76450"/>
            <a:ext cx="49530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3" name="compare-right-placeholder">
            <a:extLst xmlns:a="http://schemas.openxmlformats.org/drawingml/2006/main">
              <a:ext uri="{FF2B5EF4-FFF2-40B4-BE49-F238E27FC236}">
                <a16:creationId xmlns:a16="http://schemas.microsoft.com/office/drawing/2014/main" id="{73881B41-A2E7-4E9A-B218-48137E5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143125"/>
            <a:ext cx="4819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4" name="compare-left-caption">
            <a:extLst xmlns:a="http://schemas.openxmlformats.org/drawingml/2006/main">
              <a:ext uri="{FF2B5EF4-FFF2-40B4-BE49-F238E27FC236}">
                <a16:creationId xmlns:a16="http://schemas.microsoft.com/office/drawing/2014/main" id="{37F34BF8-9047-463C-8A6B-E5DB570E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共同尺度下的基线观察</a:t>
            </a:r>
          </a:p>
        </p:txBody>
      </p:sp>
      <p:sp>
        <p:nvSpPr>
          <p:cNvPr id="15" name="compare-right-caption">
            <a:extLst xmlns:a="http://schemas.openxmlformats.org/drawingml/2006/main">
              <a:ext uri="{FF2B5EF4-FFF2-40B4-BE49-F238E27FC236}">
                <a16:creationId xmlns:a16="http://schemas.microsoft.com/office/drawing/2014/main" id="{BD3892F9-5ED2-4DA0-91CD-A6E22CE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876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共同尺度下的差异观察</a:t>
            </a:r>
          </a:p>
        </p:txBody>
      </p:sp>
      <p:sp>
        <p:nvSpPr>
          <p:cNvPr id="16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3B92D1A3-7669-4DB0-A61D-03BE7343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1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A126D579-D70D-4775-8E83-0EB83AD1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差异来自关键条件变化，而非坐标或样本口径不同。</a:t>
            </a:r>
          </a:p>
        </p:txBody>
      </p:sp>
    </p:spTree>
    <p:extLst>
      <p:ext uri="{BB962C8B-B14F-4D97-AF65-F5344CB8AC3E}">
        <p14:creationId xmlns:p14="http://schemas.microsoft.com/office/powerpoint/2010/main" val="2064224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83B640B4-B7E4-456A-AC84-DEF10FAF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14DA22-E5FB-46F5-AAA5-26A1005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多证据并列：每张图承担不同证据角色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2DCFC349-FBEC-41D5-AD0B-6C428C80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B10FF83E-A666-42C8-908F-032FE85D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750611FC-D113-4737-B56B-0FF347BF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16680BBE-30FD-47E3-A396-E20A328D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1B5ECBE-14B5-4C25-8FCE-00906A26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multi-evidence-1-frame">
            <a:extLst xmlns:a="http://schemas.openxmlformats.org/drawingml/2006/main">
              <a:ext uri="{FF2B5EF4-FFF2-40B4-BE49-F238E27FC236}">
                <a16:creationId xmlns:a16="http://schemas.microsoft.com/office/drawing/2014/main" id="{82673F4A-30BA-47E3-B657-A3442DA1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4480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9" name="multi-evidence-1-placeholder">
            <a:extLst xmlns:a="http://schemas.openxmlformats.org/drawingml/2006/main">
              <a:ext uri="{FF2B5EF4-FFF2-40B4-BE49-F238E27FC236}">
                <a16:creationId xmlns:a16="http://schemas.microsoft.com/office/drawing/2014/main" id="{A25A771D-53FF-45BD-85CE-9BE21ABE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3314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0" name="multi-evidence-caption-1">
            <a:extLst xmlns:a="http://schemas.openxmlformats.org/drawingml/2006/main">
              <a:ext uri="{FF2B5EF4-FFF2-40B4-BE49-F238E27FC236}">
                <a16:creationId xmlns:a16="http://schemas.microsoft.com/office/drawing/2014/main" id="{F57ED7D5-8A50-4388-A2C5-70998791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现象证据｜先确认主要变化。</a:t>
            </a:r>
          </a:p>
        </p:txBody>
      </p:sp>
      <p:sp>
        <p:nvSpPr>
          <p:cNvPr id="11" name="multi-evidence-2-frame">
            <a:extLst xmlns:a="http://schemas.openxmlformats.org/drawingml/2006/main">
              <a:ext uri="{FF2B5EF4-FFF2-40B4-BE49-F238E27FC236}">
                <a16:creationId xmlns:a16="http://schemas.microsoft.com/office/drawing/2014/main" id="{F00219D9-E709-4ED1-861D-11C8087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4480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2" name="multi-evidence-2-placeholder">
            <a:extLst xmlns:a="http://schemas.openxmlformats.org/drawingml/2006/main">
              <a:ext uri="{FF2B5EF4-FFF2-40B4-BE49-F238E27FC236}">
                <a16:creationId xmlns:a16="http://schemas.microsoft.com/office/drawing/2014/main" id="{DCF64A5E-EE2E-49E3-9593-CF809708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724025"/>
            <a:ext cx="3314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3" name="multi-evidence-caption-2">
            <a:extLst xmlns:a="http://schemas.openxmlformats.org/drawingml/2006/main">
              <a:ext uri="{FF2B5EF4-FFF2-40B4-BE49-F238E27FC236}">
                <a16:creationId xmlns:a16="http://schemas.microsoft.com/office/drawing/2014/main" id="{D54ED8C9-B7C4-4557-84B9-B233281D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529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机制证据｜解释变化如何发生。</a:t>
            </a:r>
          </a:p>
        </p:txBody>
      </p:sp>
      <p:sp>
        <p:nvSpPr>
          <p:cNvPr id="14" name="multi-evidence-3-frame">
            <a:extLst xmlns:a="http://schemas.openxmlformats.org/drawingml/2006/main">
              <a:ext uri="{FF2B5EF4-FFF2-40B4-BE49-F238E27FC236}">
                <a16:creationId xmlns:a16="http://schemas.microsoft.com/office/drawing/2014/main" id="{67D1083F-EAA1-4CAA-8AA7-D189A734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57350"/>
            <a:ext cx="34480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5" name="multi-evidence-3-placeholder">
            <a:extLst xmlns:a="http://schemas.openxmlformats.org/drawingml/2006/main">
              <a:ext uri="{FF2B5EF4-FFF2-40B4-BE49-F238E27FC236}">
                <a16:creationId xmlns:a16="http://schemas.microsoft.com/office/drawing/2014/main" id="{E6714412-9FB2-4B94-860A-3F29CA39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724025"/>
            <a:ext cx="33147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6" name="multi-evidence-caption-3">
            <a:extLst xmlns:a="http://schemas.openxmlformats.org/drawingml/2006/main">
              <a:ext uri="{FF2B5EF4-FFF2-40B4-BE49-F238E27FC236}">
                <a16:creationId xmlns:a16="http://schemas.microsoft.com/office/drawing/2014/main" id="{9E220221-9992-4CA1-9DD0-01504B2B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295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验证证据｜检查是否可复现。</a:t>
            </a:r>
          </a:p>
        </p:txBody>
      </p:sp>
      <p:sp>
        <p:nvSpPr>
          <p:cNvPr id="1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40D8C45B-C7A9-426F-9A94-FBD47CC2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1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5DE6A2F2-232B-497A-9D04-F50DC31B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现象、机制和外部验证共同决定结论可信度。</a:t>
            </a:r>
          </a:p>
        </p:txBody>
      </p:sp>
    </p:spTree>
    <p:extLst>
      <p:ext uri="{BB962C8B-B14F-4D97-AF65-F5344CB8AC3E}">
        <p14:creationId xmlns:p14="http://schemas.microsoft.com/office/powerpoint/2010/main" val="10107852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69A9F6B8-70A2-4FED-A128-A7D7E8E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197E16-C946-4205-A461-F5775840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图表结果：趋势之后必须给出解释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6B1AF285-1DAB-43DC-8058-FEDBDB6C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274A2EEC-DC73-48FA-851A-43B7029A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3AE8F14F-38B7-4204-B383-B589A69B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1D964DAA-4632-4D98-9736-16161EFD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B31BA9B-F650-49D4-A9A6-C2299D3C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33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e84ec4951b47fe"/>
          </a:graphicData>
        </a:graphic>
      </p:graphicFrame>
      <p:sp>
        <p:nvSpPr>
          <p:cNvPr id="9" name="chart-claim">
            <a:extLst xmlns:a="http://schemas.openxmlformats.org/drawingml/2006/main">
              <a:ext uri="{FF2B5EF4-FFF2-40B4-BE49-F238E27FC236}">
                <a16:creationId xmlns:a16="http://schemas.microsoft.com/office/drawing/2014/main" id="{59FE6514-82C7-4BC4-8A8E-656EB010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47850"/>
            <a:ext cx="3124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462"/>
          </a:bodyPr>
          <a:lstStyle xmlns:a="http://schemas.openxmlformats.org/drawingml/2006/main"/>
          <a:p xmlns:a="http://schemas.openxmlformats.org/drawingml/2006/main">
            <a:pPr algn="l">
              <a:defRPr sz="26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效应随条件增强，但在高水平区域出现平台。</a:t>
            </a:r>
          </a:p>
        </p:txBody>
      </p:sp>
      <p:sp>
        <p:nvSpPr>
          <p:cNvPr id="1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DE36F4C-94C2-4106-9CAC-B7ABEB26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914900"/>
            <a:ext cx="312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+23.8 %</a:t>
            </a:r>
          </a:p>
        </p:txBody>
      </p:sp>
      <p:sp>
        <p:nvSpPr>
          <p:cNvPr id="1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39AF6E4-4815-4748-A9C1-96063719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相对基线</a:t>
            </a:r>
          </a:p>
        </p:txBody>
      </p:sp>
    </p:spTree>
    <p:extLst>
      <p:ext uri="{BB962C8B-B14F-4D97-AF65-F5344CB8AC3E}">
        <p14:creationId xmlns:p14="http://schemas.microsoft.com/office/powerpoint/2010/main" val="19828368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F5AABE29-293E-47EB-8D40-86E7A517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6DCAB4-C188-4483-AA93-6311660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机制解释：图中关系必须能被口头逐步追踪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FAF3F4E7-6E21-4E85-A25F-3560586A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方法与证据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3A035EA2-7ACC-4730-9044-3173449F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502E9AEB-080D-4D11-B373-174CD586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EFB397CF-8F32-4FB3-B7C1-DCDBC962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474168A-E808-4129-BB74-0FB2E66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8" name="primary-evidence-image-frame">
            <a:extLst xmlns:a="http://schemas.openxmlformats.org/drawingml/2006/main">
              <a:ext uri="{FF2B5EF4-FFF2-40B4-BE49-F238E27FC236}">
                <a16:creationId xmlns:a16="http://schemas.microsoft.com/office/drawing/2014/main" id="{40860B07-5BB0-4DCD-A10E-BDA4DD7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4483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9" name="primary-evidence-image-placeholder">
            <a:extLst xmlns:a="http://schemas.openxmlformats.org/drawingml/2006/main">
              <a:ext uri="{FF2B5EF4-FFF2-40B4-BE49-F238E27FC236}">
                <a16:creationId xmlns:a16="http://schemas.microsoft.com/office/drawing/2014/main" id="{EF0C7D8A-C3ED-443F-AC89-5617C0F8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724025"/>
            <a:ext cx="53149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论文证据图示意槽位</a:t>
            </a:r>
          </a:p>
        </p:txBody>
      </p:sp>
      <p:sp>
        <p:nvSpPr>
          <p:cNvPr id="10" name="image-interpretation-claim">
            <a:extLst xmlns:a="http://schemas.openxmlformats.org/drawingml/2006/main">
              <a:ext uri="{FF2B5EF4-FFF2-40B4-BE49-F238E27FC236}">
                <a16:creationId xmlns:a16="http://schemas.microsoft.com/office/drawing/2014/main" id="{D33DAF17-1160-4A9F-9B6B-3FB478E5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关键中介连接输入与输出，并受边界条件调节。</a:t>
            </a:r>
          </a:p>
        </p:txBody>
      </p:sp>
      <p:sp>
        <p:nvSpPr>
          <p:cNvPr id="11" name="image-interpretation-bullets">
            <a:extLst xmlns:a="http://schemas.openxmlformats.org/drawingml/2006/main">
              <a:ext uri="{FF2B5EF4-FFF2-40B4-BE49-F238E27FC236}">
                <a16:creationId xmlns:a16="http://schemas.microsoft.com/office/drawing/2014/main" id="{45C48E96-E911-4C15-9D7A-DECFF317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5143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输入首先改变关键中介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中介再驱动可观测输出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边界条件决定效应是否成立</a:t>
            </a:r>
          </a:p>
        </p:txBody>
      </p:sp>
      <p:sp>
        <p:nvSpPr>
          <p:cNvPr id="12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DF039117-F705-4456-89A3-5C918987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b">
            <a:normAutofit fontScale="9097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1 条</a:t>
            </a:r>
          </a:p>
        </p:txBody>
      </p:sp>
      <p:sp>
        <p:nvSpPr>
          <p:cNvPr id="13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4426C721-EEF9-4A4D-AA8E-CBE5E455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86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1071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关键路径</a:t>
            </a:r>
          </a:p>
        </p:txBody>
      </p:sp>
    </p:spTree>
    <p:extLst>
      <p:ext uri="{BB962C8B-B14F-4D97-AF65-F5344CB8AC3E}">
        <p14:creationId xmlns:p14="http://schemas.microsoft.com/office/powerpoint/2010/main" val="8426806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C870547A-6464-4975-9089-9B738FFE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233B87-FA5E-4EA1-95E3-9D78CF8E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把作者主张、证据与边界分开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E6F4A0E7-7CE5-43C3-8ABB-87A5C99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A03386E5-A386-4958-A12F-6647429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3604D00D-1449-4B73-B385-9C55FC99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781D4559-D892-4B9D-9D69-2271E9FE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8CCC096-FC7C-4704-BC88-4CBB6D18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author-claim-panel">
            <a:extLst xmlns:a="http://schemas.openxmlformats.org/drawingml/2006/main">
              <a:ext uri="{FF2B5EF4-FFF2-40B4-BE49-F238E27FC236}">
                <a16:creationId xmlns:a16="http://schemas.microsoft.com/office/drawing/2014/main" id="{1C97556C-D693-4F8B-B945-25C9D539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219450" cy="37147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9" name="author-claim-label">
            <a:extLst xmlns:a="http://schemas.openxmlformats.org/drawingml/2006/main">
              <a:ext uri="{FF2B5EF4-FFF2-40B4-BE49-F238E27FC236}">
                <a16:creationId xmlns:a16="http://schemas.microsoft.com/office/drawing/2014/main" id="{32CA126E-A0EC-4C01-A68B-5900668D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DDE5F4"/>
                </a:solidFill>
                <a:latin typeface="Microsoft YaHei"/>
                <a:ea typeface="Microsoft YaHei"/>
                <a:cs typeface="Microsoft YaHei"/>
              </a:rPr>
              <a:t>作者主张</a:t>
            </a:r>
          </a:p>
        </p:txBody>
      </p:sp>
      <p:sp>
        <p:nvSpPr>
          <p:cNvPr id="10" name="author-claim-text">
            <a:extLst xmlns:a="http://schemas.openxmlformats.org/drawingml/2006/main">
              <a:ext uri="{FF2B5EF4-FFF2-40B4-BE49-F238E27FC236}">
                <a16:creationId xmlns:a16="http://schemas.microsoft.com/office/drawing/2014/main" id="{7D0BCFAC-8B19-4CE1-A227-4962192A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26860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作者认为关键中介是现象变化的主要驱动因素。</a:t>
            </a:r>
          </a:p>
        </p:txBody>
      </p:sp>
      <p:sp>
        <p:nvSpPr>
          <p:cNvPr id="11" name="claim-evidence-label">
            <a:extLst xmlns:a="http://schemas.openxmlformats.org/drawingml/2006/main">
              <a:ext uri="{FF2B5EF4-FFF2-40B4-BE49-F238E27FC236}">
                <a16:creationId xmlns:a16="http://schemas.microsoft.com/office/drawing/2014/main" id="{B8978549-9C5B-481E-9052-339FB238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62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证据链</a:t>
            </a:r>
          </a:p>
        </p:txBody>
      </p:sp>
      <p:sp>
        <p:nvSpPr>
          <p:cNvPr id="12" name="claim-evidence-item-1">
            <a:extLst xmlns:a="http://schemas.openxmlformats.org/drawingml/2006/main">
              <a:ext uri="{FF2B5EF4-FFF2-40B4-BE49-F238E27FC236}">
                <a16:creationId xmlns:a16="http://schemas.microsoft.com/office/drawing/2014/main" id="{BA1C805D-A942-4C1B-BD55-586E6140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3981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6682B3"/>
            </a:solidFill>
            <a:prstDash val="solid"/>
          </a:ln>
        </p:spPr>
      </p:sp>
      <p:sp>
        <p:nvSpPr>
          <p:cNvPr id="13" name="claim-evidence-item-title-1">
            <a:extLst xmlns:a="http://schemas.openxmlformats.org/drawingml/2006/main">
              <a:ext uri="{FF2B5EF4-FFF2-40B4-BE49-F238E27FC236}">
                <a16:creationId xmlns:a16="http://schemas.microsoft.com/office/drawing/2014/main" id="{C1002E7E-A1F5-4CDF-A990-36BCD099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直接证据</a:t>
            </a:r>
          </a:p>
        </p:txBody>
      </p:sp>
      <p:sp>
        <p:nvSpPr>
          <p:cNvPr id="14" name="claim-evidence-item-body-1">
            <a:extLst xmlns:a="http://schemas.openxmlformats.org/drawingml/2006/main">
              <a:ext uri="{FF2B5EF4-FFF2-40B4-BE49-F238E27FC236}">
                <a16:creationId xmlns:a16="http://schemas.microsoft.com/office/drawing/2014/main" id="{D07BDD73-3D3B-489F-A6F9-D5602FFD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干预中介后主要结果同步变化。</a:t>
            </a:r>
          </a:p>
        </p:txBody>
      </p:sp>
      <p:sp>
        <p:nvSpPr>
          <p:cNvPr id="15" name="claim-evidence-item-2">
            <a:extLst xmlns:a="http://schemas.openxmlformats.org/drawingml/2006/main">
              <a:ext uri="{FF2B5EF4-FFF2-40B4-BE49-F238E27FC236}">
                <a16:creationId xmlns:a16="http://schemas.microsoft.com/office/drawing/2014/main" id="{B2985763-182A-4164-82FD-8814905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05150"/>
            <a:ext cx="3981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6" name="claim-evidence-item-title-2">
            <a:extLst xmlns:a="http://schemas.openxmlformats.org/drawingml/2006/main">
              <a:ext uri="{FF2B5EF4-FFF2-40B4-BE49-F238E27FC236}">
                <a16:creationId xmlns:a16="http://schemas.microsoft.com/office/drawing/2014/main" id="{F41BD0B4-5A39-46A0-80D8-6E4279F5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00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一致性证据</a:t>
            </a:r>
          </a:p>
        </p:txBody>
      </p:sp>
      <p:sp>
        <p:nvSpPr>
          <p:cNvPr id="17" name="claim-evidence-item-body-2">
            <a:extLst xmlns:a="http://schemas.openxmlformats.org/drawingml/2006/main">
              <a:ext uri="{FF2B5EF4-FFF2-40B4-BE49-F238E27FC236}">
                <a16:creationId xmlns:a16="http://schemas.microsoft.com/office/drawing/2014/main" id="{1B1031A4-1581-4C01-8A53-72915555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独立方法得到相同方向结果。</a:t>
            </a:r>
          </a:p>
        </p:txBody>
      </p:sp>
      <p:sp>
        <p:nvSpPr>
          <p:cNvPr id="18" name="claim-boundary-panel">
            <a:extLst xmlns:a="http://schemas.openxmlformats.org/drawingml/2006/main">
              <a:ext uri="{FF2B5EF4-FFF2-40B4-BE49-F238E27FC236}">
                <a16:creationId xmlns:a16="http://schemas.microsoft.com/office/drawing/2014/main" id="{591F7B6A-663A-48C9-A7C6-6025D07A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24000"/>
            <a:ext cx="3048000" cy="3714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14288">
            <a:solidFill>
              <a:srgbClr val="C7922C"/>
            </a:solidFill>
            <a:prstDash val="solid"/>
          </a:ln>
        </p:spPr>
      </p:sp>
      <p:sp>
        <p:nvSpPr>
          <p:cNvPr id="19" name="claim-boundary-label">
            <a:extLst xmlns:a="http://schemas.openxmlformats.org/drawingml/2006/main">
              <a:ext uri="{FF2B5EF4-FFF2-40B4-BE49-F238E27FC236}">
                <a16:creationId xmlns:a16="http://schemas.microsoft.com/office/drawing/2014/main" id="{2FDA6173-78B9-443E-A2A9-EE0A36D4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rPr>
              <a:t>汇报者边界判断</a:t>
            </a:r>
          </a:p>
        </p:txBody>
      </p:sp>
      <p:sp>
        <p:nvSpPr>
          <p:cNvPr id="20" name="claim-boundary-text">
            <a:extLst xmlns:a="http://schemas.openxmlformats.org/drawingml/2006/main">
              <a:ext uri="{FF2B5EF4-FFF2-40B4-BE49-F238E27FC236}">
                <a16:creationId xmlns:a16="http://schemas.microsoft.com/office/drawing/2014/main" id="{61C6FAD5-2577-4A29-B445-B79D53D4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5527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现有证据尚不能排除长期适应与样本选择的影响。</a:t>
            </a:r>
          </a:p>
        </p:txBody>
      </p:sp>
      <p:sp>
        <p:nvSpPr>
          <p:cNvPr id="21" name="claim-boundary-reminder">
            <a:extLst xmlns:a="http://schemas.openxmlformats.org/drawingml/2006/main">
              <a:ext uri="{FF2B5EF4-FFF2-40B4-BE49-F238E27FC236}">
                <a16:creationId xmlns:a16="http://schemas.microsoft.com/office/drawing/2014/main" id="{B4723E22-FE84-49E8-9928-B986502D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291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作者声称 ≠ 汇报者认同</a:t>
            </a:r>
          </a:p>
        </p:txBody>
      </p:sp>
      <p:sp>
        <p:nvSpPr>
          <p:cNvPr id="22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243AA757-7C8C-47ED-B9CA-A51622E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3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967E33C7-250A-4705-8D87-F7AC6B8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可接受机制方向，但</a:t>
            </a:r>
            <a:r>
              <a:rPr sz="1700" b="1" i="0">
                <a:solidFill>
                  <a:srgbClr val="B4233A"/>
                </a:solidFill>
                <a:latin typeface="Microsoft YaHei"/>
                <a:ea typeface="Microsoft YaHei"/>
                <a:cs typeface="Microsoft YaHei"/>
              </a:rPr>
              <a:t>因果强度</a:t>
            </a: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和适用范围仍需验证。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21231414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CFF534D9-1D34-44DF-8AAA-8211A16F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9EFE67-07B4-43FB-BF2D-42B10F3E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单篇论文结论：发现、依据与未证明内容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52BC4CF4-F5A8-4706-AF71-0579F640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284E9026-F4AF-4548-A58C-BA595007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C6638E97-C888-40D3-98DD-D55E2B07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184C6050-60E1-49F0-B113-955553AA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EE225BF-C5F8-4B9D-AD7E-4436904E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" name="paper-conclusion-row-1">
            <a:extLst xmlns:a="http://schemas.openxmlformats.org/drawingml/2006/main">
              <a:ext uri="{FF2B5EF4-FFF2-40B4-BE49-F238E27FC236}">
                <a16:creationId xmlns:a16="http://schemas.microsoft.com/office/drawing/2014/main" id="{3B37845B-C06E-4647-BE15-0A43EE9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9" name="paper-conclusion-label-1">
            <a:extLst xmlns:a="http://schemas.openxmlformats.org/drawingml/2006/main">
              <a:ext uri="{FF2B5EF4-FFF2-40B4-BE49-F238E27FC236}">
                <a16:creationId xmlns:a16="http://schemas.microsoft.com/office/drawing/2014/main" id="{43B70E06-3A10-420D-A8AF-C9536E4D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发现了什么</a:t>
            </a:r>
          </a:p>
        </p:txBody>
      </p:sp>
      <p:sp>
        <p:nvSpPr>
          <p:cNvPr id="10" name="paper-conclusion-rule-1">
            <a:extLst xmlns:a="http://schemas.openxmlformats.org/drawingml/2006/main">
              <a:ext uri="{FF2B5EF4-FFF2-40B4-BE49-F238E27FC236}">
                <a16:creationId xmlns:a16="http://schemas.microsoft.com/office/drawing/2014/main" id="{91106B69-5B9B-4CEF-B683-37B119FE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764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1" name="paper-conclusion-text-1">
            <a:extLst xmlns:a="http://schemas.openxmlformats.org/drawingml/2006/main">
              <a:ext uri="{FF2B5EF4-FFF2-40B4-BE49-F238E27FC236}">
                <a16:creationId xmlns:a16="http://schemas.microsoft.com/office/drawing/2014/main" id="{2A53D3FD-3A29-4295-82B8-F67E77ED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00200"/>
            <a:ext cx="8343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关键中介在目标条件下改变主要结果。</a:t>
            </a:r>
          </a:p>
        </p:txBody>
      </p:sp>
      <p:sp>
        <p:nvSpPr>
          <p:cNvPr id="12" name="paper-conclusion-row-2">
            <a:extLst xmlns:a="http://schemas.openxmlformats.org/drawingml/2006/main">
              <a:ext uri="{FF2B5EF4-FFF2-40B4-BE49-F238E27FC236}">
                <a16:creationId xmlns:a16="http://schemas.microsoft.com/office/drawing/2014/main" id="{6B1369FC-EB48-4E24-8D01-637216E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11125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3" name="paper-conclusion-label-2">
            <a:extLst xmlns:a="http://schemas.openxmlformats.org/drawingml/2006/main">
              <a:ext uri="{FF2B5EF4-FFF2-40B4-BE49-F238E27FC236}">
                <a16:creationId xmlns:a16="http://schemas.microsoft.com/office/drawing/2014/main" id="{61CAC244-A9DE-452F-BB60-2AAD3C9E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凭什么相信</a:t>
            </a:r>
          </a:p>
        </p:txBody>
      </p:sp>
      <p:sp>
        <p:nvSpPr>
          <p:cNvPr id="14" name="paper-conclusion-rule-2">
            <a:extLst xmlns:a="http://schemas.openxmlformats.org/drawingml/2006/main">
              <a:ext uri="{FF2B5EF4-FFF2-40B4-BE49-F238E27FC236}">
                <a16:creationId xmlns:a16="http://schemas.microsoft.com/office/drawing/2014/main" id="{5A936DCD-9406-4E44-8A1B-1E95BD41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480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5" name="paper-conclusion-text-2">
            <a:extLst xmlns:a="http://schemas.openxmlformats.org/drawingml/2006/main">
              <a:ext uri="{FF2B5EF4-FFF2-40B4-BE49-F238E27FC236}">
                <a16:creationId xmlns:a16="http://schemas.microsoft.com/office/drawing/2014/main" id="{4E60DE91-9BA3-4F4D-94D0-6EA8DE10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8343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干预、对照和独立样本提供方向一致的证据。</a:t>
            </a:r>
          </a:p>
        </p:txBody>
      </p:sp>
      <p:sp>
        <p:nvSpPr>
          <p:cNvPr id="16" name="paper-conclusion-row-3">
            <a:extLst xmlns:a="http://schemas.openxmlformats.org/drawingml/2006/main">
              <a:ext uri="{FF2B5EF4-FFF2-40B4-BE49-F238E27FC236}">
                <a16:creationId xmlns:a16="http://schemas.microsoft.com/office/drawing/2014/main" id="{4331440A-C835-492B-A556-A397F0FE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11252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</p:sp>
      <p:sp>
        <p:nvSpPr>
          <p:cNvPr id="17" name="paper-conclusion-label-3">
            <a:extLst xmlns:a="http://schemas.openxmlformats.org/drawingml/2006/main">
              <a:ext uri="{FF2B5EF4-FFF2-40B4-BE49-F238E27FC236}">
                <a16:creationId xmlns:a16="http://schemas.microsoft.com/office/drawing/2014/main" id="{A7F4198E-2ECB-452C-B75B-45CAF73B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rPr>
              <a:t>尚未证明</a:t>
            </a:r>
          </a:p>
        </p:txBody>
      </p:sp>
      <p:sp>
        <p:nvSpPr>
          <p:cNvPr id="18" name="paper-conclusion-rule-3">
            <a:extLst xmlns:a="http://schemas.openxmlformats.org/drawingml/2006/main">
              <a:ext uri="{FF2B5EF4-FFF2-40B4-BE49-F238E27FC236}">
                <a16:creationId xmlns:a16="http://schemas.microsoft.com/office/drawing/2014/main" id="{84ECB392-C5EA-4341-99F7-595A4EF2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96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0">
            <a:solidFill>
              <a:srgbClr val="C7922C"/>
            </a:solidFill>
            <a:prstDash val="solid"/>
          </a:ln>
        </p:spPr>
      </p:sp>
      <p:sp>
        <p:nvSpPr>
          <p:cNvPr id="19" name="paper-conclusion-text-3">
            <a:extLst xmlns:a="http://schemas.openxmlformats.org/drawingml/2006/main">
              <a:ext uri="{FF2B5EF4-FFF2-40B4-BE49-F238E27FC236}">
                <a16:creationId xmlns:a16="http://schemas.microsoft.com/office/drawing/2014/main" id="{A7644374-BC59-4761-873F-91D7C3F8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43400"/>
            <a:ext cx="8343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尚未证明该机制在所有场景或长期尺度都成立。</a:t>
            </a:r>
          </a:p>
        </p:txBody>
      </p:sp>
      <p:sp>
        <p:nvSpPr>
          <p:cNvPr id="20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5CEEB49D-950C-4109-A946-B596B8BA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1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75C9EBD2-2F24-4ABF-97B8-E66126AF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核心结论可作为工作假设，而不是无条件事实。</a:t>
            </a:r>
          </a:p>
        </p:txBody>
      </p:sp>
    </p:spTree>
    <p:extLst>
      <p:ext uri="{BB962C8B-B14F-4D97-AF65-F5344CB8AC3E}">
        <p14:creationId xmlns:p14="http://schemas.microsoft.com/office/powerpoint/2010/main" val="2110512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756461B6-CCB5-4FA4-B6D8-681A57B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8DFCEA-7EA8-484D-A0AE-62F1868D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批判性阅读：同时回答可信与不可信之处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897B6B2D-A90C-4CD6-98FE-B38E13CB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EBA446A2-7B18-4C2D-8CA0-97D2F97F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F4A3B6AA-3A6B-4BFB-90D8-53E76412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6036F8F3-19D2-43F1-9746-03933AD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32FC0A4-D843-46C7-BBBE-77788C94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8" name="appraisal-header-1">
            <a:extLst xmlns:a="http://schemas.openxmlformats.org/drawingml/2006/main">
              <a:ext uri="{FF2B5EF4-FFF2-40B4-BE49-F238E27FC236}">
                <a16:creationId xmlns:a16="http://schemas.microsoft.com/office/drawing/2014/main" id="{472AA382-0A04-4D2D-BFAD-6E3D649C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467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  <p:txBody>
          <a:bodyPr xmlns:a="http://schemas.openxmlformats.org/drawingml/2006/main" anchor="ctr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可信之处</a:t>
            </a:r>
          </a:p>
        </p:txBody>
      </p:sp>
      <p:sp>
        <p:nvSpPr>
          <p:cNvPr id="9" name="appraisal-row-1-1">
            <a:extLst xmlns:a="http://schemas.openxmlformats.org/drawingml/2006/main">
              <a:ext uri="{FF2B5EF4-FFF2-40B4-BE49-F238E27FC236}">
                <a16:creationId xmlns:a16="http://schemas.microsoft.com/office/drawing/2014/main" id="{48340532-E862-4CF1-9407-8B971705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0" name="appraisal-index-1-1">
            <a:extLst xmlns:a="http://schemas.openxmlformats.org/drawingml/2006/main">
              <a:ext uri="{FF2B5EF4-FFF2-40B4-BE49-F238E27FC236}">
                <a16:creationId xmlns:a16="http://schemas.microsoft.com/office/drawing/2014/main" id="{D1AFE419-F16D-4AE5-ADC7-CAB41F5A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appraisal-text-1-1">
            <a:extLst xmlns:a="http://schemas.openxmlformats.org/drawingml/2006/main">
              <a:ext uri="{FF2B5EF4-FFF2-40B4-BE49-F238E27FC236}">
                <a16:creationId xmlns:a16="http://schemas.microsoft.com/office/drawing/2014/main" id="{7EB52FCC-A9EF-4997-8843-43D9F064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研究问题与设计匹配</a:t>
            </a:r>
          </a:p>
        </p:txBody>
      </p:sp>
      <p:sp>
        <p:nvSpPr>
          <p:cNvPr id="12" name="appraisal-row-1-2">
            <a:extLst xmlns:a="http://schemas.openxmlformats.org/drawingml/2006/main">
              <a:ext uri="{FF2B5EF4-FFF2-40B4-BE49-F238E27FC236}">
                <a16:creationId xmlns:a16="http://schemas.microsoft.com/office/drawing/2014/main" id="{6D61CE3D-8A4B-489C-8230-851F770A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3" name="appraisal-index-1-2">
            <a:extLst xmlns:a="http://schemas.openxmlformats.org/drawingml/2006/main">
              <a:ext uri="{FF2B5EF4-FFF2-40B4-BE49-F238E27FC236}">
                <a16:creationId xmlns:a16="http://schemas.microsoft.com/office/drawing/2014/main" id="{6FE15E29-6B01-4F53-8A57-857B8525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appraisal-text-1-2">
            <a:extLst xmlns:a="http://schemas.openxmlformats.org/drawingml/2006/main">
              <a:ext uri="{FF2B5EF4-FFF2-40B4-BE49-F238E27FC236}">
                <a16:creationId xmlns:a16="http://schemas.microsoft.com/office/drawing/2014/main" id="{FA7493DA-23C6-48C8-B589-801F383D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关键对照充分</a:t>
            </a:r>
          </a:p>
        </p:txBody>
      </p:sp>
      <p:sp>
        <p:nvSpPr>
          <p:cNvPr id="15" name="appraisal-row-1-3">
            <a:extLst xmlns:a="http://schemas.openxmlformats.org/drawingml/2006/main">
              <a:ext uri="{FF2B5EF4-FFF2-40B4-BE49-F238E27FC236}">
                <a16:creationId xmlns:a16="http://schemas.microsoft.com/office/drawing/2014/main" id="{9862874F-1C63-45E4-BFAF-890C7CB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6" name="appraisal-index-1-3">
            <a:extLst xmlns:a="http://schemas.openxmlformats.org/drawingml/2006/main">
              <a:ext uri="{FF2B5EF4-FFF2-40B4-BE49-F238E27FC236}">
                <a16:creationId xmlns:a16="http://schemas.microsoft.com/office/drawing/2014/main" id="{88C14A1E-E19D-4D8A-882E-ADFE867F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appraisal-text-1-3">
            <a:extLst xmlns:a="http://schemas.openxmlformats.org/drawingml/2006/main">
              <a:ext uri="{FF2B5EF4-FFF2-40B4-BE49-F238E27FC236}">
                <a16:creationId xmlns:a16="http://schemas.microsoft.com/office/drawing/2014/main" id="{1657E3AD-C230-486B-880E-F308AF40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719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结论边界较清楚</a:t>
            </a:r>
          </a:p>
        </p:txBody>
      </p:sp>
      <p:sp>
        <p:nvSpPr>
          <p:cNvPr id="18" name="appraisal-header-2">
            <a:extLst xmlns:a="http://schemas.openxmlformats.org/drawingml/2006/main">
              <a:ext uri="{FF2B5EF4-FFF2-40B4-BE49-F238E27FC236}">
                <a16:creationId xmlns:a16="http://schemas.microsoft.com/office/drawing/2014/main" id="{3A462A10-9A51-47D7-9344-D6B36FA3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4673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22C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  <p:txBody>
          <a:bodyPr xmlns:a="http://schemas.openxmlformats.org/drawingml/2006/main" anchor="ctr">
            <a:normAutofit fontScale="78510"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需要警惕</a:t>
            </a:r>
          </a:p>
        </p:txBody>
      </p:sp>
      <p:sp>
        <p:nvSpPr>
          <p:cNvPr id="19" name="appraisal-row-2-1">
            <a:extLst xmlns:a="http://schemas.openxmlformats.org/drawingml/2006/main">
              <a:ext uri="{FF2B5EF4-FFF2-40B4-BE49-F238E27FC236}">
                <a16:creationId xmlns:a16="http://schemas.microsoft.com/office/drawing/2014/main" id="{68361E7E-BFFB-4A92-B98E-D9DE6298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</p:sp>
      <p:sp>
        <p:nvSpPr>
          <p:cNvPr id="20" name="appraisal-index-2-1">
            <a:extLst xmlns:a="http://schemas.openxmlformats.org/drawingml/2006/main">
              <a:ext uri="{FF2B5EF4-FFF2-40B4-BE49-F238E27FC236}">
                <a16:creationId xmlns:a16="http://schemas.microsoft.com/office/drawing/2014/main" id="{6C49C682-AF90-48F6-BF93-51BA3411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C7922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C7922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1" name="appraisal-text-2-1">
            <a:extLst xmlns:a="http://schemas.openxmlformats.org/drawingml/2006/main">
              <a:ext uri="{FF2B5EF4-FFF2-40B4-BE49-F238E27FC236}">
                <a16:creationId xmlns:a16="http://schemas.microsoft.com/office/drawing/2014/main" id="{7F275819-CF05-4A98-AF8C-5ACE29CC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样本外推受限</a:t>
            </a:r>
          </a:p>
        </p:txBody>
      </p:sp>
      <p:sp>
        <p:nvSpPr>
          <p:cNvPr id="22" name="appraisal-row-2-2">
            <a:extLst xmlns:a="http://schemas.openxmlformats.org/drawingml/2006/main">
              <a:ext uri="{FF2B5EF4-FFF2-40B4-BE49-F238E27FC236}">
                <a16:creationId xmlns:a16="http://schemas.microsoft.com/office/drawing/2014/main" id="{E82746EA-4C2A-444B-9360-32800807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</p:sp>
      <p:sp>
        <p:nvSpPr>
          <p:cNvPr id="23" name="appraisal-index-2-2">
            <a:extLst xmlns:a="http://schemas.openxmlformats.org/drawingml/2006/main">
              <a:ext uri="{FF2B5EF4-FFF2-40B4-BE49-F238E27FC236}">
                <a16:creationId xmlns:a16="http://schemas.microsoft.com/office/drawing/2014/main" id="{27B0FB5D-E694-46D9-8351-AD0BA49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908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C7922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C7922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appraisal-text-2-2">
            <a:extLst xmlns:a="http://schemas.openxmlformats.org/drawingml/2006/main">
              <a:ext uri="{FF2B5EF4-FFF2-40B4-BE49-F238E27FC236}">
                <a16:creationId xmlns:a16="http://schemas.microsoft.com/office/drawing/2014/main" id="{3DDF77E7-6D59-4DAF-8371-F23EA02D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替代解释未完全排除</a:t>
            </a:r>
          </a:p>
        </p:txBody>
      </p:sp>
      <p:sp>
        <p:nvSpPr>
          <p:cNvPr id="25" name="appraisal-row-2-3">
            <a:extLst xmlns:a="http://schemas.openxmlformats.org/drawingml/2006/main">
              <a:ext uri="{FF2B5EF4-FFF2-40B4-BE49-F238E27FC236}">
                <a16:creationId xmlns:a16="http://schemas.microsoft.com/office/drawing/2014/main" id="{F663BB87-8FD6-4525-96D1-3A926AA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54673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</p:sp>
      <p:sp>
        <p:nvSpPr>
          <p:cNvPr id="26" name="appraisal-index-2-3">
            <a:extLst xmlns:a="http://schemas.openxmlformats.org/drawingml/2006/main">
              <a:ext uri="{FF2B5EF4-FFF2-40B4-BE49-F238E27FC236}">
                <a16:creationId xmlns:a16="http://schemas.microsoft.com/office/drawing/2014/main" id="{4F260551-AC3B-46E0-8F9D-FA066EEA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C7922C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C7922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appraisal-text-2-3">
            <a:extLst xmlns:a="http://schemas.openxmlformats.org/drawingml/2006/main">
              <a:ext uri="{FF2B5EF4-FFF2-40B4-BE49-F238E27FC236}">
                <a16:creationId xmlns:a16="http://schemas.microsoft.com/office/drawing/2014/main" id="{31D2287C-3237-45AC-888C-4D3E1EA5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部分复现信息缺失</a:t>
            </a:r>
          </a:p>
        </p:txBody>
      </p:sp>
      <p:sp>
        <p:nvSpPr>
          <p:cNvPr id="2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D80A8EA-80D3-40DE-968F-E32ADF17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9B303A3F-FEEB-4312-81AE-1B507275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51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证据足以支持方向性判断，但不足以支持广泛因果外推。</a:t>
            </a:r>
          </a:p>
        </p:txBody>
      </p:sp>
    </p:spTree>
    <p:extLst>
      <p:ext uri="{BB962C8B-B14F-4D97-AF65-F5344CB8AC3E}">
        <p14:creationId xmlns:p14="http://schemas.microsoft.com/office/powerpoint/2010/main" val="4651715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DFEAEDA3-22F9-4E13-8001-C01135E5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D99EF1-B7C5-4596-8708-EA9313B0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可复现性：从数据可得走到外部验证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7A74C318-CC7D-4F33-9470-8D54ADBE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914196DE-BECA-48FF-9ADA-170898C9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64587697-B4A2-447D-B75E-C6FFFA6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5D5DA804-EE30-4E05-AA3B-3546295A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A728C52-EB08-4092-884F-002F7B34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8" name="repro-index-1">
            <a:extLst xmlns:a="http://schemas.openxmlformats.org/drawingml/2006/main">
              <a:ext uri="{FF2B5EF4-FFF2-40B4-BE49-F238E27FC236}">
                <a16:creationId xmlns:a16="http://schemas.microsoft.com/office/drawing/2014/main" id="{18374F11-9A35-48EA-9375-6383609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pro-title-1">
            <a:extLst xmlns:a="http://schemas.openxmlformats.org/drawingml/2006/main">
              <a:ext uri="{FF2B5EF4-FFF2-40B4-BE49-F238E27FC236}">
                <a16:creationId xmlns:a16="http://schemas.microsoft.com/office/drawing/2014/main" id="{36B077BC-2D60-46A5-9B3F-5C337EA4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数据可得</a:t>
            </a:r>
          </a:p>
        </p:txBody>
      </p:sp>
      <p:sp>
        <p:nvSpPr>
          <p:cNvPr id="10" name="repro-body-1">
            <a:extLst xmlns:a="http://schemas.openxmlformats.org/drawingml/2006/main">
              <a:ext uri="{FF2B5EF4-FFF2-40B4-BE49-F238E27FC236}">
                <a16:creationId xmlns:a16="http://schemas.microsoft.com/office/drawing/2014/main" id="{01436B68-0FEC-43DE-8421-7B392C5D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049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原始数据、纳排规则与预处理。</a:t>
            </a:r>
          </a:p>
        </p:txBody>
      </p:sp>
      <p:sp>
        <p:nvSpPr>
          <p:cNvPr id="11" name="repro-status-1">
            <a:extLst xmlns:a="http://schemas.openxmlformats.org/drawingml/2006/main">
              <a:ext uri="{FF2B5EF4-FFF2-40B4-BE49-F238E27FC236}">
                <a16:creationId xmlns:a16="http://schemas.microsoft.com/office/drawing/2014/main" id="{3879629E-5FCF-46D4-980A-B7BB4114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6287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EDD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12" name="repro-rule-1">
            <a:extLst xmlns:a="http://schemas.openxmlformats.org/drawingml/2006/main">
              <a:ext uri="{FF2B5EF4-FFF2-40B4-BE49-F238E27FC236}">
                <a16:creationId xmlns:a16="http://schemas.microsoft.com/office/drawing/2014/main" id="{A53915F2-A5DC-4B88-91E5-5C87BFFF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3" name="repro-index-2">
            <a:extLst xmlns:a="http://schemas.openxmlformats.org/drawingml/2006/main">
              <a:ext uri="{FF2B5EF4-FFF2-40B4-BE49-F238E27FC236}">
                <a16:creationId xmlns:a16="http://schemas.microsoft.com/office/drawing/2014/main" id="{9F112B0C-AFA3-4D39-A5F1-474DD406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repro-title-2">
            <a:extLst xmlns:a="http://schemas.openxmlformats.org/drawingml/2006/main">
              <a:ext uri="{FF2B5EF4-FFF2-40B4-BE49-F238E27FC236}">
                <a16:creationId xmlns:a16="http://schemas.microsoft.com/office/drawing/2014/main" id="{7EA0C0BC-6AFB-4137-80B5-E713E571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方法可复现</a:t>
            </a:r>
          </a:p>
        </p:txBody>
      </p:sp>
      <p:sp>
        <p:nvSpPr>
          <p:cNvPr id="15" name="repro-body-2">
            <a:extLst xmlns:a="http://schemas.openxmlformats.org/drawingml/2006/main">
              <a:ext uri="{FF2B5EF4-FFF2-40B4-BE49-F238E27FC236}">
                <a16:creationId xmlns:a16="http://schemas.microsoft.com/office/drawing/2014/main" id="{3A807B26-255C-465A-B2E4-06C2A7A9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参数、代码、软件版本与随机性。</a:t>
            </a:r>
          </a:p>
        </p:txBody>
      </p:sp>
      <p:sp>
        <p:nvSpPr>
          <p:cNvPr id="16" name="repro-status-2">
            <a:extLst xmlns:a="http://schemas.openxmlformats.org/drawingml/2006/main">
              <a:ext uri="{FF2B5EF4-FFF2-40B4-BE49-F238E27FC236}">
                <a16:creationId xmlns:a16="http://schemas.microsoft.com/office/drawing/2014/main" id="{C0FFDAC1-187B-42F4-AC47-C5AB11B5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669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E9E8"/>
          </a:solidFill>
          <a:ln xmlns:a="http://schemas.openxmlformats.org/drawingml/2006/main" w="9525">
            <a:solidFill>
              <a:srgbClr val="3C786D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3C78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C786D"/>
                </a:solidFill>
                <a:latin typeface="Microsoft YaHei"/>
                <a:ea typeface="Microsoft YaHei"/>
                <a:cs typeface="Microsoft YaHei"/>
              </a:rPr>
              <a:t>可核</a:t>
            </a:r>
          </a:p>
        </p:txBody>
      </p:sp>
      <p:sp>
        <p:nvSpPr>
          <p:cNvPr id="17" name="repro-rule-2">
            <a:extLst xmlns:a="http://schemas.openxmlformats.org/drawingml/2006/main">
              <a:ext uri="{FF2B5EF4-FFF2-40B4-BE49-F238E27FC236}">
                <a16:creationId xmlns:a16="http://schemas.microsoft.com/office/drawing/2014/main" id="{D4D721C1-8BFC-4ED1-8573-2C114DC5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670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8" name="repro-index-3">
            <a:extLst xmlns:a="http://schemas.openxmlformats.org/drawingml/2006/main">
              <a:ext uri="{FF2B5EF4-FFF2-40B4-BE49-F238E27FC236}">
                <a16:creationId xmlns:a16="http://schemas.microsoft.com/office/drawing/2014/main" id="{9111DDC8-3AF0-43BA-9115-88113F3E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repro-title-3">
            <a:extLst xmlns:a="http://schemas.openxmlformats.org/drawingml/2006/main">
              <a:ext uri="{FF2B5EF4-FFF2-40B4-BE49-F238E27FC236}">
                <a16:creationId xmlns:a16="http://schemas.microsoft.com/office/drawing/2014/main" id="{3A9F0DB2-21F0-4ACF-B703-8486B7E4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结果可重算</a:t>
            </a:r>
          </a:p>
        </p:txBody>
      </p:sp>
      <p:sp>
        <p:nvSpPr>
          <p:cNvPr id="20" name="repro-body-3">
            <a:extLst xmlns:a="http://schemas.openxmlformats.org/drawingml/2006/main">
              <a:ext uri="{FF2B5EF4-FFF2-40B4-BE49-F238E27FC236}">
                <a16:creationId xmlns:a16="http://schemas.microsoft.com/office/drawing/2014/main" id="{17FA0D15-EBA6-4C96-8C24-3AEF5F1F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813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主要图表与统计口径能够追踪。</a:t>
            </a:r>
          </a:p>
        </p:txBody>
      </p:sp>
      <p:sp>
        <p:nvSpPr>
          <p:cNvPr id="21" name="repro-status-3">
            <a:extLst xmlns:a="http://schemas.openxmlformats.org/drawingml/2006/main">
              <a:ext uri="{FF2B5EF4-FFF2-40B4-BE49-F238E27FC236}">
                <a16:creationId xmlns:a16="http://schemas.microsoft.com/office/drawing/2014/main" id="{990EE3CA-58D0-48B7-84C7-12D4059C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3051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7DD"/>
          </a:solidFill>
          <a:ln xmlns:a="http://schemas.openxmlformats.org/drawingml/2006/main" w="9525">
            <a:solidFill>
              <a:srgbClr val="B46A2C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B46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B46A2C"/>
                </a:solidFill>
                <a:latin typeface="Microsoft YaHei"/>
                <a:ea typeface="Microsoft YaHei"/>
                <a:cs typeface="Microsoft YaHei"/>
              </a:rPr>
              <a:t>待做</a:t>
            </a:r>
          </a:p>
        </p:txBody>
      </p:sp>
      <p:sp>
        <p:nvSpPr>
          <p:cNvPr id="22" name="repro-rule-3">
            <a:extLst xmlns:a="http://schemas.openxmlformats.org/drawingml/2006/main">
              <a:ext uri="{FF2B5EF4-FFF2-40B4-BE49-F238E27FC236}">
                <a16:creationId xmlns:a16="http://schemas.microsoft.com/office/drawing/2014/main" id="{B1253BF3-489F-4DDA-ADE5-E8A3EA4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23" name="repro-index-4">
            <a:extLst xmlns:a="http://schemas.openxmlformats.org/drawingml/2006/main">
              <a:ext uri="{FF2B5EF4-FFF2-40B4-BE49-F238E27FC236}">
                <a16:creationId xmlns:a16="http://schemas.microsoft.com/office/drawing/2014/main" id="{A325E322-4593-48EF-BB7C-91A51842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7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repro-title-4">
            <a:extLst xmlns:a="http://schemas.openxmlformats.org/drawingml/2006/main">
              <a:ext uri="{FF2B5EF4-FFF2-40B4-BE49-F238E27FC236}">
                <a16:creationId xmlns:a16="http://schemas.microsoft.com/office/drawing/2014/main" id="{62C06F82-6CCA-47A4-A0D4-6A35BA76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外部可验证</a:t>
            </a:r>
          </a:p>
        </p:txBody>
      </p:sp>
      <p:sp>
        <p:nvSpPr>
          <p:cNvPr id="25" name="repro-body-4">
            <a:extLst xmlns:a="http://schemas.openxmlformats.org/drawingml/2006/main">
              <a:ext uri="{FF2B5EF4-FFF2-40B4-BE49-F238E27FC236}">
                <a16:creationId xmlns:a16="http://schemas.microsoft.com/office/drawing/2014/main" id="{79FB0094-4F65-4D37-AA64-F6721363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独立样本或替代方法支持。</a:t>
            </a:r>
          </a:p>
        </p:txBody>
      </p:sp>
      <p:sp>
        <p:nvSpPr>
          <p:cNvPr id="26" name="repro-status-4">
            <a:extLst xmlns:a="http://schemas.openxmlformats.org/drawingml/2006/main">
              <a:ext uri="{FF2B5EF4-FFF2-40B4-BE49-F238E27FC236}">
                <a16:creationId xmlns:a16="http://schemas.microsoft.com/office/drawing/2014/main" id="{0658223B-C7D7-47BF-A8EA-8BD9F15F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43375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1E2"/>
          </a:solidFill>
          <a:ln xmlns:a="http://schemas.openxmlformats.org/drawingml/2006/main" w="9525">
            <a:solidFill>
              <a:srgbClr val="A5424A"/>
            </a:solidFill>
            <a:prstDash val="solid"/>
          </a:ln>
        </p:spPr>
        <p:txBody>
          <a:bodyPr xmlns:a="http://schemas.openxmlformats.org/drawingml/2006/main" anchor="ctr">
            <a:normAutofit fontScale="77099"/>
          </a:bodyPr>
          <a:lstStyle xmlns:a="http://schemas.openxmlformats.org/drawingml/2006/main"/>
          <a:p xmlns:a="http://schemas.openxmlformats.org/drawingml/2006/main">
            <a:pPr algn="ctr">
              <a:defRPr sz="1400" b="1">
                <a:solidFill>
                  <a:srgbClr val="A54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A5424A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2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FB52E74F-8E90-4172-A6F1-CAC26DD7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1F747CD1-66D3-45C2-B85B-2F9C2AFB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可复现性不是一个标签，而是四层逐步核查。</a:t>
            </a:r>
          </a:p>
        </p:txBody>
      </p:sp>
    </p:spTree>
    <p:extLst>
      <p:ext uri="{BB962C8B-B14F-4D97-AF65-F5344CB8AC3E}">
        <p14:creationId xmlns:p14="http://schemas.microsoft.com/office/powerpoint/2010/main" val="124417826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C8E323A0-B0E9-4FB7-B3AF-A2A55AF9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34AE28-B829-4EC7-8965-6FEFA0CB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跨论文矩阵：统一比较轴后再综合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7B97E190-F450-4AA0-9ECD-865E2A75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7729871E-E7A6-4F05-A3BA-F2B0F3E8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FBABB947-225A-4F97-B6C9-E8234A66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539AFC2A-EB91-4EB7-8B77-3B1C7660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7972F0C-D740-4DC4-B2B6-B2FA8B8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 / 样本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核心结论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主要边界</a:t>
                      </a:r>
                    </a:p>
                  </a:txBody>
                  <a:tcPr marL="91440" marR="91440" marT="45720" marB="45720">
                    <a:solidFill>
                      <a:srgbClr val="32497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干预实验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支持机制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单一场景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B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 2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观察数据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方向一致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混杂风险</a:t>
                      </a:r>
                    </a:p>
                  </a:txBody>
                  <a:tcPr marL="91440" marR="91440" marT="45720" marB="45720">
                    <a:solidFill>
                      <a:srgbClr val="F4F6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 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外部样本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复现研究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部分支持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1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效应较弱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F2EEDBA7-A515-466A-BC82-2292A1AF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1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278C7937-21DF-4071-B309-BAE03D76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007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样本、方法和结论口径不同，不能只比较标题结论。</a:t>
            </a:r>
          </a:p>
        </p:txBody>
      </p:sp>
    </p:spTree>
    <p:extLst>
      <p:ext uri="{BB962C8B-B14F-4D97-AF65-F5344CB8AC3E}">
        <p14:creationId xmlns:p14="http://schemas.microsoft.com/office/powerpoint/2010/main" val="15115405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37DE86EA-5ADB-4012-9077-643F20AD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BEC772-9A2C-471F-9933-7A873C49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一致、冲突与原因要同时出现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1F100DAE-5353-475F-ADBD-CE9C375F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1FCF2D23-2C8C-417F-A10C-06518629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75597F15-1020-4A86-B991-34913F26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66E32744-C304-4CE8-AC55-148EA1DF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B6C3730-6F07-49EF-AD6A-5D43D371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8" name="synthesis-column-1">
            <a:extLst xmlns:a="http://schemas.openxmlformats.org/drawingml/2006/main">
              <a:ext uri="{FF2B5EF4-FFF2-40B4-BE49-F238E27FC236}">
                <a16:creationId xmlns:a16="http://schemas.microsoft.com/office/drawing/2014/main" id="{7A6C5088-3B4D-471F-8D79-662F26C7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543300" cy="38100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9" name="synthesis-label-1">
            <a:extLst xmlns:a="http://schemas.openxmlformats.org/drawingml/2006/main">
              <a:ext uri="{FF2B5EF4-FFF2-40B4-BE49-F238E27FC236}">
                <a16:creationId xmlns:a16="http://schemas.microsoft.com/office/drawing/2014/main" id="{68CFFD56-E79A-4F45-863B-7E90A0D7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一致结论</a:t>
            </a:r>
          </a:p>
        </p:txBody>
      </p:sp>
      <p:sp>
        <p:nvSpPr>
          <p:cNvPr id="10" name="synthesis-bullets-1">
            <a:extLst xmlns:a="http://schemas.openxmlformats.org/drawingml/2006/main">
              <a:ext uri="{FF2B5EF4-FFF2-40B4-BE49-F238E27FC236}">
                <a16:creationId xmlns:a16="http://schemas.microsoft.com/office/drawing/2014/main" id="{F635116C-7406-4CE4-8692-8BA02014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30861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关键现象方向一致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核心中介被多方法观察到</a:t>
            </a:r>
          </a:p>
        </p:txBody>
      </p:sp>
      <p:sp>
        <p:nvSpPr>
          <p:cNvPr id="11" name="synthesis-column-2">
            <a:extLst xmlns:a="http://schemas.openxmlformats.org/drawingml/2006/main">
              <a:ext uri="{FF2B5EF4-FFF2-40B4-BE49-F238E27FC236}">
                <a16:creationId xmlns:a16="http://schemas.microsoft.com/office/drawing/2014/main" id="{D3CF79FC-33EB-43F7-AF30-0D87ACC1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24000"/>
            <a:ext cx="3543300" cy="38100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11430">
            <a:solidFill>
              <a:srgbClr val="C7922C"/>
            </a:solidFill>
            <a:prstDash val="solid"/>
          </a:ln>
        </p:spPr>
      </p:sp>
      <p:sp>
        <p:nvSpPr>
          <p:cNvPr id="12" name="synthesis-label-2">
            <a:extLst xmlns:a="http://schemas.openxmlformats.org/drawingml/2006/main">
              <a:ext uri="{FF2B5EF4-FFF2-40B4-BE49-F238E27FC236}">
                <a16:creationId xmlns:a16="http://schemas.microsoft.com/office/drawing/2014/main" id="{84019FD9-D3A2-4295-85D1-E2C79E4A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7922C"/>
                </a:solidFill>
                <a:latin typeface="Microsoft YaHei"/>
                <a:ea typeface="Microsoft YaHei"/>
                <a:cs typeface="Microsoft YaHei"/>
              </a:rPr>
              <a:t>冲突结论</a:t>
            </a:r>
          </a:p>
        </p:txBody>
      </p:sp>
      <p:sp>
        <p:nvSpPr>
          <p:cNvPr id="13" name="synthesis-bullets-2">
            <a:extLst xmlns:a="http://schemas.openxmlformats.org/drawingml/2006/main">
              <a:ext uri="{FF2B5EF4-FFF2-40B4-BE49-F238E27FC236}">
                <a16:creationId xmlns:a16="http://schemas.microsoft.com/office/drawing/2014/main" id="{D343B4D7-DC43-44B6-B298-4F8F2476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24100"/>
            <a:ext cx="30861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效应量差异明显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外部样本仅部分复现</a:t>
            </a:r>
          </a:p>
        </p:txBody>
      </p:sp>
      <p:sp>
        <p:nvSpPr>
          <p:cNvPr id="14" name="synthesis-column-3">
            <a:extLst xmlns:a="http://schemas.openxmlformats.org/drawingml/2006/main">
              <a:ext uri="{FF2B5EF4-FFF2-40B4-BE49-F238E27FC236}">
                <a16:creationId xmlns:a16="http://schemas.microsoft.com/office/drawing/2014/main" id="{E4ECF1CE-9765-40A0-ADAF-1CE6E8D9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3543300" cy="38100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6682B3"/>
            </a:solidFill>
            <a:prstDash val="solid"/>
          </a:ln>
        </p:spPr>
      </p:sp>
      <p:sp>
        <p:nvSpPr>
          <p:cNvPr id="15" name="synthesis-label-3">
            <a:extLst xmlns:a="http://schemas.openxmlformats.org/drawingml/2006/main">
              <a:ext uri="{FF2B5EF4-FFF2-40B4-BE49-F238E27FC236}">
                <a16:creationId xmlns:a16="http://schemas.microsoft.com/office/drawing/2014/main" id="{44AFEA19-ABA1-42B9-9D2F-9666E78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08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68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6682B3"/>
                </a:solidFill>
                <a:latin typeface="Microsoft YaHei"/>
                <a:ea typeface="Microsoft YaHei"/>
                <a:cs typeface="Microsoft YaHei"/>
              </a:rPr>
              <a:t>可能原因</a:t>
            </a:r>
          </a:p>
        </p:txBody>
      </p:sp>
      <p:sp>
        <p:nvSpPr>
          <p:cNvPr id="16" name="synthesis-bullets-3">
            <a:extLst xmlns:a="http://schemas.openxmlformats.org/drawingml/2006/main">
              <a:ext uri="{FF2B5EF4-FFF2-40B4-BE49-F238E27FC236}">
                <a16:creationId xmlns:a16="http://schemas.microsoft.com/office/drawing/2014/main" id="{6678108A-1BA4-4376-9B52-B3E40C00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30861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样本构成不同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测量时间窗不同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•  控制变量不一致</a:t>
            </a:r>
          </a:p>
        </p:txBody>
      </p:sp>
      <p:sp>
        <p:nvSpPr>
          <p:cNvPr id="17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D5A77773-876F-4FDD-ACD7-A719C1CE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1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726EE644-F044-4229-9EB6-36EDA9CD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05475"/>
            <a:ext cx="1051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冲突往往来自样本、测量或边界，而非简单的“谁对谁错”。</a:t>
            </a:r>
          </a:p>
        </p:txBody>
      </p:sp>
    </p:spTree>
    <p:extLst>
      <p:ext uri="{BB962C8B-B14F-4D97-AF65-F5344CB8AC3E}">
        <p14:creationId xmlns:p14="http://schemas.microsoft.com/office/powerpoint/2010/main" val="5926633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483C5971-3565-4A5F-8551-D0FDD47A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036EAB-EF19-402A-BC8F-3F67ED99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证据地图：强度与适用性是两个维度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60984378-EBA7-445C-943D-7E23C4BA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0EE3861D-0996-49D6-85A7-75D5B3A6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4FE8FE77-121F-40D9-A3E9-BD8D409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DF09747E-13E2-4C2B-8AC8-A15F828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BCD31CC-64E7-42E8-8416-287FC600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8" name="quality-map-surface">
            <a:extLst xmlns:a="http://schemas.openxmlformats.org/drawingml/2006/main">
              <a:ext uri="{FF2B5EF4-FFF2-40B4-BE49-F238E27FC236}">
                <a16:creationId xmlns:a16="http://schemas.microsoft.com/office/drawing/2014/main" id="{2AAED2FB-129F-4026-BD20-E2DC4099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723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9" name="quality-map-v-mid">
            <a:extLst xmlns:a="http://schemas.openxmlformats.org/drawingml/2006/main">
              <a:ext uri="{FF2B5EF4-FFF2-40B4-BE49-F238E27FC236}">
                <a16:creationId xmlns:a16="http://schemas.microsoft.com/office/drawing/2014/main" id="{578621A5-C134-4566-9F38-D8028137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0" name="quality-map-h-mid">
            <a:extLst xmlns:a="http://schemas.openxmlformats.org/drawingml/2006/main">
              <a:ext uri="{FF2B5EF4-FFF2-40B4-BE49-F238E27FC236}">
                <a16:creationId xmlns:a16="http://schemas.microsoft.com/office/drawing/2014/main" id="{E378AE9D-7790-46E4-9E28-842A27A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528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1" name="quality-map-x-label">
            <a:extLst xmlns:a="http://schemas.openxmlformats.org/drawingml/2006/main">
              <a:ext uri="{FF2B5EF4-FFF2-40B4-BE49-F238E27FC236}">
                <a16:creationId xmlns:a16="http://schemas.microsoft.com/office/drawing/2014/main" id="{B79B15B6-1A35-4327-A19D-4EE093B3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486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071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证据强度 →</a:t>
            </a:r>
          </a:p>
        </p:txBody>
      </p:sp>
      <p:sp>
        <p:nvSpPr>
          <p:cNvPr id="12" name="quality-map-y-label">
            <a:extLst xmlns:a="http://schemas.openxmlformats.org/drawingml/2006/main">
              <a:ext uri="{FF2B5EF4-FFF2-40B4-BE49-F238E27FC236}">
                <a16:creationId xmlns:a16="http://schemas.microsoft.com/office/drawing/2014/main" id="{77D1385D-F409-41A9-A930-60467EB6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" y="3124200"/>
            <a:ext cx="76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外部适用性</a:t>
            </a:r>
          </a:p>
        </p:txBody>
      </p:sp>
      <p:sp>
        <p:nvSpPr>
          <p:cNvPr id="13" name="quality-point-1">
            <a:extLst xmlns:a="http://schemas.openxmlformats.org/drawingml/2006/main">
              <a:ext uri="{FF2B5EF4-FFF2-40B4-BE49-F238E27FC236}">
                <a16:creationId xmlns:a16="http://schemas.microsoft.com/office/drawing/2014/main" id="{33C3A579-BCE7-4A9A-8BCC-C8C14FB2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170" y="3195638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quality-point-label-1">
            <a:extLst xmlns:a="http://schemas.openxmlformats.org/drawingml/2006/main">
              <a:ext uri="{FF2B5EF4-FFF2-40B4-BE49-F238E27FC236}">
                <a16:creationId xmlns:a16="http://schemas.microsoft.com/office/drawing/2014/main" id="{5CDC4283-5F82-4EBA-95E8-0C43B090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220" y="3167063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 A</a:t>
            </a:r>
          </a:p>
        </p:txBody>
      </p:sp>
      <p:sp>
        <p:nvSpPr>
          <p:cNvPr id="15" name="quality-point-2">
            <a:extLst xmlns:a="http://schemas.openxmlformats.org/drawingml/2006/main">
              <a:ext uri="{FF2B5EF4-FFF2-40B4-BE49-F238E27FC236}">
                <a16:creationId xmlns:a16="http://schemas.microsoft.com/office/drawing/2014/main" id="{932A16B2-4F72-4301-B2C5-EA2CD879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605" y="236982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86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quality-point-label-2">
            <a:extLst xmlns:a="http://schemas.openxmlformats.org/drawingml/2006/main">
              <a:ext uri="{FF2B5EF4-FFF2-40B4-BE49-F238E27FC236}">
                <a16:creationId xmlns:a16="http://schemas.microsoft.com/office/drawing/2014/main" id="{07BD3E10-206F-4E77-BD75-FF6D365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234124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 B</a:t>
            </a:r>
          </a:p>
        </p:txBody>
      </p:sp>
      <p:sp>
        <p:nvSpPr>
          <p:cNvPr id="17" name="quality-point-3">
            <a:extLst xmlns:a="http://schemas.openxmlformats.org/drawingml/2006/main">
              <a:ext uri="{FF2B5EF4-FFF2-40B4-BE49-F238E27FC236}">
                <a16:creationId xmlns:a16="http://schemas.microsoft.com/office/drawing/2014/main" id="{CE5AB201-979E-4D88-B0E6-2843AD28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90" y="364236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66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quality-point-label-3">
            <a:extLst xmlns:a="http://schemas.openxmlformats.org/drawingml/2006/main">
              <a:ext uri="{FF2B5EF4-FFF2-40B4-BE49-F238E27FC236}">
                <a16:creationId xmlns:a16="http://schemas.microsoft.com/office/drawing/2014/main" id="{3A5A50E7-143F-4544-80A5-DB4B050E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740" y="361378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 C</a:t>
            </a:r>
          </a:p>
        </p:txBody>
      </p:sp>
      <p:sp>
        <p:nvSpPr>
          <p:cNvPr id="19" name="quality-legend-title-1">
            <a:extLst xmlns:a="http://schemas.openxmlformats.org/drawingml/2006/main">
              <a:ext uri="{FF2B5EF4-FFF2-40B4-BE49-F238E27FC236}">
                <a16:creationId xmlns:a16="http://schemas.microsoft.com/office/drawing/2014/main" id="{0849CF91-C1FA-4440-8EC1-18C481B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横轴</a:t>
            </a:r>
          </a:p>
        </p:txBody>
      </p:sp>
      <p:sp>
        <p:nvSpPr>
          <p:cNvPr id="20" name="quality-legend-body-1">
            <a:extLst xmlns:a="http://schemas.openxmlformats.org/drawingml/2006/main">
              <a:ext uri="{FF2B5EF4-FFF2-40B4-BE49-F238E27FC236}">
                <a16:creationId xmlns:a16="http://schemas.microsoft.com/office/drawing/2014/main" id="{70E346A8-E71D-45EF-B280-6E722C0A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336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设计、对照、统计与复现决定证据强度。</a:t>
            </a:r>
          </a:p>
        </p:txBody>
      </p:sp>
      <p:sp>
        <p:nvSpPr>
          <p:cNvPr id="21" name="quality-legend-title-2">
            <a:extLst xmlns:a="http://schemas.openxmlformats.org/drawingml/2006/main">
              <a:ext uri="{FF2B5EF4-FFF2-40B4-BE49-F238E27FC236}">
                <a16:creationId xmlns:a16="http://schemas.microsoft.com/office/drawing/2014/main" id="{E93D3336-E46C-4FEA-9829-B995ECC0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纵轴</a:t>
            </a:r>
          </a:p>
        </p:txBody>
      </p:sp>
      <p:sp>
        <p:nvSpPr>
          <p:cNvPr id="22" name="quality-legend-body-2">
            <a:extLst xmlns:a="http://schemas.openxmlformats.org/drawingml/2006/main">
              <a:ext uri="{FF2B5EF4-FFF2-40B4-BE49-F238E27FC236}">
                <a16:creationId xmlns:a16="http://schemas.microsoft.com/office/drawing/2014/main" id="{01D4C9CC-B926-41A9-993E-5340D3B7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样本与情境决定外部适用性。</a:t>
            </a:r>
          </a:p>
        </p:txBody>
      </p:sp>
      <p:sp>
        <p:nvSpPr>
          <p:cNvPr id="23" name="quality-legend-title-3">
            <a:extLst xmlns:a="http://schemas.openxmlformats.org/drawingml/2006/main">
              <a:ext uri="{FF2B5EF4-FFF2-40B4-BE49-F238E27FC236}">
                <a16:creationId xmlns:a16="http://schemas.microsoft.com/office/drawing/2014/main" id="{250860B1-AA3D-49B7-939E-3B2DF329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00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24" name="quality-legend-body-3">
            <a:extLst xmlns:a="http://schemas.openxmlformats.org/drawingml/2006/main">
              <a:ext uri="{FF2B5EF4-FFF2-40B4-BE49-F238E27FC236}">
                <a16:creationId xmlns:a16="http://schemas.microsoft.com/office/drawing/2014/main" id="{DED29B3C-2271-47C1-92F9-E554B9A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724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把高价值不确定性变成讨论重点。</a:t>
            </a:r>
          </a:p>
        </p:txBody>
      </p:sp>
      <p:sp>
        <p:nvSpPr>
          <p:cNvPr id="25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963ECFC2-8127-4822-87E1-D12314E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6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303B3E1-1961-4204-B374-85D2355D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38825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优先讨论证据强但迁移边界不清的关键论文。</a:t>
            </a:r>
          </a:p>
        </p:txBody>
      </p:sp>
    </p:spTree>
    <p:extLst>
      <p:ext uri="{BB962C8B-B14F-4D97-AF65-F5344CB8AC3E}">
        <p14:creationId xmlns:p14="http://schemas.microsoft.com/office/powerpoint/2010/main" val="19150157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60EBF123-B2EF-4A62-9A0E-32E0FC0E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3C147E-4E16-4E33-9BDF-11E64312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研究演进：问题如何被一轮轮收窄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CD7F359A-33EC-4238-8A8F-89B29E2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判断与综合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7D7C6B84-EDEC-4A21-B733-07697726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78A90B86-66A1-4EF0-A248-2E0C74BB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732201E7-8121-4CBC-9130-7711FA4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3D57A72-EB76-4810-964F-C4205DD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8" name="timeline-rail">
            <a:extLst xmlns:a="http://schemas.openxmlformats.org/drawingml/2006/main">
              <a:ext uri="{FF2B5EF4-FFF2-40B4-BE49-F238E27FC236}">
                <a16:creationId xmlns:a16="http://schemas.microsoft.com/office/drawing/2014/main" id="{BCBAA818-CCC4-41A8-BC33-F8C83E56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028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9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0E1AEE27-F8C9-4D65-8CE1-C773607B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431D4B93-A5E0-460B-9CAD-9395198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22288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现象发现</a:t>
            </a:r>
          </a:p>
        </p:txBody>
      </p:sp>
      <p:sp>
        <p:nvSpPr>
          <p:cNvPr id="11" name="timeline-caption-1">
            <a:extLst xmlns:a="http://schemas.openxmlformats.org/drawingml/2006/main">
              <a:ext uri="{FF2B5EF4-FFF2-40B4-BE49-F238E27FC236}">
                <a16:creationId xmlns:a16="http://schemas.microsoft.com/office/drawing/2014/main" id="{7883BE35-AE68-4799-AA7F-745791B5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" y="17716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确认问题存在</a:t>
            </a:r>
          </a:p>
        </p:txBody>
      </p:sp>
      <p:sp>
        <p:nvSpPr>
          <p:cNvPr id="12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8D168C7B-EE3A-4A09-AF9F-4BBA5E3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104C42DD-ACFF-411B-AD33-CBBB164E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候选机制</a:t>
            </a:r>
          </a:p>
        </p:txBody>
      </p:sp>
      <p:sp>
        <p:nvSpPr>
          <p:cNvPr id="14" name="timeline-caption-2">
            <a:extLst xmlns:a="http://schemas.openxmlformats.org/drawingml/2006/main">
              <a:ext uri="{FF2B5EF4-FFF2-40B4-BE49-F238E27FC236}">
                <a16:creationId xmlns:a16="http://schemas.microsoft.com/office/drawing/2014/main" id="{7D5E934E-88EC-488C-8E69-A2B23F2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148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提出可检验解释</a:t>
            </a:r>
          </a:p>
        </p:txBody>
      </p:sp>
      <p:sp>
        <p:nvSpPr>
          <p:cNvPr id="15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8776059A-8815-48A0-A8AE-73C0F15E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DA6751BE-672D-4C4C-AB62-6C6E7DB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288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因果干预</a:t>
            </a:r>
          </a:p>
        </p:txBody>
      </p:sp>
      <p:sp>
        <p:nvSpPr>
          <p:cNvPr id="17" name="timeline-caption-3">
            <a:extLst xmlns:a="http://schemas.openxmlformats.org/drawingml/2006/main">
              <a:ext uri="{FF2B5EF4-FFF2-40B4-BE49-F238E27FC236}">
                <a16:creationId xmlns:a16="http://schemas.microsoft.com/office/drawing/2014/main" id="{6D87E169-A14C-4955-A728-6A5073A8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排除替代解释</a:t>
            </a:r>
          </a:p>
        </p:txBody>
      </p:sp>
      <p:sp>
        <p:nvSpPr>
          <p:cNvPr id="18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0B84CBA9-4D52-4F60-89B7-AB14D7FF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90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22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00649B21-F59C-4CD3-8702-6578EBBF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385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外部复核</a:t>
            </a:r>
          </a:p>
        </p:txBody>
      </p:sp>
      <p:sp>
        <p:nvSpPr>
          <p:cNvPr id="20" name="timeline-caption-4">
            <a:extLst xmlns:a="http://schemas.openxmlformats.org/drawingml/2006/main">
              <a:ext uri="{FF2B5EF4-FFF2-40B4-BE49-F238E27FC236}">
                <a16:creationId xmlns:a16="http://schemas.microsoft.com/office/drawing/2014/main" id="{0A31B298-4111-46F3-A56C-0B39C155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114800"/>
            <a:ext cx="194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明确适用边界</a:t>
            </a:r>
          </a:p>
        </p:txBody>
      </p:sp>
      <p:sp>
        <p:nvSpPr>
          <p:cNvPr id="21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F95F381A-BCDC-46A1-A626-2CFA6B9C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2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EACFA63B-5ACC-4654-BEE9-9D077613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1051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时间线展示证据演进，不机械罗列发表年份。</a:t>
            </a:r>
          </a:p>
        </p:txBody>
      </p:sp>
    </p:spTree>
    <p:extLst>
      <p:ext uri="{BB962C8B-B14F-4D97-AF65-F5344CB8AC3E}">
        <p14:creationId xmlns:p14="http://schemas.microsoft.com/office/powerpoint/2010/main" val="1006242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2F0E0DD0-9FDC-4E1C-8887-EAB0DAB8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A24D02-1DA9-44A7-BC5A-E3D430C7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从论文结论迁移到本组动作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E020E449-25B3-436C-97F8-6E99E9C0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讨论与收束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CA1612F5-639F-4387-8105-365A298E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CCB84742-31C0-4A15-BE23-A7659200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2E92690D-8C15-4073-901F-A7D59607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734295-735F-4B73-8E0D-E2DCA0D80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transfer-card-1">
            <a:extLst xmlns:a="http://schemas.openxmlformats.org/drawingml/2006/main">
              <a:ext uri="{FF2B5EF4-FFF2-40B4-BE49-F238E27FC236}">
                <a16:creationId xmlns:a16="http://schemas.microsoft.com/office/drawing/2014/main" id="{CA4088A2-9271-4F0A-8CF2-FCB580CB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3147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9" name="transfer-label-1">
            <a:extLst xmlns:a="http://schemas.openxmlformats.org/drawingml/2006/main">
              <a:ext uri="{FF2B5EF4-FFF2-40B4-BE49-F238E27FC236}">
                <a16:creationId xmlns:a16="http://schemas.microsoft.com/office/drawing/2014/main" id="{DAB7DEDE-FC0A-4A63-B135-4208AEBE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  <p:txBody>
          <a:bodyPr xmlns:a="http://schemas.openxmlformats.org/drawingml/2006/main" anchor="ctr">
            <a:normAutofit fontScale="69431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论文给出</a:t>
            </a:r>
          </a:p>
        </p:txBody>
      </p:sp>
      <p:sp>
        <p:nvSpPr>
          <p:cNvPr id="10" name="transfer-text-1">
            <a:extLst xmlns:a="http://schemas.openxmlformats.org/drawingml/2006/main">
              <a:ext uri="{FF2B5EF4-FFF2-40B4-BE49-F238E27FC236}">
                <a16:creationId xmlns:a16="http://schemas.microsoft.com/office/drawing/2014/main" id="{DD534ED2-8EE3-49AC-834C-DF3DFF02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论文给出可检验机制与测量路径。</a:t>
            </a:r>
          </a:p>
        </p:txBody>
      </p:sp>
      <p:sp>
        <p:nvSpPr>
          <p:cNvPr id="11" name="transfer-arrow-1">
            <a:extLst xmlns:a="http://schemas.openxmlformats.org/drawingml/2006/main">
              <a:ext uri="{FF2B5EF4-FFF2-40B4-BE49-F238E27FC236}">
                <a16:creationId xmlns:a16="http://schemas.microsoft.com/office/drawing/2014/main" id="{3BCDBFCF-858C-48D1-9359-E8194867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2" name="transfer-card-2">
            <a:extLst xmlns:a="http://schemas.openxmlformats.org/drawingml/2006/main">
              <a:ext uri="{FF2B5EF4-FFF2-40B4-BE49-F238E27FC236}">
                <a16:creationId xmlns:a16="http://schemas.microsoft.com/office/drawing/2014/main" id="{15B43ACA-05A9-4164-B0E1-600A188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3147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13" name="transfer-label-2">
            <a:extLst xmlns:a="http://schemas.openxmlformats.org/drawingml/2006/main">
              <a:ext uri="{FF2B5EF4-FFF2-40B4-BE49-F238E27FC236}">
                <a16:creationId xmlns:a16="http://schemas.microsoft.com/office/drawing/2014/main" id="{78015DD6-BDB4-4BF6-8B9F-740E84E2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764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  <p:txBody>
          <a:bodyPr xmlns:a="http://schemas.openxmlformats.org/drawingml/2006/main" anchor="ctr">
            <a:normAutofit fontScale="69431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迁移判断</a:t>
            </a:r>
          </a:p>
        </p:txBody>
      </p:sp>
      <p:sp>
        <p:nvSpPr>
          <p:cNvPr id="14" name="transfer-text-2">
            <a:extLst xmlns:a="http://schemas.openxmlformats.org/drawingml/2006/main">
              <a:ext uri="{FF2B5EF4-FFF2-40B4-BE49-F238E27FC236}">
                <a16:creationId xmlns:a16="http://schemas.microsoft.com/office/drawing/2014/main" id="{964B2D15-33D5-475B-8FF0-4B01EA7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8605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对象相似，但尺度和边界不同。</a:t>
            </a:r>
          </a:p>
        </p:txBody>
      </p:sp>
      <p:sp>
        <p:nvSpPr>
          <p:cNvPr id="15" name="transfer-arrow-2">
            <a:extLst xmlns:a="http://schemas.openxmlformats.org/drawingml/2006/main">
              <a:ext uri="{FF2B5EF4-FFF2-40B4-BE49-F238E27FC236}">
                <a16:creationId xmlns:a16="http://schemas.microsoft.com/office/drawing/2014/main" id="{B583FFFE-303D-462F-BF3B-AFFB25D6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429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682B3"/>
          </a:solidFill>
          <a:ln xmlns:a="http://schemas.openxmlformats.org/drawingml/2006/main" w="0">
            <a:solidFill>
              <a:srgbClr val="6682B3"/>
            </a:solidFill>
            <a:prstDash val="solid"/>
          </a:ln>
        </p:spPr>
      </p:sp>
      <p:sp>
        <p:nvSpPr>
          <p:cNvPr id="16" name="transfer-card-3">
            <a:extLst xmlns:a="http://schemas.openxmlformats.org/drawingml/2006/main">
              <a:ext uri="{FF2B5EF4-FFF2-40B4-BE49-F238E27FC236}">
                <a16:creationId xmlns:a16="http://schemas.microsoft.com/office/drawing/2014/main" id="{535D8361-3F68-4D03-9551-30308E23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33147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7E9"/>
          </a:solidFill>
          <a:ln xmlns:a="http://schemas.openxmlformats.org/drawingml/2006/main" w="11430">
            <a:solidFill>
              <a:srgbClr val="C7922C"/>
            </a:solidFill>
            <a:prstDash val="solid"/>
          </a:ln>
        </p:spPr>
      </p:sp>
      <p:sp>
        <p:nvSpPr>
          <p:cNvPr id="17" name="transfer-label-3">
            <a:extLst xmlns:a="http://schemas.openxmlformats.org/drawingml/2006/main">
              <a:ext uri="{FF2B5EF4-FFF2-40B4-BE49-F238E27FC236}">
                <a16:creationId xmlns:a16="http://schemas.microsoft.com/office/drawing/2014/main" id="{55A961E6-520D-4390-9A45-3ADEE63F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1200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922C"/>
          </a:solidFill>
          <a:ln xmlns:a="http://schemas.openxmlformats.org/drawingml/2006/main" w="9525">
            <a:solidFill>
              <a:srgbClr val="C7922C"/>
            </a:solidFill>
            <a:prstDash val="solid"/>
          </a:ln>
        </p:spPr>
        <p:txBody>
          <a:bodyPr xmlns:a="http://schemas.openxmlformats.org/drawingml/2006/main" anchor="ctr">
            <a:normAutofit fontScale="69431"/>
          </a:bodyPr>
          <a:lstStyle xmlns:a="http://schemas.openxmlformats.org/drawingml/2006/main"/>
          <a:p xmlns:a="http://schemas.openxmlformats.org/drawingml/2006/main"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下一步动作</a:t>
            </a:r>
          </a:p>
        </p:txBody>
      </p:sp>
      <p:sp>
        <p:nvSpPr>
          <p:cNvPr id="18" name="transfer-text-3">
            <a:extLst xmlns:a="http://schemas.openxmlformats.org/drawingml/2006/main">
              <a:ext uri="{FF2B5EF4-FFF2-40B4-BE49-F238E27FC236}">
                <a16:creationId xmlns:a16="http://schemas.microsoft.com/office/drawing/2014/main" id="{D33EC78B-43E3-4432-8631-8B3A1D35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2857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先完成最小验证，再决定是否扩展。</a:t>
            </a:r>
          </a:p>
        </p:txBody>
      </p:sp>
      <p:sp>
        <p:nvSpPr>
          <p:cNvPr id="1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EA9149C7-68F9-434C-ADB1-592CF10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DC1850A1-F38D-4013-AA04-289182E6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24475"/>
            <a:ext cx="1051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可借鉴的是证据逻辑，不是把论文结论原封不动搬到本组。</a:t>
            </a:r>
          </a:p>
        </p:txBody>
      </p:sp>
    </p:spTree>
    <p:extLst>
      <p:ext uri="{BB962C8B-B14F-4D97-AF65-F5344CB8AC3E}">
        <p14:creationId xmlns:p14="http://schemas.microsoft.com/office/powerpoint/2010/main" val="27142625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547A0E15-5B6B-4907-A3C7-9653190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F1EA8-A774-4601-A40C-77231D89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讨论问题：形成新的判断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7D121EEF-D3F2-4134-B442-091353B5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讨论与收束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E65CD7CB-0559-4C6A-8918-C22696AC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F50A0383-372D-4CD9-A6F7-A567D75E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898D2584-258B-4321-90EC-F6F2067D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942E38A-DF42-4FEE-A98E-0832EE7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8" name="discussion-row-1">
            <a:extLst xmlns:a="http://schemas.openxmlformats.org/drawingml/2006/main">
              <a:ext uri="{FF2B5EF4-FFF2-40B4-BE49-F238E27FC236}">
                <a16:creationId xmlns:a16="http://schemas.microsoft.com/office/drawing/2014/main" id="{303A1A22-8E3D-4E61-9504-C7C73C1A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32497B"/>
            </a:solidFill>
            <a:prstDash val="solid"/>
          </a:ln>
        </p:spPr>
      </p:sp>
      <p:sp>
        <p:nvSpPr>
          <p:cNvPr id="9" name="discussion-number-1">
            <a:extLst xmlns:a="http://schemas.openxmlformats.org/drawingml/2006/main">
              <a:ext uri="{FF2B5EF4-FFF2-40B4-BE49-F238E27FC236}">
                <a16:creationId xmlns:a16="http://schemas.microsoft.com/office/drawing/2014/main" id="{D4880068-17B5-4ACF-811B-85A099EB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10" name="discussion-number-text-1">
            <a:extLst xmlns:a="http://schemas.openxmlformats.org/drawingml/2006/main">
              <a:ext uri="{FF2B5EF4-FFF2-40B4-BE49-F238E27FC236}">
                <a16:creationId xmlns:a16="http://schemas.microsoft.com/office/drawing/2014/main" id="{2D204174-3C89-4755-B462-3C2D8BFC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discussion-question-1">
            <a:extLst xmlns:a="http://schemas.openxmlformats.org/drawingml/2006/main">
              <a:ext uri="{FF2B5EF4-FFF2-40B4-BE49-F238E27FC236}">
                <a16:creationId xmlns:a16="http://schemas.microsoft.com/office/drawing/2014/main" id="{7315760D-EB2A-4D25-9F1A-8AEE1F39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638300"/>
            <a:ext cx="958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哪个替代解释最值得优先排除？</a:t>
            </a:r>
          </a:p>
        </p:txBody>
      </p:sp>
      <p:sp>
        <p:nvSpPr>
          <p:cNvPr id="12" name="discussion-row-2">
            <a:extLst xmlns:a="http://schemas.openxmlformats.org/drawingml/2006/main">
              <a:ext uri="{FF2B5EF4-FFF2-40B4-BE49-F238E27FC236}">
                <a16:creationId xmlns:a16="http://schemas.microsoft.com/office/drawing/2014/main" id="{26F99E20-9659-4C6D-8806-9C051868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3" name="discussion-number-2">
            <a:extLst xmlns:a="http://schemas.openxmlformats.org/drawingml/2006/main">
              <a:ext uri="{FF2B5EF4-FFF2-40B4-BE49-F238E27FC236}">
                <a16:creationId xmlns:a16="http://schemas.microsoft.com/office/drawing/2014/main" id="{E803D394-D429-40D1-8062-A3467C43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14" name="discussion-number-text-2">
            <a:extLst xmlns:a="http://schemas.openxmlformats.org/drawingml/2006/main">
              <a:ext uri="{FF2B5EF4-FFF2-40B4-BE49-F238E27FC236}">
                <a16:creationId xmlns:a16="http://schemas.microsoft.com/office/drawing/2014/main" id="{53255532-2B01-48A9-8C8A-8B87A410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discussion-question-2">
            <a:extLst xmlns:a="http://schemas.openxmlformats.org/drawingml/2006/main">
              <a:ext uri="{FF2B5EF4-FFF2-40B4-BE49-F238E27FC236}">
                <a16:creationId xmlns:a16="http://schemas.microsoft.com/office/drawing/2014/main" id="{92533D43-06A1-4897-B81B-600AAB0E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28900"/>
            <a:ext cx="958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若迁移到本组对象，首个验证实验应是什么？</a:t>
            </a:r>
          </a:p>
        </p:txBody>
      </p:sp>
      <p:sp>
        <p:nvSpPr>
          <p:cNvPr id="16" name="discussion-row-3">
            <a:extLst xmlns:a="http://schemas.openxmlformats.org/drawingml/2006/main">
              <a:ext uri="{FF2B5EF4-FFF2-40B4-BE49-F238E27FC236}">
                <a16:creationId xmlns:a16="http://schemas.microsoft.com/office/drawing/2014/main" id="{8A16DE9F-7099-444E-8C32-17EC69EC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7" name="discussion-number-3">
            <a:extLst xmlns:a="http://schemas.openxmlformats.org/drawingml/2006/main">
              <a:ext uri="{FF2B5EF4-FFF2-40B4-BE49-F238E27FC236}">
                <a16:creationId xmlns:a16="http://schemas.microsoft.com/office/drawing/2014/main" id="{FEA0620A-D321-4CFF-9FF6-1B469108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18" name="discussion-number-text-3">
            <a:extLst xmlns:a="http://schemas.openxmlformats.org/drawingml/2006/main">
              <a:ext uri="{FF2B5EF4-FFF2-40B4-BE49-F238E27FC236}">
                <a16:creationId xmlns:a16="http://schemas.microsoft.com/office/drawing/2014/main" id="{1E104A54-BDC7-4A75-8D6E-E8A51A1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discussion-question-3">
            <a:extLst xmlns:a="http://schemas.openxmlformats.org/drawingml/2006/main">
              <a:ext uri="{FF2B5EF4-FFF2-40B4-BE49-F238E27FC236}">
                <a16:creationId xmlns:a16="http://schemas.microsoft.com/office/drawing/2014/main" id="{0C7EF18C-C0F0-4B62-84BB-E4223579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19500"/>
            <a:ext cx="958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哪项证据最可能改变我们的判断？</a:t>
            </a:r>
          </a:p>
        </p:txBody>
      </p:sp>
      <p:sp>
        <p:nvSpPr>
          <p:cNvPr id="20" name="discussion-row-4">
            <a:extLst xmlns:a="http://schemas.openxmlformats.org/drawingml/2006/main">
              <a:ext uri="{FF2B5EF4-FFF2-40B4-BE49-F238E27FC236}">
                <a16:creationId xmlns:a16="http://schemas.microsoft.com/office/drawing/2014/main" id="{9DA0E76A-D684-4064-A479-258B1DA2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21" name="discussion-number-4">
            <a:extLst xmlns:a="http://schemas.openxmlformats.org/drawingml/2006/main">
              <a:ext uri="{FF2B5EF4-FFF2-40B4-BE49-F238E27FC236}">
                <a16:creationId xmlns:a16="http://schemas.microsoft.com/office/drawing/2014/main" id="{26F2DFF2-8FEC-4471-AEAC-A3505D8A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22" name="discussion-number-text-4">
            <a:extLst xmlns:a="http://schemas.openxmlformats.org/drawingml/2006/main">
              <a:ext uri="{FF2B5EF4-FFF2-40B4-BE49-F238E27FC236}">
                <a16:creationId xmlns:a16="http://schemas.microsoft.com/office/drawing/2014/main" id="{B4FECFD5-4257-4B3F-A54C-E2D02B46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discussion-question-4">
            <a:extLst xmlns:a="http://schemas.openxmlformats.org/drawingml/2006/main">
              <a:ext uri="{FF2B5EF4-FFF2-40B4-BE49-F238E27FC236}">
                <a16:creationId xmlns:a16="http://schemas.microsoft.com/office/drawing/2014/main" id="{1CF19601-A525-4D1F-8A73-6AFBA31A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0100"/>
            <a:ext cx="9582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不同论文冲突的最小解释是什么？</a:t>
            </a:r>
          </a:p>
        </p:txBody>
      </p:sp>
    </p:spTree>
    <p:extLst>
      <p:ext uri="{BB962C8B-B14F-4D97-AF65-F5344CB8AC3E}">
        <p14:creationId xmlns:p14="http://schemas.microsoft.com/office/powerpoint/2010/main" val="21421577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DC10587A-35BF-414F-9244-A32E9FFF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E0D732-4B05-4D36-AC9E-14281AFB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需要组会形成什么决定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578D96A2-99A1-4698-8794-9111351B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讨论与收束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4405B301-54B7-4D52-A9A1-6B6CA998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B00544A4-B433-4D16-91E9-9C6D6E98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B2B2B93E-B08A-468D-823B-79189C30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61E59A-3C94-49DA-9AC9-89EB419A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8" name="decision-question">
            <a:extLst xmlns:a="http://schemas.openxmlformats.org/drawingml/2006/main">
              <a:ext uri="{FF2B5EF4-FFF2-40B4-BE49-F238E27FC236}">
                <a16:creationId xmlns:a16="http://schemas.microsoft.com/office/drawing/2014/main" id="{71EE0933-E271-4E91-A2FB-B58C8CC7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8763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9" name="decision-question-text">
            <a:extLst xmlns:a="http://schemas.openxmlformats.org/drawingml/2006/main">
              <a:ext uri="{FF2B5EF4-FFF2-40B4-BE49-F238E27FC236}">
                <a16:creationId xmlns:a16="http://schemas.microsoft.com/office/drawing/2014/main" id="{11D7E7CC-E82F-4546-9AF0-2CCBEBD7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002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3176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我们是否应把这条机制列为下一阶段的优先验证假设？</a:t>
            </a:r>
          </a:p>
        </p:txBody>
      </p:sp>
      <p:sp>
        <p:nvSpPr>
          <p:cNvPr id="10" name="decision-option-1">
            <a:extLst xmlns:a="http://schemas.openxmlformats.org/drawingml/2006/main">
              <a:ext uri="{FF2B5EF4-FFF2-40B4-BE49-F238E27FC236}">
                <a16:creationId xmlns:a16="http://schemas.microsoft.com/office/drawing/2014/main" id="{11F46CD3-0031-4468-B23F-61175EB4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3302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11430">
            <a:solidFill>
              <a:srgbClr val="32497B"/>
            </a:solidFill>
            <a:prstDash val="solid"/>
          </a:ln>
        </p:spPr>
      </p:sp>
      <p:sp>
        <p:nvSpPr>
          <p:cNvPr id="11" name="decision-option-title-1">
            <a:extLst xmlns:a="http://schemas.openxmlformats.org/drawingml/2006/main">
              <a:ext uri="{FF2B5EF4-FFF2-40B4-BE49-F238E27FC236}">
                <a16:creationId xmlns:a16="http://schemas.microsoft.com/office/drawing/2014/main" id="{FB954E88-D3A7-46A2-9240-34FBFB9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92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立即验证</a:t>
            </a:r>
          </a:p>
        </p:txBody>
      </p:sp>
      <p:sp>
        <p:nvSpPr>
          <p:cNvPr id="12" name="decision-option-body-1">
            <a:extLst xmlns:a="http://schemas.openxmlformats.org/drawingml/2006/main">
              <a:ext uri="{FF2B5EF4-FFF2-40B4-BE49-F238E27FC236}">
                <a16:creationId xmlns:a16="http://schemas.microsoft.com/office/drawing/2014/main" id="{CE8E9025-7739-478E-8117-48024275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292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科学价值高，已有最小实验条件</a:t>
            </a:r>
          </a:p>
        </p:txBody>
      </p:sp>
      <p:sp>
        <p:nvSpPr>
          <p:cNvPr id="13" name="decision-option-2">
            <a:extLst xmlns:a="http://schemas.openxmlformats.org/drawingml/2006/main">
              <a:ext uri="{FF2B5EF4-FFF2-40B4-BE49-F238E27FC236}">
                <a16:creationId xmlns:a16="http://schemas.microsoft.com/office/drawing/2014/main" id="{5DC424A3-05E9-4C1A-B222-D23DA44A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09900"/>
            <a:ext cx="3302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4" name="decision-option-title-2">
            <a:extLst xmlns:a="http://schemas.openxmlformats.org/drawingml/2006/main">
              <a:ext uri="{FF2B5EF4-FFF2-40B4-BE49-F238E27FC236}">
                <a16:creationId xmlns:a16="http://schemas.microsoft.com/office/drawing/2014/main" id="{94B2B215-256D-45CD-B7ED-B5C2CA9D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219450"/>
            <a:ext cx="292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先补证据</a:t>
            </a:r>
          </a:p>
        </p:txBody>
      </p:sp>
      <p:sp>
        <p:nvSpPr>
          <p:cNvPr id="15" name="decision-option-body-2">
            <a:extLst xmlns:a="http://schemas.openxmlformats.org/drawingml/2006/main">
              <a:ext uri="{FF2B5EF4-FFF2-40B4-BE49-F238E27FC236}">
                <a16:creationId xmlns:a16="http://schemas.microsoft.com/office/drawing/2014/main" id="{205B5877-336F-483D-95F3-21B08489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867150"/>
            <a:ext cx="292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先核对关键参数与外部数据</a:t>
            </a:r>
          </a:p>
        </p:txBody>
      </p:sp>
      <p:sp>
        <p:nvSpPr>
          <p:cNvPr id="16" name="decision-option-3">
            <a:extLst xmlns:a="http://schemas.openxmlformats.org/drawingml/2006/main">
              <a:ext uri="{FF2B5EF4-FFF2-40B4-BE49-F238E27FC236}">
                <a16:creationId xmlns:a16="http://schemas.microsoft.com/office/drawing/2014/main" id="{42D2EE84-9FBE-4329-A10E-B0F73BAF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3009900"/>
            <a:ext cx="3302000" cy="2019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11430">
            <a:solidFill>
              <a:srgbClr val="D2D9E6"/>
            </a:solidFill>
            <a:prstDash val="solid"/>
          </a:ln>
        </p:spPr>
      </p:sp>
      <p:sp>
        <p:nvSpPr>
          <p:cNvPr id="17" name="decision-option-title-3">
            <a:extLst xmlns:a="http://schemas.openxmlformats.org/drawingml/2006/main">
              <a:ext uri="{FF2B5EF4-FFF2-40B4-BE49-F238E27FC236}">
                <a16:creationId xmlns:a16="http://schemas.microsoft.com/office/drawing/2014/main" id="{2F01C607-0486-4B88-B787-89145F78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3219450"/>
            <a:ext cx="292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暂不推进</a:t>
            </a:r>
          </a:p>
        </p:txBody>
      </p:sp>
      <p:sp>
        <p:nvSpPr>
          <p:cNvPr id="18" name="decision-option-body-3">
            <a:extLst xmlns:a="http://schemas.openxmlformats.org/drawingml/2006/main">
              <a:ext uri="{FF2B5EF4-FFF2-40B4-BE49-F238E27FC236}">
                <a16:creationId xmlns:a16="http://schemas.microsoft.com/office/drawing/2014/main" id="{5FC15F2D-AFF8-4D81-B73E-785DCAF2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3867150"/>
            <a:ext cx="292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与本组主线或资源不匹配</a:t>
            </a:r>
          </a:p>
        </p:txBody>
      </p:sp>
      <p:sp>
        <p:nvSpPr>
          <p:cNvPr id="19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6A1A58DE-36B6-4D36-AB08-2F20D9A0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0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AB68828D-499A-49A3-BD04-9138ACEC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14975"/>
            <a:ext cx="1051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按科学价值、可验证性和资源成本共同决策。</a:t>
            </a:r>
          </a:p>
        </p:txBody>
      </p:sp>
    </p:spTree>
    <p:extLst>
      <p:ext uri="{BB962C8B-B14F-4D97-AF65-F5344CB8AC3E}">
        <p14:creationId xmlns:p14="http://schemas.microsoft.com/office/powerpoint/2010/main" val="20897177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FA09481E-4013-496F-A210-623EFDD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D5A3BD-B3A1-4A01-AF7F-C54ADD5E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下一步阅读与验证安排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FC383560-E2EF-4496-ACBF-AAB77543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讨论与收束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41F9D201-BA54-4E6B-910A-CDBEFFEB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8F9CF761-D2F6-4A71-8C79-7135FCBA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AE2B02B4-3367-41B5-A1AF-067E38A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40A4BAF-E4FD-4BBC-B526-4BD6D721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8" name="reading-action-header">
            <a:extLst xmlns:a="http://schemas.openxmlformats.org/drawingml/2006/main">
              <a:ext uri="{FF2B5EF4-FFF2-40B4-BE49-F238E27FC236}">
                <a16:creationId xmlns:a16="http://schemas.microsoft.com/office/drawing/2014/main" id="{F4681389-D9DD-4626-813F-6794714E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9" name="reading-header-1">
            <a:extLst xmlns:a="http://schemas.openxmlformats.org/drawingml/2006/main">
              <a:ext uri="{FF2B5EF4-FFF2-40B4-BE49-F238E27FC236}">
                <a16:creationId xmlns:a16="http://schemas.microsoft.com/office/drawing/2014/main" id="{6FDD5A0D-8B21-4A61-B0D7-AA5568AA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0" name="reading-header-2">
            <a:extLst xmlns:a="http://schemas.openxmlformats.org/drawingml/2006/main">
              <a:ext uri="{FF2B5EF4-FFF2-40B4-BE49-F238E27FC236}">
                <a16:creationId xmlns:a16="http://schemas.microsoft.com/office/drawing/2014/main" id="{BDD4733C-6150-4C2D-A259-93454DCC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04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预期输出</a:t>
            </a:r>
          </a:p>
        </p:txBody>
      </p:sp>
      <p:sp>
        <p:nvSpPr>
          <p:cNvPr id="11" name="reading-header-3">
            <a:extLst xmlns:a="http://schemas.openxmlformats.org/drawingml/2006/main">
              <a:ext uri="{FF2B5EF4-FFF2-40B4-BE49-F238E27FC236}">
                <a16:creationId xmlns:a16="http://schemas.microsoft.com/office/drawing/2014/main" id="{84965D93-8CC8-4CA7-922F-A194E5DC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049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 / 时间</a:t>
            </a:r>
          </a:p>
        </p:txBody>
      </p:sp>
      <p:sp>
        <p:nvSpPr>
          <p:cNvPr id="12" name="reading-action-row-1">
            <a:extLst xmlns:a="http://schemas.openxmlformats.org/drawingml/2006/main">
              <a:ext uri="{FF2B5EF4-FFF2-40B4-BE49-F238E27FC236}">
                <a16:creationId xmlns:a16="http://schemas.microsoft.com/office/drawing/2014/main" id="{15B97EB0-27BE-409B-B81A-84187318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3" name="reading-action-title-1">
            <a:extLst xmlns:a="http://schemas.openxmlformats.org/drawingml/2006/main">
              <a:ext uri="{FF2B5EF4-FFF2-40B4-BE49-F238E27FC236}">
                <a16:creationId xmlns:a16="http://schemas.microsoft.com/office/drawing/2014/main" id="{A1F987B2-0A02-4AAF-8ACF-1114F567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补读关键方法</a:t>
            </a:r>
          </a:p>
        </p:txBody>
      </p:sp>
      <p:sp>
        <p:nvSpPr>
          <p:cNvPr id="14" name="reading-action-output-1">
            <a:extLst xmlns:a="http://schemas.openxmlformats.org/drawingml/2006/main">
              <a:ext uri="{FF2B5EF4-FFF2-40B4-BE49-F238E27FC236}">
                <a16:creationId xmlns:a16="http://schemas.microsoft.com/office/drawing/2014/main" id="{AFFE1D99-7921-4D71-BE0D-083550AB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参数、假设与可复用步骤</a:t>
            </a:r>
          </a:p>
        </p:txBody>
      </p:sp>
      <p:sp>
        <p:nvSpPr>
          <p:cNvPr id="15" name="reading-action-owner-1">
            <a:extLst xmlns:a="http://schemas.openxmlformats.org/drawingml/2006/main">
              <a:ext uri="{FF2B5EF4-FFF2-40B4-BE49-F238E27FC236}">
                <a16:creationId xmlns:a16="http://schemas.microsoft.com/office/drawing/2014/main" id="{E9E269A4-D3A5-4DE8-9699-686F951C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成员 A｜下次组会前</a:t>
            </a:r>
          </a:p>
        </p:txBody>
      </p:sp>
      <p:sp>
        <p:nvSpPr>
          <p:cNvPr id="16" name="reading-action-row-2">
            <a:extLst xmlns:a="http://schemas.openxmlformats.org/drawingml/2006/main">
              <a:ext uri="{FF2B5EF4-FFF2-40B4-BE49-F238E27FC236}">
                <a16:creationId xmlns:a16="http://schemas.microsoft.com/office/drawing/2014/main" id="{5AAB2C14-F18B-4B1E-960E-40EF7D0F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17" name="reading-action-title-2">
            <a:extLst xmlns:a="http://schemas.openxmlformats.org/drawingml/2006/main">
              <a:ext uri="{FF2B5EF4-FFF2-40B4-BE49-F238E27FC236}">
                <a16:creationId xmlns:a16="http://schemas.microsoft.com/office/drawing/2014/main" id="{915454E8-853E-45E9-94BF-25697E0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核对冲突证据</a:t>
            </a:r>
          </a:p>
        </p:txBody>
      </p:sp>
      <p:sp>
        <p:nvSpPr>
          <p:cNvPr id="18" name="reading-action-output-2">
            <a:extLst xmlns:a="http://schemas.openxmlformats.org/drawingml/2006/main">
              <a:ext uri="{FF2B5EF4-FFF2-40B4-BE49-F238E27FC236}">
                <a16:creationId xmlns:a16="http://schemas.microsoft.com/office/drawing/2014/main" id="{FF6BB6A3-CB33-4E18-AF67-43AF06D3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194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统一比较矩阵与差异解释</a:t>
            </a:r>
          </a:p>
        </p:txBody>
      </p:sp>
      <p:sp>
        <p:nvSpPr>
          <p:cNvPr id="19" name="reading-action-owner-2">
            <a:extLst xmlns:a="http://schemas.openxmlformats.org/drawingml/2006/main">
              <a:ext uri="{FF2B5EF4-FFF2-40B4-BE49-F238E27FC236}">
                <a16:creationId xmlns:a16="http://schemas.microsoft.com/office/drawing/2014/main" id="{306BA596-0CFE-48F3-A022-D78A7B9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成员 B｜本周</a:t>
            </a:r>
          </a:p>
        </p:txBody>
      </p:sp>
      <p:sp>
        <p:nvSpPr>
          <p:cNvPr id="20" name="reading-action-row-3">
            <a:extLst xmlns:a="http://schemas.openxmlformats.org/drawingml/2006/main">
              <a:ext uri="{FF2B5EF4-FFF2-40B4-BE49-F238E27FC236}">
                <a16:creationId xmlns:a16="http://schemas.microsoft.com/office/drawing/2014/main" id="{6A8CD393-7B6C-402B-8028-47DFE21E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67100"/>
            <a:ext cx="11125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2D9E6"/>
            </a:solidFill>
            <a:prstDash val="solid"/>
          </a:ln>
        </p:spPr>
      </p:sp>
      <p:sp>
        <p:nvSpPr>
          <p:cNvPr id="21" name="reading-action-title-3">
            <a:extLst xmlns:a="http://schemas.openxmlformats.org/drawingml/2006/main">
              <a:ext uri="{FF2B5EF4-FFF2-40B4-BE49-F238E27FC236}">
                <a16:creationId xmlns:a16="http://schemas.microsoft.com/office/drawing/2014/main" id="{06877FE5-AE19-48BE-B5C3-FBFD21A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形成验证方案</a:t>
            </a:r>
          </a:p>
        </p:txBody>
      </p:sp>
      <p:sp>
        <p:nvSpPr>
          <p:cNvPr id="22" name="reading-action-output-3">
            <a:extLst xmlns:a="http://schemas.openxmlformats.org/drawingml/2006/main">
              <a:ext uri="{FF2B5EF4-FFF2-40B4-BE49-F238E27FC236}">
                <a16:creationId xmlns:a16="http://schemas.microsoft.com/office/drawing/2014/main" id="{E72F16FF-6AD4-47B9-9864-0A60FF3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43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最小实验、判据与资源清单</a:t>
            </a:r>
          </a:p>
        </p:txBody>
      </p:sp>
      <p:sp>
        <p:nvSpPr>
          <p:cNvPr id="23" name="reading-action-owner-3">
            <a:extLst xmlns:a="http://schemas.openxmlformats.org/drawingml/2006/main">
              <a:ext uri="{FF2B5EF4-FFF2-40B4-BE49-F238E27FC236}">
                <a16:creationId xmlns:a16="http://schemas.microsoft.com/office/drawing/2014/main" id="{ABFF82AF-840C-45CC-8803-0B1CD488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成员 C｜两周内</a:t>
            </a:r>
          </a:p>
        </p:txBody>
      </p:sp>
      <p:sp>
        <p:nvSpPr>
          <p:cNvPr id="24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07ECC82A-9A6D-40AC-B385-A3D301EE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5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495614C8-BED7-46CD-8923-1102729C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把组会结论转成责任明确、输出清楚的后续动作。</a:t>
            </a:r>
          </a:p>
        </p:txBody>
      </p:sp>
    </p:spTree>
    <p:extLst>
      <p:ext uri="{BB962C8B-B14F-4D97-AF65-F5344CB8AC3E}">
        <p14:creationId xmlns:p14="http://schemas.microsoft.com/office/powerpoint/2010/main" val="15272298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roup-title-marker">
            <a:extLst xmlns:a="http://schemas.openxmlformats.org/drawingml/2006/main">
              <a:ext uri="{FF2B5EF4-FFF2-40B4-BE49-F238E27FC236}">
                <a16:creationId xmlns:a16="http://schemas.microsoft.com/office/drawing/2014/main" id="{B929DD84-8F49-4DB9-BAF5-A542D64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3400" y="238125"/>
            <a:ext cx="22860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9A0EE3-F2EE-40F0-804D-EEEBCE2C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"/>
            <a:ext cx="866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532"/>
          </a:bodyPr>
          <a:lstStyle xmlns:a="http://schemas.openxmlformats.org/drawingml/2006/main"/>
          <a:p xmlns:a="http://schemas.openxmlformats.org/drawingml/2006/main">
            <a:pPr algn="l">
              <a:def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00" b="1" i="0">
                <a:solidFill>
                  <a:srgbClr val="32497B"/>
                </a:solidFill>
                <a:latin typeface="Microsoft YaHei"/>
                <a:ea typeface="Microsoft YaHei"/>
                <a:cs typeface="Microsoft YaHei"/>
              </a:rPr>
              <a:t>本次汇报精选来源</a:t>
            </a:r>
          </a:p>
        </p:txBody>
      </p:sp>
      <p:sp>
        <p:nvSpPr>
          <p:cNvPr id="3" name="group-context-tag">
            <a:extLst xmlns:a="http://schemas.openxmlformats.org/drawingml/2006/main">
              <a:ext uri="{FF2B5EF4-FFF2-40B4-BE49-F238E27FC236}">
                <a16:creationId xmlns:a16="http://schemas.microsoft.com/office/drawing/2014/main" id="{6B5F5309-FC0B-4FE5-A29D-0955D59B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"/>
            <a:ext cx="1943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52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讨论与收束</a:t>
            </a:r>
          </a:p>
        </p:txBody>
      </p:sp>
      <p:sp>
        <p:nvSpPr>
          <p:cNvPr id="4" name="group-title-rule">
            <a:extLst xmlns:a="http://schemas.openxmlformats.org/drawingml/2006/main">
              <a:ext uri="{FF2B5EF4-FFF2-40B4-BE49-F238E27FC236}">
                <a16:creationId xmlns:a16="http://schemas.microsoft.com/office/drawing/2014/main" id="{AC9F7604-1B67-4532-9495-49CDFA6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5" name="group-footer-label">
            <a:extLst xmlns:a="http://schemas.openxmlformats.org/drawingml/2006/main">
              <a:ext uri="{FF2B5EF4-FFF2-40B4-BE49-F238E27FC236}">
                <a16:creationId xmlns:a16="http://schemas.microsoft.com/office/drawing/2014/main" id="{544B5F5D-F456-4224-A7F8-0979BA6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0455"/>
          </a:bodyPr>
          <a:lstStyle xmlns:a="http://schemas.openxmlformats.org/drawingml/2006/main"/>
          <a:p xmlns:a="http://schemas.openxmlformats.org/drawingml/2006/main">
            <a:pPr algn="l">
              <a:defRPr sz="1100" b="1" i="0">
                <a:solidFill>
                  <a:srgbClr val="8A93A5"/>
                </a:solidFill>
                <a:latin typeface="Arial"/>
                <a:ea typeface="Arial"/>
                <a:cs typeface="Arial"/>
              </a:defRPr>
            </a:pPr>
            <a:r>
              <a:rPr sz="1100" b="1" i="0">
                <a:solidFill>
                  <a:srgbClr val="8A93A5"/>
                </a:solidFill>
                <a:latin typeface="Arial"/>
                <a:ea typeface="Arial"/>
                <a:cs typeface="Arial"/>
              </a:rPr>
              <a:t>MULTI-PAPER REVIEW</a:t>
            </a:r>
          </a:p>
        </p:txBody>
      </p:sp>
      <p:sp>
        <p:nvSpPr>
          <p:cNvPr id="6" name="group-slide-number-box">
            <a:extLst xmlns:a="http://schemas.openxmlformats.org/drawingml/2006/main">
              <a:ext uri="{FF2B5EF4-FFF2-40B4-BE49-F238E27FC236}">
                <a16:creationId xmlns:a16="http://schemas.microsoft.com/office/drawing/2014/main" id="{ACFF0C4D-2040-4699-ACDA-A7BEE9BA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361655-443B-4028-8E5C-7723BFD1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4389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8" name="reference-group-1">
            <a:extLst xmlns:a="http://schemas.openxmlformats.org/drawingml/2006/main">
              <a:ext uri="{FF2B5EF4-FFF2-40B4-BE49-F238E27FC236}">
                <a16:creationId xmlns:a16="http://schemas.microsoft.com/office/drawing/2014/main" id="{88312A74-0A2F-4DF1-AD6D-4B98665F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2578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2986"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焦点论文</a:t>
            </a:r>
          </a:p>
        </p:txBody>
      </p:sp>
      <p:sp>
        <p:nvSpPr>
          <p:cNvPr id="9" name="reference-number-1">
            <a:extLst xmlns:a="http://schemas.openxmlformats.org/drawingml/2006/main">
              <a:ext uri="{FF2B5EF4-FFF2-40B4-BE49-F238E27FC236}">
                <a16:creationId xmlns:a16="http://schemas.microsoft.com/office/drawing/2014/main" id="{4F726E5E-39DF-4FC2-90CD-BC6EFF7C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reference-entry-1">
            <a:extLst xmlns:a="http://schemas.openxmlformats.org/drawingml/2006/main">
              <a:ext uri="{FF2B5EF4-FFF2-40B4-BE49-F238E27FC236}">
                <a16:creationId xmlns:a16="http://schemas.microsoft.com/office/drawing/2014/main" id="{F0CABDA0-186D-4A9F-BE14-F7D13BA3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焦点论文 A：完整作者. 完整题名. 期刊/会议, 年份. DOI.</a:t>
            </a:r>
          </a:p>
        </p:txBody>
      </p:sp>
      <p:sp>
        <p:nvSpPr>
          <p:cNvPr id="11" name="reference-rule-1">
            <a:extLst xmlns:a="http://schemas.openxmlformats.org/drawingml/2006/main">
              <a:ext uri="{FF2B5EF4-FFF2-40B4-BE49-F238E27FC236}">
                <a16:creationId xmlns:a16="http://schemas.microsoft.com/office/drawing/2014/main" id="{4579E332-3B28-4F69-ACC3-685CD974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670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2" name="reference-number-2">
            <a:extLst xmlns:a="http://schemas.openxmlformats.org/drawingml/2006/main">
              <a:ext uri="{FF2B5EF4-FFF2-40B4-BE49-F238E27FC236}">
                <a16:creationId xmlns:a16="http://schemas.microsoft.com/office/drawing/2014/main" id="{BEDCF1D3-C9B6-4F8F-BB59-2E787399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ference-entry-2">
            <a:extLst xmlns:a="http://schemas.openxmlformats.org/drawingml/2006/main">
              <a:ext uri="{FF2B5EF4-FFF2-40B4-BE49-F238E27FC236}">
                <a16:creationId xmlns:a16="http://schemas.microsoft.com/office/drawing/2014/main" id="{451BE3D0-ECF7-4B1D-9049-BDA886A0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90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焦点论文 B：完整作者. 完整题名. 期刊/会议, 年份. DOI.</a:t>
            </a:r>
          </a:p>
        </p:txBody>
      </p:sp>
      <p:sp>
        <p:nvSpPr>
          <p:cNvPr id="14" name="reference-rule-2">
            <a:extLst xmlns:a="http://schemas.openxmlformats.org/drawingml/2006/main">
              <a:ext uri="{FF2B5EF4-FFF2-40B4-BE49-F238E27FC236}">
                <a16:creationId xmlns:a16="http://schemas.microsoft.com/office/drawing/2014/main" id="{77EBF1B5-9D30-4523-A274-1B8EB94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4807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15" name="reference-number-3">
            <a:extLst xmlns:a="http://schemas.openxmlformats.org/drawingml/2006/main">
              <a:ext uri="{FF2B5EF4-FFF2-40B4-BE49-F238E27FC236}">
                <a16:creationId xmlns:a16="http://schemas.microsoft.com/office/drawing/2014/main" id="{9B0F2A73-ED14-4A54-B9CC-25E8A090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ference-entry-3">
            <a:extLst xmlns:a="http://schemas.openxmlformats.org/drawingml/2006/main">
              <a:ext uri="{FF2B5EF4-FFF2-40B4-BE49-F238E27FC236}">
                <a16:creationId xmlns:a16="http://schemas.microsoft.com/office/drawing/2014/main" id="{221421ED-D421-41D9-8F44-46A5742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719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焦点论文 C：完整作者. 完整题名. 期刊/会议, 年份. DOI.</a:t>
            </a:r>
          </a:p>
        </p:txBody>
      </p:sp>
      <p:sp>
        <p:nvSpPr>
          <p:cNvPr id="17" name="reference-group-2">
            <a:extLst xmlns:a="http://schemas.openxmlformats.org/drawingml/2006/main">
              <a:ext uri="{FF2B5EF4-FFF2-40B4-BE49-F238E27FC236}">
                <a16:creationId xmlns:a16="http://schemas.microsoft.com/office/drawing/2014/main" id="{B8BF86ED-E2E1-4442-BD05-AC08B080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57350"/>
            <a:ext cx="52578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72986"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方法与背景来源</a:t>
            </a:r>
          </a:p>
        </p:txBody>
      </p:sp>
      <p:sp>
        <p:nvSpPr>
          <p:cNvPr id="18" name="reference-number-4">
            <a:extLst xmlns:a="http://schemas.openxmlformats.org/drawingml/2006/main">
              <a:ext uri="{FF2B5EF4-FFF2-40B4-BE49-F238E27FC236}">
                <a16:creationId xmlns:a16="http://schemas.microsoft.com/office/drawing/2014/main" id="{D9CA45AD-64FB-4ADC-A1C4-E5B2A582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reference-entry-4">
            <a:extLst xmlns:a="http://schemas.openxmlformats.org/drawingml/2006/main">
              <a:ext uri="{FF2B5EF4-FFF2-40B4-BE49-F238E27FC236}">
                <a16:creationId xmlns:a16="http://schemas.microsoft.com/office/drawing/2014/main" id="{B78F0A28-BA75-47AB-9C81-1A38269C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关键方法来源：作者. 题名. 来源, 年份.</a:t>
            </a:r>
          </a:p>
        </p:txBody>
      </p:sp>
      <p:sp>
        <p:nvSpPr>
          <p:cNvPr id="20" name="reference-rule-4">
            <a:extLst xmlns:a="http://schemas.openxmlformats.org/drawingml/2006/main">
              <a:ext uri="{FF2B5EF4-FFF2-40B4-BE49-F238E27FC236}">
                <a16:creationId xmlns:a16="http://schemas.microsoft.com/office/drawing/2014/main" id="{51C2D620-1716-4239-8A27-3E819A3F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6702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21" name="reference-number-5">
            <a:extLst xmlns:a="http://schemas.openxmlformats.org/drawingml/2006/main">
              <a:ext uri="{FF2B5EF4-FFF2-40B4-BE49-F238E27FC236}">
                <a16:creationId xmlns:a16="http://schemas.microsoft.com/office/drawing/2014/main" id="{C5FF44B9-BD71-4B67-A2A1-FB1F3B3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ference-entry-5">
            <a:extLst xmlns:a="http://schemas.openxmlformats.org/drawingml/2006/main">
              <a:ext uri="{FF2B5EF4-FFF2-40B4-BE49-F238E27FC236}">
                <a16:creationId xmlns:a16="http://schemas.microsoft.com/office/drawing/2014/main" id="{F7C2AC94-C021-4C97-B0F0-2E0A5B1E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90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数据或标准来源：机构. 名称. 版本/年份.</a:t>
            </a:r>
          </a:p>
        </p:txBody>
      </p:sp>
      <p:sp>
        <p:nvSpPr>
          <p:cNvPr id="23" name="reference-rule-5">
            <a:extLst xmlns:a="http://schemas.openxmlformats.org/drawingml/2006/main">
              <a:ext uri="{FF2B5EF4-FFF2-40B4-BE49-F238E27FC236}">
                <a16:creationId xmlns:a16="http://schemas.microsoft.com/office/drawing/2014/main" id="{EDEA4D1B-85B0-49B5-833A-D9A17903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48075"/>
            <a:ext cx="4533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9E6"/>
          </a:solidFill>
          <a:ln xmlns:a="http://schemas.openxmlformats.org/drawingml/2006/main" w="0">
            <a:solidFill>
              <a:srgbClr val="D2D9E6"/>
            </a:solidFill>
            <a:prstDash val="solid"/>
          </a:ln>
        </p:spPr>
      </p:sp>
      <p:sp>
        <p:nvSpPr>
          <p:cNvPr id="24" name="reference-number-6">
            <a:extLst xmlns:a="http://schemas.openxmlformats.org/drawingml/2006/main">
              <a:ext uri="{FF2B5EF4-FFF2-40B4-BE49-F238E27FC236}">
                <a16:creationId xmlns:a16="http://schemas.microsoft.com/office/drawing/2014/main" id="{2D3B8093-1F86-4221-97BD-FB143017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438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00" b="1" i="0">
                <a:solidFill>
                  <a:srgbClr val="32497B"/>
                </a:solidFill>
                <a:latin typeface="Arial"/>
                <a:ea typeface="Arial"/>
                <a:cs typeface="Arial"/>
              </a:defRPr>
            </a:pPr>
            <a:r>
              <a:rPr sz="1300" b="1" i="0">
                <a:solidFill>
                  <a:srgbClr val="32497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reference-entry-6">
            <a:extLst xmlns:a="http://schemas.openxmlformats.org/drawingml/2006/main">
              <a:ext uri="{FF2B5EF4-FFF2-40B4-BE49-F238E27FC236}">
                <a16:creationId xmlns:a16="http://schemas.microsoft.com/office/drawing/2014/main" id="{F090E19C-A2F3-43BD-A942-E118C5A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719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17213A"/>
                </a:solidFill>
                <a:latin typeface="Microsoft YaHei"/>
                <a:ea typeface="Microsoft YaHei"/>
                <a:cs typeface="Microsoft YaHei"/>
              </a:rPr>
              <a:t>补充材料或代码仓库：名称与稳定链接.</a:t>
            </a:r>
          </a:p>
        </p:txBody>
      </p:sp>
      <p:sp>
        <p:nvSpPr>
          <p:cNvPr id="26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54B910CE-F5AF-4F1B-AD36-19C5BD03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</p:sp>
      <p:sp>
        <p:nvSpPr>
          <p:cNvPr id="27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3661F3E3-C053-483B-B2E6-AD17446F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76925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只列真正进入论证链的论文、数据和方法来源。</a:t>
            </a:r>
          </a:p>
        </p:txBody>
      </p:sp>
    </p:spTree>
    <p:extLst>
      <p:ext uri="{BB962C8B-B14F-4D97-AF65-F5344CB8AC3E}">
        <p14:creationId xmlns:p14="http://schemas.microsoft.com/office/powerpoint/2010/main" val="123623522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roup-corner-tl-1">
            <a:extLst xmlns:a="http://schemas.openxmlformats.org/drawingml/2006/main">
              <a:ext uri="{FF2B5EF4-FFF2-40B4-BE49-F238E27FC236}">
                <a16:creationId xmlns:a16="http://schemas.microsoft.com/office/drawing/2014/main" id="{08E167C6-6CB2-4C26-8C74-11229C4C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2" name="group-corner-tl-2">
            <a:extLst xmlns:a="http://schemas.openxmlformats.org/drawingml/2006/main">
              <a:ext uri="{FF2B5EF4-FFF2-40B4-BE49-F238E27FC236}">
                <a16:creationId xmlns:a16="http://schemas.microsoft.com/office/drawing/2014/main" id="{00006631-3FF3-419D-9E62-A57C02A6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619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3" name="group-corner-tl-3">
            <a:extLst xmlns:a="http://schemas.openxmlformats.org/drawingml/2006/main">
              <a:ext uri="{FF2B5EF4-FFF2-40B4-BE49-F238E27FC236}">
                <a16:creationId xmlns:a16="http://schemas.microsoft.com/office/drawing/2014/main" id="{D14B2A01-FBB7-412A-97A8-1B1F3376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7200"/>
            <a:ext cx="2571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4" name="group-corner-br-1">
            <a:extLst xmlns:a="http://schemas.openxmlformats.org/drawingml/2006/main">
              <a:ext uri="{FF2B5EF4-FFF2-40B4-BE49-F238E27FC236}">
                <a16:creationId xmlns:a16="http://schemas.microsoft.com/office/drawing/2014/main" id="{1810D9C3-1E3C-4251-9792-A2848B36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7150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5" name="group-corner-br-2">
            <a:extLst xmlns:a="http://schemas.openxmlformats.org/drawingml/2006/main">
              <a:ext uri="{FF2B5EF4-FFF2-40B4-BE49-F238E27FC236}">
                <a16:creationId xmlns:a16="http://schemas.microsoft.com/office/drawing/2014/main" id="{02EF03A9-F46F-4D08-A9AF-D0C9A601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5810250"/>
            <a:ext cx="4000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6" name="group-corner-br-3">
            <a:extLst xmlns:a="http://schemas.openxmlformats.org/drawingml/2006/main">
              <a:ext uri="{FF2B5EF4-FFF2-40B4-BE49-F238E27FC236}">
                <a16:creationId xmlns:a16="http://schemas.microsoft.com/office/drawing/2014/main" id="{84F47149-261B-40F0-83CB-E51B6555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905500"/>
            <a:ext cx="257175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7" name="group-closing-band">
            <a:extLst xmlns:a="http://schemas.openxmlformats.org/drawingml/2006/main">
              <a:ext uri="{FF2B5EF4-FFF2-40B4-BE49-F238E27FC236}">
                <a16:creationId xmlns:a16="http://schemas.microsoft.com/office/drawing/2014/main" id="{238CA59E-8C06-41A5-A5A4-DA3E7AD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97B"/>
          </a:solidFill>
          <a:ln xmlns:a="http://schemas.openxmlformats.org/drawingml/2006/main" w="0">
            <a:solidFill>
              <a:srgbClr val="32497B"/>
            </a:solidFill>
            <a:prstDash val="solid"/>
          </a:ln>
        </p:spPr>
      </p:sp>
      <p:sp>
        <p:nvSpPr>
          <p:cNvPr id="8" name="group-closing-title">
            <a:extLst xmlns:a="http://schemas.openxmlformats.org/drawingml/2006/main">
              <a:ext uri="{FF2B5EF4-FFF2-40B4-BE49-F238E27FC236}">
                <a16:creationId xmlns:a16="http://schemas.microsoft.com/office/drawing/2014/main" id="{7171C3B3-9599-4016-9125-FAE8EB25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574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讨论与下一步</a:t>
            </a:r>
          </a:p>
        </p:txBody>
      </p:sp>
      <p:sp>
        <p:nvSpPr>
          <p:cNvPr id="9" name="group-closing-synthesis">
            <a:extLst xmlns:a="http://schemas.openxmlformats.org/drawingml/2006/main">
              <a:ext uri="{FF2B5EF4-FFF2-40B4-BE49-F238E27FC236}">
                <a16:creationId xmlns:a16="http://schemas.microsoft.com/office/drawing/2014/main" id="{DA2339CB-928C-440E-B06B-10053C5A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914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0" i="0">
                <a:solidFill>
                  <a:srgbClr val="F4F6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i="0">
                <a:solidFill>
                  <a:srgbClr val="F4F6FB"/>
                </a:solidFill>
                <a:latin typeface="Microsoft YaHei"/>
                <a:ea typeface="Microsoft YaHei"/>
                <a:cs typeface="Microsoft YaHei"/>
              </a:rPr>
              <a:t>这组论文支持一条可检验的机制方向，但外部适用性仍是当前最大不确定性。</a:t>
            </a:r>
          </a:p>
        </p:txBody>
      </p:sp>
      <p:sp>
        <p:nvSpPr>
          <p:cNvPr id="10" name="group-closing-prompt-1">
            <a:extLst xmlns:a="http://schemas.openxmlformats.org/drawingml/2006/main">
              <a:ext uri="{FF2B5EF4-FFF2-40B4-BE49-F238E27FC236}">
                <a16:creationId xmlns:a16="http://schemas.microsoft.com/office/drawing/2014/main" id="{4B3A4985-7EBF-419F-BCC6-18FA29A1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143500"/>
            <a:ext cx="3143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接受哪项结论？</a:t>
            </a:r>
          </a:p>
        </p:txBody>
      </p:sp>
      <p:sp>
        <p:nvSpPr>
          <p:cNvPr id="11" name="group-closing-prompt-2">
            <a:extLst xmlns:a="http://schemas.openxmlformats.org/drawingml/2006/main">
              <a:ext uri="{FF2B5EF4-FFF2-40B4-BE49-F238E27FC236}">
                <a16:creationId xmlns:a16="http://schemas.microsoft.com/office/drawing/2014/main" id="{8707A974-9A59-4F3F-85DB-4FE312B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43500"/>
            <a:ext cx="3143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还缺哪项证据？</a:t>
            </a:r>
          </a:p>
        </p:txBody>
      </p:sp>
      <p:sp>
        <p:nvSpPr>
          <p:cNvPr id="12" name="group-closing-prompt-3">
            <a:extLst xmlns:a="http://schemas.openxmlformats.org/drawingml/2006/main">
              <a:ext uri="{FF2B5EF4-FFF2-40B4-BE49-F238E27FC236}">
                <a16:creationId xmlns:a16="http://schemas.microsoft.com/office/drawing/2014/main" id="{A4761FAA-D59E-4547-AD06-5BA08097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143500"/>
            <a:ext cx="31432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DF6"/>
          </a:solidFill>
          <a:ln xmlns:a="http://schemas.openxmlformats.org/drawingml/2006/main" w="9525">
            <a:solidFill>
              <a:srgbClr val="E8EDF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355D"/>
                </a:solidFill>
                <a:latin typeface="Microsoft YaHei"/>
                <a:ea typeface="Microsoft YaHei"/>
                <a:cs typeface="Microsoft YaHei"/>
              </a:rPr>
              <a:t>下一步由谁完成？</a:t>
            </a:r>
          </a:p>
        </p:txBody>
      </p:sp>
      <p:sp>
        <p:nvSpPr>
          <p:cNvPr id="13" name="group-closing-presenter">
            <a:extLst xmlns:a="http://schemas.openxmlformats.org/drawingml/2006/main">
              <a:ext uri="{FF2B5EF4-FFF2-40B4-BE49-F238E27FC236}">
                <a16:creationId xmlns:a16="http://schemas.microsoft.com/office/drawing/2014/main" id="{FF9F3E5B-A706-45E6-B57C-9A159D2B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57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91071"/>
          </a:bodyPr>
          <a:lstStyle xmlns:a="http://schemas.openxmlformats.org/drawingml/2006/main"/>
          <a:p xmlns:a="http://schemas.openxmlformats.org/drawingml/2006/main">
            <a:pPr algn="ctr">
              <a:def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5D667A"/>
                </a:solidFill>
                <a:latin typeface="Microsoft YaHei"/>
                <a:ea typeface="Microsoft YaHei"/>
                <a:cs typeface="Microsoft YaHei"/>
              </a:rPr>
              <a:t>示范课题组 · 文献汇报</a:t>
            </a:r>
          </a:p>
        </p:txBody>
      </p:sp>
    </p:spTree>
    <p:extLst>
      <p:ext uri="{BB962C8B-B14F-4D97-AF65-F5344CB8AC3E}">
        <p14:creationId xmlns:p14="http://schemas.microsoft.com/office/powerpoint/2010/main" val="1358449027"/>
      </p:ext>
    </p:extLst>
  </p:cSld>
</p:sld>
</file>

<file path=ppt/theme/theme1.xml><?xml version="1.0" encoding="utf-8"?>
<a:theme xmlns:a="http://schemas.openxmlformats.org/drawingml/2006/main" name="ChatGPT">
  <a:themeElements>
    <a:clrScheme name="Academic Slides · 学术蓝">
      <a:dk1>
        <a:srgbClr val="111827"/>
      </a:dk1>
      <a:lt1>
        <a:srgbClr val="FFFFFF"/>
      </a:lt1>
      <a:dk2>
        <a:srgbClr val="24355D"/>
      </a:dk2>
      <a:lt2>
        <a:srgbClr val="E8EDF5"/>
      </a:lt2>
      <a:accent1>
        <a:srgbClr val="32497B"/>
      </a:accent1>
      <a:accent2>
        <a:srgbClr val="6682B3"/>
      </a:accent2>
      <a:accent3>
        <a:srgbClr val="3C786D"/>
      </a:accent3>
      <a:accent4>
        <a:srgbClr val="C7922C"/>
      </a:accent4>
      <a:accent5>
        <a:srgbClr val="7B5A8E"/>
      </a:accent5>
      <a:accent6>
        <a:srgbClr val="A5424A"/>
      </a:accent6>
      <a:hlink>
        <a:srgbClr val="32497B"/>
      </a:hlink>
      <a:folHlink>
        <a:srgbClr val="7B5A8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cademic Slides · 学术蓝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2026-08-16T14:39:38.1260000Z</dcterms:created>
  <dcterms:modified xsi:type="dcterms:W3CDTF">2026-08-16T14:39:38.1260000Z</dcterms:modified>
</coreProperties>
</file>
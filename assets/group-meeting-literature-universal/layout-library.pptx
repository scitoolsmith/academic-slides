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1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faa6d88093407e" /><Relationship Type="http://schemas.openxmlformats.org/officeDocument/2006/relationships/extended-properties" Target="/docProps/app.xml" Id="R1e0867ec48924a7b" /><Relationship Type="http://schemas.openxmlformats.org/officeDocument/2006/relationships/officeDocument" Target="/ppt/presentation.xml" Id="R089a8703ebce4b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e8d445bfba34e01"/>
  </p:sldMasterIdLst>
  <p:notesMasterIdLst>
    <p:notesMasterId xmlns:r="http://schemas.openxmlformats.org/officeDocument/2006/relationships" r:id="R18142edcebe74778"/>
  </p:notesMasterIdLst>
  <p:sldIdLst>
    <p:sldId xmlns:r="http://schemas.openxmlformats.org/officeDocument/2006/relationships" id="256" r:id="R48b7e7d20015441e"/>
    <p:sldId xmlns:r="http://schemas.openxmlformats.org/officeDocument/2006/relationships" id="257" r:id="R51f80c2aeab5486f"/>
    <p:sldId xmlns:r="http://schemas.openxmlformats.org/officeDocument/2006/relationships" id="258" r:id="R1946b42d64404ee4"/>
    <p:sldId xmlns:r="http://schemas.openxmlformats.org/officeDocument/2006/relationships" id="259" r:id="R67cd56aa2d4744a0"/>
    <p:sldId xmlns:r="http://schemas.openxmlformats.org/officeDocument/2006/relationships" id="260" r:id="Rfc19a1daa4ca4a02"/>
    <p:sldId xmlns:r="http://schemas.openxmlformats.org/officeDocument/2006/relationships" id="261" r:id="R70ad5229cbd049f1"/>
    <p:sldId xmlns:r="http://schemas.openxmlformats.org/officeDocument/2006/relationships" id="262" r:id="R76083a618c7b4749"/>
    <p:sldId xmlns:r="http://schemas.openxmlformats.org/officeDocument/2006/relationships" id="263" r:id="R5d931e1b36514df4"/>
    <p:sldId xmlns:r="http://schemas.openxmlformats.org/officeDocument/2006/relationships" id="264" r:id="R97275843def84d6f"/>
    <p:sldId xmlns:r="http://schemas.openxmlformats.org/officeDocument/2006/relationships" id="265" r:id="Rf1ccefd52cf04458"/>
    <p:sldId xmlns:r="http://schemas.openxmlformats.org/officeDocument/2006/relationships" id="266" r:id="Rddc7c8c8ed8245c4"/>
    <p:sldId xmlns:r="http://schemas.openxmlformats.org/officeDocument/2006/relationships" id="267" r:id="R0521729cc1334059"/>
    <p:sldId xmlns:r="http://schemas.openxmlformats.org/officeDocument/2006/relationships" id="268" r:id="R6d76165b1306436c"/>
    <p:sldId xmlns:r="http://schemas.openxmlformats.org/officeDocument/2006/relationships" id="269" r:id="R255ab25c938d4d9c"/>
    <p:sldId xmlns:r="http://schemas.openxmlformats.org/officeDocument/2006/relationships" id="270" r:id="R096bf5fa97024362"/>
    <p:sldId xmlns:r="http://schemas.openxmlformats.org/officeDocument/2006/relationships" id="271" r:id="Rc02cc10000474c2a"/>
    <p:sldId xmlns:r="http://schemas.openxmlformats.org/officeDocument/2006/relationships" id="272" r:id="R84b383feda964fc6"/>
    <p:sldId xmlns:r="http://schemas.openxmlformats.org/officeDocument/2006/relationships" id="273" r:id="Ra205c725050b43dd"/>
    <p:sldId xmlns:r="http://schemas.openxmlformats.org/officeDocument/2006/relationships" id="274" r:id="R4cf66b928aa84463"/>
    <p:sldId xmlns:r="http://schemas.openxmlformats.org/officeDocument/2006/relationships" id="275" r:id="Rca2ec154d9c34cbe"/>
    <p:sldId xmlns:r="http://schemas.openxmlformats.org/officeDocument/2006/relationships" id="276" r:id="R3fb39a65a1094dfc"/>
    <p:sldId xmlns:r="http://schemas.openxmlformats.org/officeDocument/2006/relationships" id="277" r:id="R5dff3c0dd8fe4396"/>
    <p:sldId xmlns:r="http://schemas.openxmlformats.org/officeDocument/2006/relationships" id="278" r:id="R455581a9147e4812"/>
    <p:sldId xmlns:r="http://schemas.openxmlformats.org/officeDocument/2006/relationships" id="279" r:id="R2c20276809c642a8"/>
    <p:sldId xmlns:r="http://schemas.openxmlformats.org/officeDocument/2006/relationships" id="280" r:id="Rde9db3988ce24293"/>
    <p:sldId xmlns:r="http://schemas.openxmlformats.org/officeDocument/2006/relationships" id="281" r:id="Rf3bb6ceee90a4c31"/>
    <p:sldId xmlns:r="http://schemas.openxmlformats.org/officeDocument/2006/relationships" id="282" r:id="R95ec1d78d64e4f73"/>
    <p:sldId xmlns:r="http://schemas.openxmlformats.org/officeDocument/2006/relationships" id="283" r:id="R26242e412ac14721"/>
    <p:sldId xmlns:r="http://schemas.openxmlformats.org/officeDocument/2006/relationships" id="284" r:id="R60748da315144317"/>
    <p:sldId xmlns:r="http://schemas.openxmlformats.org/officeDocument/2006/relationships" id="285" r:id="Rad065d852c5848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f6692180c994917" /><Relationship Type="http://schemas.openxmlformats.org/officeDocument/2006/relationships/slideMaster" Target="/ppt/slideMasters/slideMaster1.xml" Id="R7e8d445bfba34e01" /><Relationship Type="http://schemas.openxmlformats.org/officeDocument/2006/relationships/notesMaster" Target="/ppt/notesMasters/notesMaster1.xml" Id="R18142edcebe74778" /><Relationship Type="http://schemas.openxmlformats.org/officeDocument/2006/relationships/presProps" Target="/ppt/presProps.xml" Id="R82d636d7f89647f1" /><Relationship Type="http://schemas.openxmlformats.org/officeDocument/2006/relationships/tableStyles" Target="/ppt/tableStyles.xml" Id="R436115748bee4dc4" /><Relationship Type="http://schemas.openxmlformats.org/officeDocument/2006/relationships/slide" Target="/ppt/slides/slide1.xml" Id="R48b7e7d20015441e" /><Relationship Type="http://schemas.openxmlformats.org/officeDocument/2006/relationships/slide" Target="/ppt/slides/slide2.xml" Id="R51f80c2aeab5486f" /><Relationship Type="http://schemas.openxmlformats.org/officeDocument/2006/relationships/slide" Target="/ppt/slides/slide3.xml" Id="R1946b42d64404ee4" /><Relationship Type="http://schemas.openxmlformats.org/officeDocument/2006/relationships/slide" Target="/ppt/slides/slide4.xml" Id="R67cd56aa2d4744a0" /><Relationship Type="http://schemas.openxmlformats.org/officeDocument/2006/relationships/slide" Target="/ppt/slides/slide5.xml" Id="Rfc19a1daa4ca4a02" /><Relationship Type="http://schemas.openxmlformats.org/officeDocument/2006/relationships/slide" Target="/ppt/slides/slide6.xml" Id="R70ad5229cbd049f1" /><Relationship Type="http://schemas.openxmlformats.org/officeDocument/2006/relationships/slide" Target="/ppt/slides/slide7.xml" Id="R76083a618c7b4749" /><Relationship Type="http://schemas.openxmlformats.org/officeDocument/2006/relationships/slide" Target="/ppt/slides/slide8.xml" Id="R5d931e1b36514df4" /><Relationship Type="http://schemas.openxmlformats.org/officeDocument/2006/relationships/slide" Target="/ppt/slides/slide9.xml" Id="R97275843def84d6f" /><Relationship Type="http://schemas.openxmlformats.org/officeDocument/2006/relationships/slide" Target="/ppt/slides/slide10.xml" Id="Rf1ccefd52cf04458" /><Relationship Type="http://schemas.openxmlformats.org/officeDocument/2006/relationships/slide" Target="/ppt/slides/slide11.xml" Id="Rddc7c8c8ed8245c4" /><Relationship Type="http://schemas.openxmlformats.org/officeDocument/2006/relationships/slide" Target="/ppt/slides/slide12.xml" Id="R0521729cc1334059" /><Relationship Type="http://schemas.openxmlformats.org/officeDocument/2006/relationships/slide" Target="/ppt/slides/slide13.xml" Id="R6d76165b1306436c" /><Relationship Type="http://schemas.openxmlformats.org/officeDocument/2006/relationships/slide" Target="/ppt/slides/slide14.xml" Id="R255ab25c938d4d9c" /><Relationship Type="http://schemas.openxmlformats.org/officeDocument/2006/relationships/slide" Target="/ppt/slides/slide15.xml" Id="R096bf5fa97024362" /><Relationship Type="http://schemas.openxmlformats.org/officeDocument/2006/relationships/slide" Target="/ppt/slides/slide16.xml" Id="Rc02cc10000474c2a" /><Relationship Type="http://schemas.openxmlformats.org/officeDocument/2006/relationships/slide" Target="/ppt/slides/slide17.xml" Id="R84b383feda964fc6" /><Relationship Type="http://schemas.openxmlformats.org/officeDocument/2006/relationships/slide" Target="/ppt/slides/slide18.xml" Id="Ra205c725050b43dd" /><Relationship Type="http://schemas.openxmlformats.org/officeDocument/2006/relationships/slide" Target="/ppt/slides/slide19.xml" Id="R4cf66b928aa84463" /><Relationship Type="http://schemas.openxmlformats.org/officeDocument/2006/relationships/slide" Target="/ppt/slides/slide20.xml" Id="Rca2ec154d9c34cbe" /><Relationship Type="http://schemas.openxmlformats.org/officeDocument/2006/relationships/slide" Target="/ppt/slides/slide21.xml" Id="R3fb39a65a1094dfc" /><Relationship Type="http://schemas.openxmlformats.org/officeDocument/2006/relationships/slide" Target="/ppt/slides/slide22.xml" Id="R5dff3c0dd8fe4396" /><Relationship Type="http://schemas.openxmlformats.org/officeDocument/2006/relationships/slide" Target="/ppt/slides/slide23.xml" Id="R455581a9147e4812" /><Relationship Type="http://schemas.openxmlformats.org/officeDocument/2006/relationships/slide" Target="/ppt/slides/slide24.xml" Id="R2c20276809c642a8" /><Relationship Type="http://schemas.openxmlformats.org/officeDocument/2006/relationships/slide" Target="/ppt/slides/slide25.xml" Id="Rde9db3988ce24293" /><Relationship Type="http://schemas.openxmlformats.org/officeDocument/2006/relationships/slide" Target="/ppt/slides/slide26.xml" Id="Rf3bb6ceee90a4c31" /><Relationship Type="http://schemas.openxmlformats.org/officeDocument/2006/relationships/slide" Target="/ppt/slides/slide27.xml" Id="R95ec1d78d64e4f73" /><Relationship Type="http://schemas.openxmlformats.org/officeDocument/2006/relationships/slide" Target="/ppt/slides/slide28.xml" Id="R26242e412ac14721" /><Relationship Type="http://schemas.openxmlformats.org/officeDocument/2006/relationships/slide" Target="/ppt/slides/slide29.xml" Id="R60748da315144317" /><Relationship Type="http://schemas.openxmlformats.org/officeDocument/2006/relationships/slide" Target="/ppt/slides/slide30.xml" Id="Rad065d852c5848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5e74a0b20a49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Academic Slides · 学术蓝">
      <a:dk1>
        <a:srgbClr val="111827"/>
      </a:dk1>
      <a:lt1>
        <a:srgbClr val="FFFFFF"/>
      </a:lt1>
      <a:dk2>
        <a:srgbClr val="21325A"/>
      </a:dk2>
      <a:lt2>
        <a:srgbClr val="E8EDF5"/>
      </a:lt2>
      <a:accent1>
        <a:srgbClr val="32497B"/>
      </a:accent1>
      <a:accent2>
        <a:srgbClr val="6682B3"/>
      </a:accent2>
      <a:accent3>
        <a:srgbClr val="3C786D"/>
      </a:accent3>
      <a:accent4>
        <a:srgbClr val="B77A2E"/>
      </a:accent4>
      <a:accent5>
        <a:srgbClr val="765A8C"/>
      </a:accent5>
      <a:accent6>
        <a:srgbClr val="A5424A"/>
      </a:accent6>
      <a:hlink>
        <a:srgbClr val="32497B"/>
      </a:hlink>
      <a:folHlink>
        <a:srgbClr val="765A8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cademic Slides · 学术蓝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6e9873f4124471" /><Relationship Type="http://schemas.openxmlformats.org/officeDocument/2006/relationships/notesMaster" Target="/ppt/notesMasters/notesMaster1.xml" Id="Rcb334260dcf14e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66f9695df9d45c6" /><Relationship Type="http://schemas.openxmlformats.org/officeDocument/2006/relationships/notesMaster" Target="/ppt/notesMasters/notesMaster1.xml" Id="Rb2a0c17fe03b46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2bdd91bea147ac" /><Relationship Type="http://schemas.openxmlformats.org/officeDocument/2006/relationships/notesMaster" Target="/ppt/notesMasters/notesMaster1.xml" Id="R8fc33359234246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41ebb0f4a24d96" /><Relationship Type="http://schemas.openxmlformats.org/officeDocument/2006/relationships/notesMaster" Target="/ppt/notesMasters/notesMaster1.xml" Id="R088484bd852542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1bfef7b67048e9" /><Relationship Type="http://schemas.openxmlformats.org/officeDocument/2006/relationships/notesMaster" Target="/ppt/notesMasters/notesMaster1.xml" Id="R62f37b76e8c64a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ce1feddd49489f" /><Relationship Type="http://schemas.openxmlformats.org/officeDocument/2006/relationships/notesMaster" Target="/ppt/notesMasters/notesMaster1.xml" Id="Rb35c42e8d5b547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0cd47f814d4636" /><Relationship Type="http://schemas.openxmlformats.org/officeDocument/2006/relationships/notesMaster" Target="/ppt/notesMasters/notesMaster1.xml" Id="R4f9c291ad5fd4e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2d55f01be24500" /><Relationship Type="http://schemas.openxmlformats.org/officeDocument/2006/relationships/notesMaster" Target="/ppt/notesMasters/notesMaster1.xml" Id="Rbfe019d4762f43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8c498262c14ab4" /><Relationship Type="http://schemas.openxmlformats.org/officeDocument/2006/relationships/notesMaster" Target="/ppt/notesMasters/notesMaster1.xml" Id="R84bc9d2300a6448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29532aa89a4730" /><Relationship Type="http://schemas.openxmlformats.org/officeDocument/2006/relationships/notesMaster" Target="/ppt/notesMasters/notesMaster1.xml" Id="R059570ebf6ba467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95519caba54379" /><Relationship Type="http://schemas.openxmlformats.org/officeDocument/2006/relationships/notesMaster" Target="/ppt/notesMasters/notesMaster1.xml" Id="R914fad747a8e43d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f8d71a355c471a" /><Relationship Type="http://schemas.openxmlformats.org/officeDocument/2006/relationships/notesMaster" Target="/ppt/notesMasters/notesMaster1.xml" Id="R248317f3b93a4a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fe207e053541a7" /><Relationship Type="http://schemas.openxmlformats.org/officeDocument/2006/relationships/notesMaster" Target="/ppt/notesMasters/notesMaster1.xml" Id="Rc91d73c3b140401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0285e4935d4c91" /><Relationship Type="http://schemas.openxmlformats.org/officeDocument/2006/relationships/notesMaster" Target="/ppt/notesMasters/notesMaster1.xml" Id="Rd9445c60376c40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a5992721e414cc7" /><Relationship Type="http://schemas.openxmlformats.org/officeDocument/2006/relationships/notesMaster" Target="/ppt/notesMasters/notesMaster1.xml" Id="R7501e4281d8e4d9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96cf2920ca418a" /><Relationship Type="http://schemas.openxmlformats.org/officeDocument/2006/relationships/notesMaster" Target="/ppt/notesMasters/notesMaster1.xml" Id="Rf495acc9b21e43f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5cadc5ac2f4018" /><Relationship Type="http://schemas.openxmlformats.org/officeDocument/2006/relationships/notesMaster" Target="/ppt/notesMasters/notesMaster1.xml" Id="R67008b106bcd47e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8d29fb54ee4317" /><Relationship Type="http://schemas.openxmlformats.org/officeDocument/2006/relationships/notesMaster" Target="/ppt/notesMasters/notesMaster1.xml" Id="R9d65cf7a4ff4467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2caa3a779b04d24" /><Relationship Type="http://schemas.openxmlformats.org/officeDocument/2006/relationships/notesMaster" Target="/ppt/notesMasters/notesMaster1.xml" Id="Rc138e81e4c07480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5fe5f62fb5a4aee" /><Relationship Type="http://schemas.openxmlformats.org/officeDocument/2006/relationships/notesMaster" Target="/ppt/notesMasters/notesMaster1.xml" Id="Rd6a4dcafa0cb4c2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f8a29b63ecc4820" /><Relationship Type="http://schemas.openxmlformats.org/officeDocument/2006/relationships/notesMaster" Target="/ppt/notesMasters/notesMaster1.xml" Id="Rcc135669b74846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4d69654407403e" /><Relationship Type="http://schemas.openxmlformats.org/officeDocument/2006/relationships/notesMaster" Target="/ppt/notesMasters/notesMaster1.xml" Id="Rbed40545933b4de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e8fe7b810b147fe" /><Relationship Type="http://schemas.openxmlformats.org/officeDocument/2006/relationships/notesMaster" Target="/ppt/notesMasters/notesMaster1.xml" Id="R13630e5a32664ee0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5adb3e5097f4c81" /><Relationship Type="http://schemas.openxmlformats.org/officeDocument/2006/relationships/notesMaster" Target="/ppt/notesMasters/notesMaster1.xml" Id="R9cbebe12032d429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ec2657e2abe4629" /><Relationship Type="http://schemas.openxmlformats.org/officeDocument/2006/relationships/notesMaster" Target="/ppt/notesMasters/notesMaster1.xml" Id="Rd840eda54036494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5b6e143744f41db" /><Relationship Type="http://schemas.openxmlformats.org/officeDocument/2006/relationships/notesMaster" Target="/ppt/notesMasters/notesMaster1.xml" Id="Rae6f4f0e05f248a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563384e40b74594" /><Relationship Type="http://schemas.openxmlformats.org/officeDocument/2006/relationships/notesMaster" Target="/ppt/notesMasters/notesMaster1.xml" Id="R219f84642fed49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02ade20e4ac4132" /><Relationship Type="http://schemas.openxmlformats.org/officeDocument/2006/relationships/notesMaster" Target="/ppt/notesMasters/notesMaster1.xml" Id="R09ec90d4ae7c447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f0395d037a144c4" /><Relationship Type="http://schemas.openxmlformats.org/officeDocument/2006/relationships/notesMaster" Target="/ppt/notesMasters/notesMaster1.xml" Id="R0c0505470b5d4cb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96726870912432b" /><Relationship Type="http://schemas.openxmlformats.org/officeDocument/2006/relationships/notesMaster" Target="/ppt/notesMasters/notesMaster1.xml" Id="Rcaa7270903364a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本页示范“组会文献汇报·学术通用｜布局库”。封面只交代论文、汇报身份与日期。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过渡：下一页进入“文献地图”。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组会文献汇报通用版式注册表：group-cover；layoutId=group-cover</a:t>
            </a:r>
          </a:p>
          <a:p xmlns:a="http://schemas.openxmlformats.org/drawingml/2006/main">
            <a:r>
              <a:t>- K105 组会文献汇报参考模板的 clean-generated 迁移记录；layoutId=group-cover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本页示范“文献地图”。论文数量和顺序由共同问题决定，不由模板固定。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过渡：下一页进入“PAPER 01｜论文精读”。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组会文献汇报通用版式注册表：paper-agenda；layoutId=paper-agenda</a:t>
            </a:r>
          </a:p>
          <a:p xmlns:a="http://schemas.openxmlformats.org/drawingml/2006/main">
            <a:r>
              <a:t>- K105 组会文献汇报参考模板的 clean-generated 迁移记录；layoutId=paper-agenda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本页示范“PAPER 01｜论文精读”。章节页用于切换问题或论文，不承担正文。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过渡：下一页进入“论文档案：先核对身份，再讨论结论”。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组会文献汇报通用版式注册表：paper-divider；layoutId=paper-divider</a:t>
            </a:r>
          </a:p>
          <a:p xmlns:a="http://schemas.openxmlformats.org/drawingml/2006/main">
            <a:r>
              <a:t>- K105 组会文献汇报参考模板的 clean-generated 迁移记录；layoutId=paper-divider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本页示范“论文档案：先核对身份，再讨论结论”。书目信息、研究问题与一句话贡献在同一页完成定位。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过渡：下一页进入“为什么选这些论文”。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组会文献汇报通用版式注册表：paper-profile；layoutId=paper-profile</a:t>
            </a:r>
          </a:p>
          <a:p xmlns:a="http://schemas.openxmlformats.org/drawingml/2006/main">
            <a:r>
              <a:t>- K105 组会文献汇报参考模板的 clean-generated 迁移记录；layoutId=paper-profile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本页示范“为什么选这些论文”。选文必须服务共同问题，而不是按下载顺序罗列。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过渡：下一页进入“从已知到缺口，再到研究问题”。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组会文献汇报通用版式注册表：selection-rationale；layoutId=selection-rationale</a:t>
            </a:r>
          </a:p>
          <a:p xmlns:a="http://schemas.openxmlformats.org/drawingml/2006/main">
            <a:r>
              <a:t>- K105 组会文献汇报参考模板的 clean-generated 迁移记录；layoutId=selection-rationale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本页示范“从已知到缺口，再到研究问题”。研究问题必须由证据缺口自然推出。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过渡：下一页进入“概念框架：变量如何共同形成可检验解释”。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组会文献汇报通用版式注册表：known-gap-question；layoutId=known-gap-question</a:t>
            </a:r>
          </a:p>
          <a:p xmlns:a="http://schemas.openxmlformats.org/drawingml/2006/main">
            <a:r>
              <a:t>- K105 组会文献汇报参考模板的 clean-generated 迁移记录；layoutId=known-gap-question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本页示范“概念框架：变量如何共同形成可检验解释”。只有真实存在输入—机制—输出—边界关系时才绘制框架。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过渡：下一页进入“研究设计：从样本到结论的证据链”。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组会文献汇报通用版式注册表：concept-framework；layoutId=concept-framework</a:t>
            </a:r>
          </a:p>
          <a:p xmlns:a="http://schemas.openxmlformats.org/drawingml/2006/main">
            <a:r>
              <a:t>- K105 组会文献汇报参考模板的 clean-generated 迁移记录；layoutId=concept-framework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本页示范“研究设计：从样本到结论的证据链”。把设计顺序、关键控制和最终输出一起展示。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过渡：下一页进入“方法时间线：每一步解决一个不确定性”。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组会文献汇报通用版式注册表：study-design；layoutId=study-design</a:t>
            </a:r>
          </a:p>
          <a:p xmlns:a="http://schemas.openxmlformats.org/drawingml/2006/main">
            <a:r>
              <a:t>- K105 组会文献汇报参考模板的 clean-generated 迁移记录；layoutId=study-design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本页示范“方法时间线：每一步解决一个不确定性”。方法页强调为什么这样做，不罗列软件按钮。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过渡：下一页进入“方法比较：不同路径回答不同问题”。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组会文献汇报通用版式注册表：method-sequence；layoutId=method-sequence</a:t>
            </a:r>
          </a:p>
          <a:p xmlns:a="http://schemas.openxmlformats.org/drawingml/2006/main">
            <a:r>
              <a:t>- K105 组会文献汇报参考模板的 clean-generated 迁移记录；layoutId=method-sequence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本页示范“方法比较：不同路径回答不同问题”。选择方法要与研究问题和证据强度匹配。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过渡：下一页进入“样本与数据：先交代可比性，再解释结果”。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组会文献汇报通用版式注册表：method-comparison；layoutId=method-comparison</a:t>
            </a:r>
          </a:p>
          <a:p xmlns:a="http://schemas.openxmlformats.org/drawingml/2006/main">
            <a:r>
              <a:t>- K105 组会文献汇报参考模板的 clean-generated 迁移记录；layoutId=method-comparison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本页示范“样本与数据：先交代可比性，再解释结果”。样本结构与质量控制决定结论可以外推多远。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过渡：下一页进入“单一关键结果：主图占据视觉中心”。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组会文献汇报通用版式注册表：sample-data-profile；layoutId=sample-data-profile</a:t>
            </a:r>
          </a:p>
          <a:p xmlns:a="http://schemas.openxmlformats.org/drawingml/2006/main">
            <a:r>
              <a:t>- K105 组会文献汇报参考模板的 clean-generated 迁移记录；layoutId=sample-data-profile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本页示范“单一关键结果：主图占据视觉中心”。主结果在核心条件下显著改变，并由独立分析支持。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过渡：下一页进入“结果对照：同一尺度下比较才有意义”。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组会文献汇报通用版式注册表：single-result-evidence；layoutId=single-result-evidence</a:t>
            </a:r>
          </a:p>
          <a:p xmlns:a="http://schemas.openxmlformats.org/drawingml/2006/main">
            <a:r>
              <a:t>- K105 组会文献汇报参考模板的 clean-generated 迁移记录；layoutId=single-result-evidence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本页示范“结果对照：同一尺度下比较才有意义”。差异来自关键条件变化，而非坐标或样本口径不同。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过渡：下一页进入“多证据并列：每张图承担不同证据角色”。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组会文献汇报通用版式注册表：result-compare；layoutId=result-compare</a:t>
            </a:r>
          </a:p>
          <a:p xmlns:a="http://schemas.openxmlformats.org/drawingml/2006/main">
            <a:r>
              <a:t>- K105 组会文献汇报参考模板的 clean-generated 迁移记录；layoutId=result-compare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本页示范“多证据并列：每张图承担不同证据角色”。现象、机制和外部验证共同决定结论可信度。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过渡：下一页进入“图表结果：趋势之后必须给出解释”。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组会文献汇报通用版式注册表：multi-result-evidence；layoutId=multi-result-evidence</a:t>
            </a:r>
          </a:p>
          <a:p xmlns:a="http://schemas.openxmlformats.org/drawingml/2006/main">
            <a:r>
              <a:t>- K105 组会文献汇报参考模板的 clean-generated 迁移记录；layoutId=multi-result-evidence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本页示范“图表结果：趋势之后必须给出解释”。效应随条件增强，但在高水平区域出现平台。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过渡：下一页进入“机制解释：图中关系必须能被口头逐步追踪”。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组会文献汇报通用版式注册表：table-chart-result；layoutId=table-chart-result</a:t>
            </a:r>
          </a:p>
          <a:p xmlns:a="http://schemas.openxmlformats.org/drawingml/2006/main">
            <a:r>
              <a:t>- K105 组会文献汇报参考模板的 clean-generated 迁移记录；layoutId=table-chart-result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本页示范“机制解释：图中关系必须能被口头逐步追踪”。关键中介连接输入与输出，并受边界条件调节。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过渡：下一页进入“把作者主张、证据与边界分开”。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组会文献汇报通用版式注册表：mechanism-explanation；layoutId=mechanism-explanation</a:t>
            </a:r>
          </a:p>
          <a:p xmlns:a="http://schemas.openxmlformats.org/drawingml/2006/main">
            <a:r>
              <a:t>- K105 组会文献汇报参考模板的 clean-generated 迁移记录；layoutId=mechanism-explanation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本页示范“把作者主张、证据与边界分开”。作者声称不等于汇报者认同。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过渡：下一页进入“单篇论文结论：发现、依据与未证明内容”。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组会文献汇报通用版式注册表：claim-evidence-boundary；layoutId=claim-evidence-boundary</a:t>
            </a:r>
          </a:p>
          <a:p xmlns:a="http://schemas.openxmlformats.org/drawingml/2006/main">
            <a:r>
              <a:t>- K105 组会文献汇报参考模板的 clean-generated 迁移记录；layoutId=claim-evidence-boundary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本页示范“单篇论文结论：发现、依据与未证明内容”。一页完成“发现—证据—边界”的论文收束。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过渡：下一页进入“批判性阅读：同时回答可信与不可信之处”。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组会文献汇报通用版式注册表：paper-conclusion；layoutId=paper-conclusion</a:t>
            </a:r>
          </a:p>
          <a:p xmlns:a="http://schemas.openxmlformats.org/drawingml/2006/main">
            <a:r>
              <a:t>- K105 组会文献汇报参考模板的 clean-generated 迁移记录；layoutId=paper-conclusion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本页示范“批判性阅读：同时回答可信与不可信之处”。综合判断哪些结论可采纳，哪些仍需本组验证。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过渡：下一页进入“可复现性：从数据可得走到外部验证”。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组会文献汇报通用版式注册表：critical-appraisal；layoutId=critical-appraisal</a:t>
            </a:r>
          </a:p>
          <a:p xmlns:a="http://schemas.openxmlformats.org/drawingml/2006/main">
            <a:r>
              <a:t>- K105 组会文献汇报参考模板的 clean-generated 迁移记录；layoutId=critical-appraisal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本页示范“可复现性：从数据可得走到外部验证”。可复现性不是一个标签，而是四层逐步核查。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过渡：下一页进入“跨论文矩阵：统一比较轴后再综合”。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组会文献汇报通用版式注册表：reproducibility-check；layoutId=reproducibility-check</a:t>
            </a:r>
          </a:p>
          <a:p xmlns:a="http://schemas.openxmlformats.org/drawingml/2006/main">
            <a:r>
              <a:t>- K105 组会文献汇报参考模板的 clean-generated 迁移记录；layoutId=reproducibility-check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本页示范“跨论文矩阵：统一比较轴后再综合”。样本、方法和结论口径不同，不能只比较标题结论。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过渡：下一页进入“一致、冲突与原因要同时出现”。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组会文献汇报通用版式注册表：cross-paper-matrix；layoutId=cross-paper-matrix</a:t>
            </a:r>
          </a:p>
          <a:p xmlns:a="http://schemas.openxmlformats.org/drawingml/2006/main">
            <a:r>
              <a:t>- K105 组会文献汇报参考模板的 clean-generated 迁移记录；layoutId=cross-paper-matrix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本页示范“一致、冲突与原因要同时出现”。冲突往往来自样本、测量或边界，而非简单的“谁对谁错”。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过渡：下一页进入“证据地图：强度与适用性是两个维度”。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组会文献汇报通用版式注册表：consensus-divergence；layoutId=consensus-divergence</a:t>
            </a:r>
          </a:p>
          <a:p xmlns:a="http://schemas.openxmlformats.org/drawingml/2006/main">
            <a:r>
              <a:t>- K105 组会文献汇报参考模板的 clean-generated 迁移记录；layoutId=consensus-divergence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本页示范“证据地图：强度与适用性是两个维度”。优先讨论证据强但迁移边界不清的关键论文。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过渡：下一页进入“研究演进：问题如何被一轮轮收窄”。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组会文献汇报通用版式注册表：evidence-quality-map；layoutId=evidence-quality-map</a:t>
            </a:r>
          </a:p>
          <a:p xmlns:a="http://schemas.openxmlformats.org/drawingml/2006/main">
            <a:r>
              <a:t>- K105 组会文献汇报参考模板的 clean-generated 迁移记录；layoutId=evidence-quality-map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本页示范“研究演进：问题如何被一轮轮收窄”。时间线展示证据演进，不机械罗列发表年份。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过渡：下一页进入“从论文结论迁移到本组动作”。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组会文献汇报通用版式注册表：research-evolution；layoutId=research-evolution</a:t>
            </a:r>
          </a:p>
          <a:p xmlns:a="http://schemas.openxmlformats.org/drawingml/2006/main">
            <a:r>
              <a:t>- K105 组会文献汇报参考模板的 clean-generated 迁移记录；layoutId=research-evolution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本页示范“从论文结论迁移到本组动作”。迁移前先核对对象、尺度、工况与评价指标。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过渡：下一页进入“讨论问题：形成新的判断”。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组会文献汇报通用版式注册表：transfer-to-our-work；layoutId=transfer-to-our-work</a:t>
            </a:r>
          </a:p>
          <a:p xmlns:a="http://schemas.openxmlformats.org/drawingml/2006/main">
            <a:r>
              <a:t>- K105 组会文献汇报参考模板的 clean-generated 迁移记录；layoutId=transfer-to-our-work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本页示范“讨论问题：形成新的判断”。讨论题应能改变判断、实验或阅读计划。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过渡：下一页进入“需要组会形成什么决定”。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组会文献汇报通用版式注册表：discussion-questions；layoutId=discussion-questions</a:t>
            </a:r>
          </a:p>
          <a:p xmlns:a="http://schemas.openxmlformats.org/drawingml/2006/main">
            <a:r>
              <a:t>- K105 组会文献汇报参考模板的 clean-generated 迁移记录；layoutId=discussion-questions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本页示范“需要组会形成什么决定”。本次组会希望确定下一步验证优先级。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过渡：下一页进入“下一步阅读与验证安排”。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组会文献汇报通用版式注册表：decision-request；layoutId=decision-request</a:t>
            </a:r>
          </a:p>
          <a:p xmlns:a="http://schemas.openxmlformats.org/drawingml/2006/main">
            <a:r>
              <a:t>- K105 组会文献汇报参考模板的 clean-generated 迁移记录；layoutId=decision-request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本页示范“下一步阅读与验证安排”。把组会结论转成责任明确、输出清楚的后续动作。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过渡：下一页进入“本次汇报精选来源”。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组会文献汇报通用版式注册表：next-reading-actions；layoutId=next-reading-actions</a:t>
            </a:r>
          </a:p>
          <a:p xmlns:a="http://schemas.openxmlformats.org/drawingml/2006/main">
            <a:r>
              <a:t>- K105 组会文献汇报参考模板的 clean-generated 迁移记录；layoutId=next-reading-actions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本页示范“本次汇报精选来源”。只列真正进入论证链的论文、数据和方法来源。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过渡：下一页进入“谢谢老师，请批评指正”。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组会文献汇报通用版式注册表：selected-sources；layoutId=selected-sources</a:t>
            </a:r>
          </a:p>
          <a:p xmlns:a="http://schemas.openxmlformats.org/drawingml/2006/main">
            <a:r>
              <a:t>- K105 组会文献汇报参考模板的 clean-generated 迁移记录；layoutId=selected-sources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本页示范“谢谢老师，请批评指正”。学术总结与讨论已在前一页完成；最后一页只保留学生汇报的结束壳。 正式使用时先判断内容关系，再决定是否采用这个注册布局；不自然匹配时直接使用受设计令牌约束的自由画布。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过渡：下一页进入“谢谢老师，请批评指正”。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组会文献汇报通用版式注册表：group-closing；layoutId=group-closing</a:t>
            </a:r>
          </a:p>
          <a:p xmlns:a="http://schemas.openxmlformats.org/drawingml/2006/main">
            <a:r>
              <a:t>- K105 组会文献汇报参考模板的 clean-generated 迁移记录；layoutId=group-closing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6c7835855f46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aeeca13d044eb2" /><Relationship Type="http://schemas.openxmlformats.org/officeDocument/2006/relationships/slideLayout" Target="/ppt/slideLayouts/slideLayout1.xml" Id="R3713c3abf9ca47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13c3abf9ca47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Academic Slides · 学术蓝">
      <a:dk1>
        <a:srgbClr val="111827"/>
      </a:dk1>
      <a:lt1>
        <a:srgbClr val="FFFFFF"/>
      </a:lt1>
      <a:dk2>
        <a:srgbClr val="21325A"/>
      </a:dk2>
      <a:lt2>
        <a:srgbClr val="E8EDF5"/>
      </a:lt2>
      <a:accent1>
        <a:srgbClr val="32497B"/>
      </a:accent1>
      <a:accent2>
        <a:srgbClr val="6682B3"/>
      </a:accent2>
      <a:accent3>
        <a:srgbClr val="3C786D"/>
      </a:accent3>
      <a:accent4>
        <a:srgbClr val="B77A2E"/>
      </a:accent4>
      <a:accent5>
        <a:srgbClr val="765A8C"/>
      </a:accent5>
      <a:accent6>
        <a:srgbClr val="A5424A"/>
      </a:accent6>
      <a:hlink>
        <a:srgbClr val="32497B"/>
      </a:hlink>
      <a:folHlink>
        <a:srgbClr val="765A8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cademic Slides · 学术蓝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7940c8c354482" /><Relationship Type="http://schemas.openxmlformats.org/officeDocument/2006/relationships/notesSlide" Target="/ppt/notesSlides/notesSlide1.xml" Id="R74fa739a19244e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8184c3aa654410" /><Relationship Type="http://schemas.openxmlformats.org/officeDocument/2006/relationships/notesSlide" Target="/ppt/notesSlides/notesSlide2.xml" Id="R9bd9373e894c4b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328e6809e4c83" /><Relationship Type="http://schemas.openxmlformats.org/officeDocument/2006/relationships/notesSlide" Target="/ppt/notesSlides/notesSlide3.xml" Id="Reb12523e09bf42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370a5cbc94530" /><Relationship Type="http://schemas.openxmlformats.org/officeDocument/2006/relationships/notesSlide" Target="/ppt/notesSlides/notesSlide4.xml" Id="R3f864880a0f942f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6bcd262c1a453f" /><Relationship Type="http://schemas.openxmlformats.org/officeDocument/2006/relationships/notesSlide" Target="/ppt/notesSlides/notesSlide5.xml" Id="R98037929244a4c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5eb2e245649e4" /><Relationship Type="http://schemas.openxmlformats.org/officeDocument/2006/relationships/notesSlide" Target="/ppt/notesSlides/notesSlide6.xml" Id="R7df5bf61ef084d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1689841ca4df4" /><Relationship Type="http://schemas.openxmlformats.org/officeDocument/2006/relationships/notesSlide" Target="/ppt/notesSlides/notesSlide7.xml" Id="Rd37e33d98ed84d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4a5a8a5c044811" /><Relationship Type="http://schemas.openxmlformats.org/officeDocument/2006/relationships/notesSlide" Target="/ppt/notesSlides/notesSlide8.xml" Id="R72c6d37b6b8648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62525bdfe41e1" /><Relationship Type="http://schemas.openxmlformats.org/officeDocument/2006/relationships/notesSlide" Target="/ppt/notesSlides/notesSlide9.xml" Id="Rde1dba8bc4024c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f1fea83e5a4b05" /><Relationship Type="http://schemas.openxmlformats.org/officeDocument/2006/relationships/notesSlide" Target="/ppt/notesSlides/notesSlide10.xml" Id="R0c5304df133d45b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d190c98d54be6" /><Relationship Type="http://schemas.openxmlformats.org/officeDocument/2006/relationships/notesSlide" Target="/ppt/notesSlides/notesSlide11.xml" Id="Rf6843374559043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6ee7d352f4016" /><Relationship Type="http://schemas.openxmlformats.org/officeDocument/2006/relationships/notesSlide" Target="/ppt/notesSlides/notesSlide12.xml" Id="R79a7578fd88045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bdd4038f664d59" /><Relationship Type="http://schemas.openxmlformats.org/officeDocument/2006/relationships/notesSlide" Target="/ppt/notesSlides/notesSlide13.xml" Id="Rbcfa49623ffe4b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6544f1b9f4275" /><Relationship Type="http://schemas.openxmlformats.org/officeDocument/2006/relationships/notesSlide" Target="/ppt/notesSlides/notesSlide14.xml" Id="R1efc7fff69f340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792e3504d74e77" /><Relationship Type="http://schemas.openxmlformats.org/officeDocument/2006/relationships/chart" Target="/ppt/slides/charts/chart1.xml" Id="R74f8a3a2253046fa" /><Relationship Type="http://schemas.openxmlformats.org/officeDocument/2006/relationships/notesSlide" Target="/ppt/notesSlides/notesSlide15.xml" Id="R254951995a2a40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627cce5e7344ff" /><Relationship Type="http://schemas.openxmlformats.org/officeDocument/2006/relationships/notesSlide" Target="/ppt/notesSlides/notesSlide16.xml" Id="Re9b809691e364d5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b99230c2341aa" /><Relationship Type="http://schemas.openxmlformats.org/officeDocument/2006/relationships/notesSlide" Target="/ppt/notesSlides/notesSlide17.xml" Id="Rb095c5c3fa7244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f8160391445b1" /><Relationship Type="http://schemas.openxmlformats.org/officeDocument/2006/relationships/notesSlide" Target="/ppt/notesSlides/notesSlide18.xml" Id="R64419d809e4241f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eefd877354013" /><Relationship Type="http://schemas.openxmlformats.org/officeDocument/2006/relationships/notesSlide" Target="/ppt/notesSlides/notesSlide19.xml" Id="R4429a3228be6491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5d043b7f1c44da" /><Relationship Type="http://schemas.openxmlformats.org/officeDocument/2006/relationships/notesSlide" Target="/ppt/notesSlides/notesSlide20.xml" Id="R66617e699ab741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b27a10975410a" /><Relationship Type="http://schemas.openxmlformats.org/officeDocument/2006/relationships/notesSlide" Target="/ppt/notesSlides/notesSlide21.xml" Id="Ra60d45a45f37452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048b6e6124350" /><Relationship Type="http://schemas.openxmlformats.org/officeDocument/2006/relationships/notesSlide" Target="/ppt/notesSlides/notesSlide22.xml" Id="R271bc7bfb3834f3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958e8710441b8" /><Relationship Type="http://schemas.openxmlformats.org/officeDocument/2006/relationships/notesSlide" Target="/ppt/notesSlides/notesSlide23.xml" Id="R93bbed4e7bab444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863087468435c" /><Relationship Type="http://schemas.openxmlformats.org/officeDocument/2006/relationships/notesSlide" Target="/ppt/notesSlides/notesSlide24.xml" Id="Rf035a6b55ad8444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0074296824f74" /><Relationship Type="http://schemas.openxmlformats.org/officeDocument/2006/relationships/notesSlide" Target="/ppt/notesSlides/notesSlide25.xml" Id="R7f392657e2de4445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05cb0fb62434f" /><Relationship Type="http://schemas.openxmlformats.org/officeDocument/2006/relationships/notesSlide" Target="/ppt/notesSlides/notesSlide26.xml" Id="R530c71bee62e413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31a5cb07d64beb" /><Relationship Type="http://schemas.openxmlformats.org/officeDocument/2006/relationships/notesSlide" Target="/ppt/notesSlides/notesSlide27.xml" Id="R1592f20a9159423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49b79b52d74f3f" /><Relationship Type="http://schemas.openxmlformats.org/officeDocument/2006/relationships/notesSlide" Target="/ppt/notesSlides/notesSlide28.xml" Id="Rd5ed384523ab4ea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07eb36c0745fb" /><Relationship Type="http://schemas.openxmlformats.org/officeDocument/2006/relationships/notesSlide" Target="/ppt/notesSlides/notesSlide29.xml" Id="R981ec4bc8c094ee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5d23fe7a64dc5" /><Relationship Type="http://schemas.openxmlformats.org/officeDocument/2006/relationships/notesSlide" Target="/ppt/notesSlides/notesSlide30.xml" Id="R4328f49ea92e496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相对响应</c:v>
          </c:tx>
          <c:spPr>
            <a:solidFill xmlns:a="http://schemas.openxmlformats.org/drawingml/2006/main">
              <a:srgbClr val="32497B"/>
            </a:solidFill>
            <a:ln xmlns:a="http://schemas.openxmlformats.org/drawingml/2006/main" w="23813">
              <a:solidFill>
                <a:srgbClr val="32497B"/>
              </a:solidFill>
              <a:prstDash val="solid"/>
            </a:ln>
          </c:spPr>
          <c:cat>
            <c:strLit>
              <c:ptCount val="4"/>
              <c:pt idx="0">
                <c:v>基线</c:v>
              </c:pt>
              <c:pt idx="1">
                <c:v>低</c:v>
              </c:pt>
              <c:pt idx="2">
                <c:v>中</c:v>
              </c:pt>
              <c:pt idx="3">
                <c:v>高</c:v>
              </c:pt>
            </c:strLit>
          </c:cat>
          <c:val>
            <c:numLit>
              <c:formatCode>General</c:formatCode>
              <c:ptCount val="4"/>
              <c:pt idx="0">
                <c:v>42</c:v>
              </c:pt>
              <c:pt idx="1">
                <c:v>48</c:v>
              </c:pt>
              <c:pt idx="2">
                <c:v>51</c:v>
              </c:pt>
              <c:pt idx="3">
                <c:v>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 b="1">
                  <a:solidFill>
                    <a:srgbClr val="17213A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2D9E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0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2D9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66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roup-corner-tl-1">
            <a:extLst xmlns:a="http://schemas.openxmlformats.org/drawingml/2006/main">
              <a:ext uri="{FF2B5EF4-FFF2-40B4-BE49-F238E27FC236}">
                <a16:creationId xmlns:a16="http://schemas.microsoft.com/office/drawing/2014/main" id="{23832915-BF13-455D-9B41-C53B111A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66700"/>
            <a:ext cx="5524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group-corner-tl-2">
            <a:extLst xmlns:a="http://schemas.openxmlformats.org/drawingml/2006/main">
              <a:ext uri="{FF2B5EF4-FFF2-40B4-BE49-F238E27FC236}">
                <a16:creationId xmlns:a16="http://schemas.microsoft.com/office/drawing/2014/main" id="{3E61C0D7-70AE-4B5D-A56B-DF2F29ED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619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3" name="group-corner-tl-3">
            <a:extLst xmlns:a="http://schemas.openxmlformats.org/drawingml/2006/main">
              <a:ext uri="{FF2B5EF4-FFF2-40B4-BE49-F238E27FC236}">
                <a16:creationId xmlns:a16="http://schemas.microsoft.com/office/drawing/2014/main" id="{093F185E-28A4-412F-8375-AAFF2CDF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57200"/>
            <a:ext cx="257175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4" name="group-corner-br-1">
            <a:extLst xmlns:a="http://schemas.openxmlformats.org/drawingml/2006/main">
              <a:ext uri="{FF2B5EF4-FFF2-40B4-BE49-F238E27FC236}">
                <a16:creationId xmlns:a16="http://schemas.microsoft.com/office/drawing/2014/main" id="{82588F18-0C2F-4BB7-94F1-8E3D191D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00"/>
            <a:ext cx="5524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5" name="group-corner-br-2">
            <a:extLst xmlns:a="http://schemas.openxmlformats.org/drawingml/2006/main">
              <a:ext uri="{FF2B5EF4-FFF2-40B4-BE49-F238E27FC236}">
                <a16:creationId xmlns:a16="http://schemas.microsoft.com/office/drawing/2014/main" id="{B136C611-EEE2-4A1D-8E23-95349FC4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5810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group-corner-br-3">
            <a:extLst xmlns:a="http://schemas.openxmlformats.org/drawingml/2006/main">
              <a:ext uri="{FF2B5EF4-FFF2-40B4-BE49-F238E27FC236}">
                <a16:creationId xmlns:a16="http://schemas.microsoft.com/office/drawing/2014/main" id="{2036CE6F-F94B-498F-8DB5-E7997998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905500"/>
            <a:ext cx="257175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7" name="group-cover-band">
            <a:extLst xmlns:a="http://schemas.openxmlformats.org/drawingml/2006/main">
              <a:ext uri="{FF2B5EF4-FFF2-40B4-BE49-F238E27FC236}">
                <a16:creationId xmlns:a16="http://schemas.microsoft.com/office/drawing/2014/main" id="{500444F7-B4BA-401E-93F8-927F0450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905000"/>
            <a:ext cx="121920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group-cover-title">
            <a:extLst xmlns:a="http://schemas.openxmlformats.org/drawingml/2006/main">
              <a:ext uri="{FF2B5EF4-FFF2-40B4-BE49-F238E27FC236}">
                <a16:creationId xmlns:a16="http://schemas.microsoft.com/office/drawing/2014/main" id="{5E91C9D1-58F2-4582-9A7B-21B3CC56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1009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组会文献汇报·学术通用｜布局库</a:t>
            </a:r>
          </a:p>
        </p:txBody>
      </p:sp>
      <p:sp>
        <p:nvSpPr>
          <p:cNvPr id="9" name="group-cover-subtitle">
            <a:extLst xmlns:a="http://schemas.openxmlformats.org/drawingml/2006/main">
              <a:ext uri="{FF2B5EF4-FFF2-40B4-BE49-F238E27FC236}">
                <a16:creationId xmlns:a16="http://schemas.microsoft.com/office/drawing/2014/main" id="{6D6BA1F6-50A0-4F02-9970-44AD6A56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429000"/>
            <a:ext cx="942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00" b="0" i="0">
                <a:solidFill>
                  <a:srgbClr val="F4F6F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 i="0">
                <a:solidFill>
                  <a:srgbClr val="F4F6FB"/>
                </a:solidFill>
                <a:latin typeface="Microsoft YaHei"/>
                <a:ea typeface="Microsoft YaHei"/>
                <a:cs typeface="Microsoft YaHei"/>
              </a:rPr>
              <a:t>单篇精读与多篇综合的通用视觉语言</a:t>
            </a:r>
          </a:p>
        </p:txBody>
      </p:sp>
      <p:sp>
        <p:nvSpPr>
          <p:cNvPr id="10" name="group-cover-meta-1">
            <a:extLst xmlns:a="http://schemas.openxmlformats.org/drawingml/2006/main">
              <a:ext uri="{FF2B5EF4-FFF2-40B4-BE49-F238E27FC236}">
                <a16:creationId xmlns:a16="http://schemas.microsoft.com/office/drawing/2014/main" id="{F1640A03-E542-467B-9A28-14951962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汇报人：示范姓名</a:t>
            </a:r>
          </a:p>
        </p:txBody>
      </p:sp>
      <p:sp>
        <p:nvSpPr>
          <p:cNvPr id="11" name="group-cover-meta-2">
            <a:extLst xmlns:a="http://schemas.openxmlformats.org/drawingml/2006/main">
              <a:ext uri="{FF2B5EF4-FFF2-40B4-BE49-F238E27FC236}">
                <a16:creationId xmlns:a16="http://schemas.microsoft.com/office/drawing/2014/main" id="{1B9ECCB3-B427-46A4-B7C9-4ACB9749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课题组：示范课题组</a:t>
            </a:r>
          </a:p>
        </p:txBody>
      </p:sp>
      <p:sp>
        <p:nvSpPr>
          <p:cNvPr id="12" name="group-cover-meta-3">
            <a:extLst xmlns:a="http://schemas.openxmlformats.org/drawingml/2006/main">
              <a:ext uri="{FF2B5EF4-FFF2-40B4-BE49-F238E27FC236}">
                <a16:creationId xmlns:a16="http://schemas.microsoft.com/office/drawing/2014/main" id="{D0D47D76-9D49-40C9-970D-23997A6B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日期：20XX 年 X 月</a:t>
            </a:r>
          </a:p>
        </p:txBody>
      </p:sp>
    </p:spTree>
    <p:extLst>
      <p:ext uri="{BB962C8B-B14F-4D97-AF65-F5344CB8AC3E}">
        <p14:creationId xmlns:p14="http://schemas.microsoft.com/office/powerpoint/2010/main" val="4667812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aper-agenda-border">
            <a:extLst xmlns:a="http://schemas.openxmlformats.org/drawingml/2006/main">
              <a:ext uri="{FF2B5EF4-FFF2-40B4-BE49-F238E27FC236}">
                <a16:creationId xmlns:a16="http://schemas.microsoft.com/office/drawing/2014/main" id="{3341A24B-871A-46E3-A267-0B4D1A09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152400"/>
            <a:ext cx="11887200" cy="655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2" name="paper-agenda-title-block">
            <a:extLst xmlns:a="http://schemas.openxmlformats.org/drawingml/2006/main">
              <a:ext uri="{FF2B5EF4-FFF2-40B4-BE49-F238E27FC236}">
                <a16:creationId xmlns:a16="http://schemas.microsoft.com/office/drawing/2014/main" id="{554BAC04-02F9-41C6-8CBD-5C8A7DEC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"/>
            <a:ext cx="2667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3" name="paper-agenda-title">
            <a:extLst xmlns:a="http://schemas.openxmlformats.org/drawingml/2006/main">
              <a:ext uri="{FF2B5EF4-FFF2-40B4-BE49-F238E27FC236}">
                <a16:creationId xmlns:a16="http://schemas.microsoft.com/office/drawing/2014/main" id="{FE6150BE-E7D2-4BAB-A34E-DDEBC374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0005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63158"/>
          </a:bodyPr>
          <a:lstStyle xmlns:a="http://schemas.openxmlformats.org/drawingml/2006/main"/>
          <a:p xmlns:a="http://schemas.openxmlformats.org/drawingml/2006/main">
            <a:pPr algn="ctr">
              <a:defRPr sz="3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文献地图</a:t>
            </a:r>
          </a:p>
        </p:txBody>
      </p:sp>
      <p:sp>
        <p:nvSpPr>
          <p:cNvPr id="4" name="paper-agenda-subtitle">
            <a:extLst xmlns:a="http://schemas.openxmlformats.org/drawingml/2006/main">
              <a:ext uri="{FF2B5EF4-FFF2-40B4-BE49-F238E27FC236}">
                <a16:creationId xmlns:a16="http://schemas.microsoft.com/office/drawing/2014/main" id="{B61163BE-B458-42D7-9902-3FF96433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8953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DDE5F4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DDE5F4"/>
                </a:solidFill>
                <a:latin typeface="Arial"/>
                <a:ea typeface="Arial"/>
                <a:cs typeface="Arial"/>
              </a:rPr>
              <a:t>PAPERS &amp; QUESTIONS</a:t>
            </a:r>
          </a:p>
        </p:txBody>
      </p:sp>
      <p:sp>
        <p:nvSpPr>
          <p:cNvPr id="5" name="paper-agenda-number-1">
            <a:extLst xmlns:a="http://schemas.openxmlformats.org/drawingml/2006/main">
              <a:ext uri="{FF2B5EF4-FFF2-40B4-BE49-F238E27FC236}">
                <a16:creationId xmlns:a16="http://schemas.microsoft.com/office/drawing/2014/main" id="{E04A9DEC-D770-4920-A521-891DA6EC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90775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paper-agenda-number-label-1">
            <a:extLst xmlns:a="http://schemas.openxmlformats.org/drawingml/2006/main">
              <a:ext uri="{FF2B5EF4-FFF2-40B4-BE49-F238E27FC236}">
                <a16:creationId xmlns:a16="http://schemas.microsoft.com/office/drawing/2014/main" id="{1960DF8F-57F6-4913-B2EA-93880E35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907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paper-agenda-paper-title-1">
            <a:extLst xmlns:a="http://schemas.openxmlformats.org/drawingml/2006/main">
              <a:ext uri="{FF2B5EF4-FFF2-40B4-BE49-F238E27FC236}">
                <a16:creationId xmlns:a16="http://schemas.microsoft.com/office/drawing/2014/main" id="{2A30473D-7BF5-4EE3-95BA-5C7DF340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43150"/>
            <a:ext cx="510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25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A｜机制证据</a:t>
            </a:r>
          </a:p>
        </p:txBody>
      </p:sp>
      <p:sp>
        <p:nvSpPr>
          <p:cNvPr id="8" name="paper-agenda-paper-detail-1">
            <a:extLst xmlns:a="http://schemas.openxmlformats.org/drawingml/2006/main">
              <a:ext uri="{FF2B5EF4-FFF2-40B4-BE49-F238E27FC236}">
                <a16:creationId xmlns:a16="http://schemas.microsoft.com/office/drawing/2014/main" id="{A4A87826-85F9-4673-9765-04270193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67000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0625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回答“是否存在”</a:t>
            </a:r>
          </a:p>
        </p:txBody>
      </p:sp>
      <p:sp>
        <p:nvSpPr>
          <p:cNvPr id="9" name="paper-agenda-number-2">
            <a:extLst xmlns:a="http://schemas.openxmlformats.org/drawingml/2006/main">
              <a:ext uri="{FF2B5EF4-FFF2-40B4-BE49-F238E27FC236}">
                <a16:creationId xmlns:a16="http://schemas.microsoft.com/office/drawing/2014/main" id="{0C098164-92B1-42B8-AF1B-193C8521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67075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10" name="paper-agenda-number-label-2">
            <a:extLst xmlns:a="http://schemas.openxmlformats.org/drawingml/2006/main">
              <a:ext uri="{FF2B5EF4-FFF2-40B4-BE49-F238E27FC236}">
                <a16:creationId xmlns:a16="http://schemas.microsoft.com/office/drawing/2014/main" id="{C4DCE089-0FB1-44E7-9B2E-998B5A8E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670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paper-agenda-paper-title-2">
            <a:extLst xmlns:a="http://schemas.openxmlformats.org/drawingml/2006/main">
              <a:ext uri="{FF2B5EF4-FFF2-40B4-BE49-F238E27FC236}">
                <a16:creationId xmlns:a16="http://schemas.microsoft.com/office/drawing/2014/main" id="{B1BBB7E3-F687-4881-B513-92D4D3EF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510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25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B｜方法证据</a:t>
            </a:r>
          </a:p>
        </p:txBody>
      </p:sp>
      <p:sp>
        <p:nvSpPr>
          <p:cNvPr id="12" name="paper-agenda-paper-detail-2">
            <a:extLst xmlns:a="http://schemas.openxmlformats.org/drawingml/2006/main">
              <a:ext uri="{FF2B5EF4-FFF2-40B4-BE49-F238E27FC236}">
                <a16:creationId xmlns:a16="http://schemas.microsoft.com/office/drawing/2014/main" id="{057E1755-C29D-4F08-B040-7C973346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43300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0625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回答“如何测量”</a:t>
            </a:r>
          </a:p>
        </p:txBody>
      </p:sp>
      <p:sp>
        <p:nvSpPr>
          <p:cNvPr id="13" name="paper-agenda-number-3">
            <a:extLst xmlns:a="http://schemas.openxmlformats.org/drawingml/2006/main">
              <a:ext uri="{FF2B5EF4-FFF2-40B4-BE49-F238E27FC236}">
                <a16:creationId xmlns:a16="http://schemas.microsoft.com/office/drawing/2014/main" id="{50686719-E073-4860-BDF6-C5958AAE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5905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14" name="paper-agenda-number-label-3">
            <a:extLst xmlns:a="http://schemas.openxmlformats.org/drawingml/2006/main">
              <a:ext uri="{FF2B5EF4-FFF2-40B4-BE49-F238E27FC236}">
                <a16:creationId xmlns:a16="http://schemas.microsoft.com/office/drawing/2014/main" id="{93A6DCAF-7165-4FC4-A93A-4C075378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43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paper-agenda-paper-title-3">
            <a:extLst xmlns:a="http://schemas.openxmlformats.org/drawingml/2006/main">
              <a:ext uri="{FF2B5EF4-FFF2-40B4-BE49-F238E27FC236}">
                <a16:creationId xmlns:a16="http://schemas.microsoft.com/office/drawing/2014/main" id="{84C56EA9-22B2-4900-97BE-4D2E955F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95750"/>
            <a:ext cx="510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25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C｜外部验证</a:t>
            </a:r>
          </a:p>
        </p:txBody>
      </p:sp>
      <p:sp>
        <p:nvSpPr>
          <p:cNvPr id="16" name="paper-agenda-paper-detail-3">
            <a:extLst xmlns:a="http://schemas.openxmlformats.org/drawingml/2006/main">
              <a:ext uri="{FF2B5EF4-FFF2-40B4-BE49-F238E27FC236}">
                <a16:creationId xmlns:a16="http://schemas.microsoft.com/office/drawing/2014/main" id="{ADD14021-A5B8-4BB9-AFDD-EE596262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19600"/>
            <a:ext cx="51054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0625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回答“能否迁移”</a:t>
            </a:r>
          </a:p>
        </p:txBody>
      </p:sp>
      <p:sp>
        <p:nvSpPr>
          <p:cNvPr id="17" name="paper-agenda-question-panel">
            <a:extLst xmlns:a="http://schemas.openxmlformats.org/drawingml/2006/main">
              <a:ext uri="{FF2B5EF4-FFF2-40B4-BE49-F238E27FC236}">
                <a16:creationId xmlns:a16="http://schemas.microsoft.com/office/drawing/2014/main" id="{D0EBF842-42F0-4276-9763-CC7E5EF53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37338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18" name="paper-agenda-question-label">
            <a:extLst xmlns:a="http://schemas.openxmlformats.org/drawingml/2006/main">
              <a:ext uri="{FF2B5EF4-FFF2-40B4-BE49-F238E27FC236}">
                <a16:creationId xmlns:a16="http://schemas.microsoft.com/office/drawing/2014/main" id="{FFEBB022-9498-46FB-8ADB-F9C5CEB8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05050"/>
            <a:ext cx="125730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77099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共同问题</a:t>
            </a:r>
          </a:p>
        </p:txBody>
      </p:sp>
      <p:sp>
        <p:nvSpPr>
          <p:cNvPr id="19" name="paper-agenda-question-text">
            <a:extLst xmlns:a="http://schemas.openxmlformats.org/drawingml/2006/main">
              <a:ext uri="{FF2B5EF4-FFF2-40B4-BE49-F238E27FC236}">
                <a16:creationId xmlns:a16="http://schemas.microsoft.com/office/drawing/2014/main" id="{1BD82BD7-874C-4570-BC5E-0FD15E89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952750"/>
            <a:ext cx="3048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哪些证据会改变我们的判断？</a:t>
            </a:r>
          </a:p>
        </p:txBody>
      </p:sp>
      <p:sp>
        <p:nvSpPr>
          <p:cNvPr id="20" name="paper-agenda-question-detail">
            <a:extLst xmlns:a="http://schemas.openxmlformats.org/drawingml/2006/main">
              <a:ext uri="{FF2B5EF4-FFF2-40B4-BE49-F238E27FC236}">
                <a16:creationId xmlns:a16="http://schemas.microsoft.com/office/drawing/2014/main" id="{C64D3F2C-F8E8-4014-ABBD-71C8C88C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291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跨论文综合</a:t>
            </a:r>
          </a:p>
        </p:txBody>
      </p:sp>
      <p:sp>
        <p:nvSpPr>
          <p:cNvPr id="21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9D31756-4B39-4FBE-89B7-F146D664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4198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59091"/>
          </a:bodyPr>
          <a:lstStyle xmlns:a="http://schemas.openxmlformats.org/drawingml/2006/main"/>
          <a:p xmlns:a="http://schemas.openxmlformats.org/drawingml/2006/main">
            <a:pPr algn="r">
              <a:defRPr sz="1100" b="0" i="0">
                <a:solidFill>
                  <a:srgbClr val="8A93A5"/>
                </a:solidFill>
                <a:latin typeface="Arial"/>
                <a:ea typeface="Arial"/>
                <a:cs typeface="Arial"/>
              </a:defRPr>
            </a:pPr>
            <a:r>
              <a:rPr sz="1100" b="0" i="0">
                <a:solidFill>
                  <a:srgbClr val="8A93A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131805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aper-divider-border">
            <a:extLst xmlns:a="http://schemas.openxmlformats.org/drawingml/2006/main">
              <a:ext uri="{FF2B5EF4-FFF2-40B4-BE49-F238E27FC236}">
                <a16:creationId xmlns:a16="http://schemas.microsoft.com/office/drawing/2014/main" id="{D2985C0A-3C32-4098-8A08-2AF7FE35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152400"/>
            <a:ext cx="11887200" cy="655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2" name="paper-divider-number-block">
            <a:extLst xmlns:a="http://schemas.openxmlformats.org/drawingml/2006/main">
              <a:ext uri="{FF2B5EF4-FFF2-40B4-BE49-F238E27FC236}">
                <a16:creationId xmlns:a16="http://schemas.microsoft.com/office/drawing/2014/main" id="{CDC27425-F4D2-4F50-A6FB-01BB4F1E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"/>
            <a:ext cx="2667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3" name="paper-divider-number">
            <a:extLst xmlns:a="http://schemas.openxmlformats.org/drawingml/2006/main">
              <a:ext uri="{FF2B5EF4-FFF2-40B4-BE49-F238E27FC236}">
                <a16:creationId xmlns:a16="http://schemas.microsoft.com/office/drawing/2014/main" id="{CC1D2362-8666-4205-97B6-DEBAD68A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385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5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paper-divider-label">
            <a:extLst xmlns:a="http://schemas.openxmlformats.org/drawingml/2006/main">
              <a:ext uri="{FF2B5EF4-FFF2-40B4-BE49-F238E27FC236}">
                <a16:creationId xmlns:a16="http://schemas.microsoft.com/office/drawing/2014/main" id="{886A1912-7231-4D43-90B0-3362F9C4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0287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DDE5F4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DDE5F4"/>
                </a:solidFill>
                <a:latin typeface="Arial"/>
                <a:ea typeface="Arial"/>
                <a:cs typeface="Arial"/>
              </a:rPr>
              <a:t>PAPER</a:t>
            </a:r>
          </a:p>
        </p:txBody>
      </p:sp>
      <p:sp>
        <p:nvSpPr>
          <p:cNvPr id="5" name="paper-divider-title">
            <a:extLst xmlns:a="http://schemas.openxmlformats.org/drawingml/2006/main">
              <a:ext uri="{FF2B5EF4-FFF2-40B4-BE49-F238E27FC236}">
                <a16:creationId xmlns:a16="http://schemas.microsoft.com/office/drawing/2014/main" id="{060C4F0E-0A59-4434-8BF1-31069940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66950"/>
            <a:ext cx="1009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PAPER 01｜论文精读</a:t>
            </a:r>
          </a:p>
        </p:txBody>
      </p:sp>
      <p:sp>
        <p:nvSpPr>
          <p:cNvPr id="6" name="paper-divider-purpose">
            <a:extLst xmlns:a="http://schemas.openxmlformats.org/drawingml/2006/main">
              <a:ext uri="{FF2B5EF4-FFF2-40B4-BE49-F238E27FC236}">
                <a16:creationId xmlns:a16="http://schemas.microsoft.com/office/drawing/2014/main" id="{3C7B086E-5CCF-4550-A178-6C3AAE8E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76750"/>
            <a:ext cx="8115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章节页用于切换问题或论文，不承担正文。</a:t>
            </a:r>
          </a:p>
        </p:txBody>
      </p:sp>
    </p:spTree>
    <p:extLst>
      <p:ext uri="{BB962C8B-B14F-4D97-AF65-F5344CB8AC3E}">
        <p14:creationId xmlns:p14="http://schemas.microsoft.com/office/powerpoint/2010/main" val="3584585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8C61C5F1-2130-4474-90D1-F3637D3D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E9763F-66CB-4ACA-9B3C-20271936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论文档案：先核对身份，再讨论结论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51B365AB-1AE5-470C-9727-A26890E8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起始与选文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00FE86A0-4E45-4677-A2D8-61F46F4B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190C25F6-8D6B-4F78-ADA3-76D57486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6E25560-EFBB-440B-9E65-08923C49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paper-profile-metadata-panel">
            <a:extLst xmlns:a="http://schemas.openxmlformats.org/drawingml/2006/main">
              <a:ext uri="{FF2B5EF4-FFF2-40B4-BE49-F238E27FC236}">
                <a16:creationId xmlns:a16="http://schemas.microsoft.com/office/drawing/2014/main" id="{F723375F-242A-4739-99B7-56598E0E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47750"/>
            <a:ext cx="3257550" cy="4095750"/>
          </a:xfrm>
          <a:prstGeom xmlns:a="http://schemas.openxmlformats.org/drawingml/2006/main" prst="roundRect">
            <a:avLst>
              <a:gd name="adj" fmla="val 233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8" name="paper-profile-meta-title">
            <a:extLst xmlns:a="http://schemas.openxmlformats.org/drawingml/2006/main">
              <a:ext uri="{FF2B5EF4-FFF2-40B4-BE49-F238E27FC236}">
                <a16:creationId xmlns:a16="http://schemas.microsoft.com/office/drawing/2014/main" id="{953E217A-99B3-42DA-AAFB-78242AA5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382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043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论文信息</a:t>
            </a:r>
          </a:p>
        </p:txBody>
      </p:sp>
      <p:sp>
        <p:nvSpPr>
          <p:cNvPr id="9" name="paper-profile-meta-label-1">
            <a:extLst xmlns:a="http://schemas.openxmlformats.org/drawingml/2006/main">
              <a:ext uri="{FF2B5EF4-FFF2-40B4-BE49-F238E27FC236}">
                <a16:creationId xmlns:a16="http://schemas.microsoft.com/office/drawing/2014/main" id="{5EE45AD7-A218-44D2-B52B-D3F69C03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10" name="paper-profile-meta-value-1">
            <a:extLst xmlns:a="http://schemas.openxmlformats.org/drawingml/2006/main">
              <a:ext uri="{FF2B5EF4-FFF2-40B4-BE49-F238E27FC236}">
                <a16:creationId xmlns:a16="http://schemas.microsoft.com/office/drawing/2014/main" id="{D66237A4-770F-4F0B-BDBD-09DF128B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9070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6322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期刊 / 会议 / 学位来源</a:t>
            </a:r>
          </a:p>
        </p:txBody>
      </p:sp>
      <p:sp>
        <p:nvSpPr>
          <p:cNvPr id="11" name="paper-profile-meta-rule-1">
            <a:extLst xmlns:a="http://schemas.openxmlformats.org/drawingml/2006/main">
              <a:ext uri="{FF2B5EF4-FFF2-40B4-BE49-F238E27FC236}">
                <a16:creationId xmlns:a16="http://schemas.microsoft.com/office/drawing/2014/main" id="{042973C0-F819-41D3-97ED-5D72BD58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274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2" name="paper-profile-meta-label-2">
            <a:extLst xmlns:a="http://schemas.openxmlformats.org/drawingml/2006/main">
              <a:ext uri="{FF2B5EF4-FFF2-40B4-BE49-F238E27FC236}">
                <a16:creationId xmlns:a16="http://schemas.microsoft.com/office/drawing/2014/main" id="{BC7323DB-1D31-40CF-B896-59F18811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作者</a:t>
            </a:r>
          </a:p>
        </p:txBody>
      </p:sp>
      <p:sp>
        <p:nvSpPr>
          <p:cNvPr id="13" name="paper-profile-meta-value-2">
            <a:extLst xmlns:a="http://schemas.openxmlformats.org/drawingml/2006/main">
              <a:ext uri="{FF2B5EF4-FFF2-40B4-BE49-F238E27FC236}">
                <a16:creationId xmlns:a16="http://schemas.microsoft.com/office/drawing/2014/main" id="{84E91511-AC8E-40C5-93C2-37C432D0C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050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第一作者；共同作者；通讯作者</a:t>
            </a:r>
          </a:p>
        </p:txBody>
      </p:sp>
      <p:sp>
        <p:nvSpPr>
          <p:cNvPr id="14" name="paper-profile-meta-rule-2">
            <a:extLst xmlns:a="http://schemas.openxmlformats.org/drawingml/2006/main">
              <a:ext uri="{FF2B5EF4-FFF2-40B4-BE49-F238E27FC236}">
                <a16:creationId xmlns:a16="http://schemas.microsoft.com/office/drawing/2014/main" id="{28D4B745-F1E3-4113-AB25-39581C02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74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5" name="paper-profile-meta-label-3">
            <a:extLst xmlns:a="http://schemas.openxmlformats.org/drawingml/2006/main">
              <a:ext uri="{FF2B5EF4-FFF2-40B4-BE49-F238E27FC236}">
                <a16:creationId xmlns:a16="http://schemas.microsoft.com/office/drawing/2014/main" id="{E5B03F93-4A71-4374-B2B3-9C4F1B37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年份</a:t>
            </a:r>
          </a:p>
        </p:txBody>
      </p:sp>
      <p:sp>
        <p:nvSpPr>
          <p:cNvPr id="16" name="paper-profile-meta-value-3">
            <a:extLst xmlns:a="http://schemas.openxmlformats.org/drawingml/2006/main">
              <a:ext uri="{FF2B5EF4-FFF2-40B4-BE49-F238E27FC236}">
                <a16:creationId xmlns:a16="http://schemas.microsoft.com/office/drawing/2014/main" id="{23E08023-7D3B-4147-AA76-98AA0B4A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7213A"/>
                </a:solidFill>
                <a:latin typeface="Arial"/>
                <a:ea typeface="Arial"/>
                <a:cs typeface="Arial"/>
              </a:rPr>
              <a:t>20XX</a:t>
            </a:r>
          </a:p>
        </p:txBody>
      </p:sp>
      <p:sp>
        <p:nvSpPr>
          <p:cNvPr id="17" name="paper-profile-meta-rule-3">
            <a:extLst xmlns:a="http://schemas.openxmlformats.org/drawingml/2006/main">
              <a:ext uri="{FF2B5EF4-FFF2-40B4-BE49-F238E27FC236}">
                <a16:creationId xmlns:a16="http://schemas.microsoft.com/office/drawing/2014/main" id="{6A45994B-5099-46A0-AD23-DBF5EA4D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14700"/>
            <a:ext cx="274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8" name="paper-profile-meta-label-4">
            <a:extLst xmlns:a="http://schemas.openxmlformats.org/drawingml/2006/main">
              <a:ext uri="{FF2B5EF4-FFF2-40B4-BE49-F238E27FC236}">
                <a16:creationId xmlns:a16="http://schemas.microsoft.com/office/drawing/2014/main" id="{137EF63A-0801-4275-8C88-5812EC4B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类型</a:t>
            </a:r>
          </a:p>
        </p:txBody>
      </p:sp>
      <p:sp>
        <p:nvSpPr>
          <p:cNvPr id="19" name="paper-profile-meta-value-4">
            <a:extLst xmlns:a="http://schemas.openxmlformats.org/drawingml/2006/main">
              <a:ext uri="{FF2B5EF4-FFF2-40B4-BE49-F238E27FC236}">
                <a16:creationId xmlns:a16="http://schemas.microsoft.com/office/drawing/2014/main" id="{E0AFD343-A7DA-4991-8C5E-CE494E68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33375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研究论文</a:t>
            </a:r>
          </a:p>
        </p:txBody>
      </p:sp>
      <p:sp>
        <p:nvSpPr>
          <p:cNvPr id="20" name="paper-profile-meta-rule-4">
            <a:extLst xmlns:a="http://schemas.openxmlformats.org/drawingml/2006/main">
              <a:ext uri="{FF2B5EF4-FFF2-40B4-BE49-F238E27FC236}">
                <a16:creationId xmlns:a16="http://schemas.microsoft.com/office/drawing/2014/main" id="{752BC40A-CC83-4214-A2FD-E37B8ACD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274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1" name="paper-profile-meta-label-5">
            <a:extLst xmlns:a="http://schemas.openxmlformats.org/drawingml/2006/main">
              <a:ext uri="{FF2B5EF4-FFF2-40B4-BE49-F238E27FC236}">
                <a16:creationId xmlns:a16="http://schemas.microsoft.com/office/drawing/2014/main" id="{7E5AF1A3-2184-473F-8B8D-2855DE42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685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标识</a:t>
            </a:r>
          </a:p>
        </p:txBody>
      </p:sp>
      <p:sp>
        <p:nvSpPr>
          <p:cNvPr id="22" name="paper-profile-meta-value-5">
            <a:extLst xmlns:a="http://schemas.openxmlformats.org/drawingml/2006/main">
              <a:ext uri="{FF2B5EF4-FFF2-40B4-BE49-F238E27FC236}">
                <a16:creationId xmlns:a16="http://schemas.microsoft.com/office/drawing/2014/main" id="{C250982C-F67C-4456-BB5C-90286BE7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848100"/>
            <a:ext cx="1981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416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DOI / PMID / arXiv（如有）</a:t>
            </a:r>
          </a:p>
        </p:txBody>
      </p:sp>
      <p:sp>
        <p:nvSpPr>
          <p:cNvPr id="23" name="paper-keyword-1">
            <a:extLst xmlns:a="http://schemas.openxmlformats.org/drawingml/2006/main">
              <a:ext uri="{FF2B5EF4-FFF2-40B4-BE49-F238E27FC236}">
                <a16:creationId xmlns:a16="http://schemas.microsoft.com/office/drawing/2014/main" id="{007180E2-443F-423E-8673-53C01003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257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65985"/>
          </a:bodyPr>
          <a:lstStyle xmlns:a="http://schemas.openxmlformats.org/drawingml/2006/main"/>
          <a:p xmlns:a="http://schemas.openxmlformats.org/drawingml/2006/main">
            <a:pPr algn="ctr">
              <a:def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关键词一</a:t>
            </a:r>
          </a:p>
        </p:txBody>
      </p:sp>
      <p:sp>
        <p:nvSpPr>
          <p:cNvPr id="24" name="paper-keyword-2">
            <a:extLst xmlns:a="http://schemas.openxmlformats.org/drawingml/2006/main">
              <a:ext uri="{FF2B5EF4-FFF2-40B4-BE49-F238E27FC236}">
                <a16:creationId xmlns:a16="http://schemas.microsoft.com/office/drawing/2014/main" id="{69200759-CC64-4F3D-8D70-29A02F20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362450"/>
            <a:ext cx="1257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65985"/>
          </a:bodyPr>
          <a:lstStyle xmlns:a="http://schemas.openxmlformats.org/drawingml/2006/main"/>
          <a:p xmlns:a="http://schemas.openxmlformats.org/drawingml/2006/main">
            <a:pPr algn="ctr">
              <a:def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关键词二</a:t>
            </a:r>
          </a:p>
        </p:txBody>
      </p:sp>
      <p:sp>
        <p:nvSpPr>
          <p:cNvPr id="25" name="paper-keyword-3">
            <a:extLst xmlns:a="http://schemas.openxmlformats.org/drawingml/2006/main">
              <a:ext uri="{FF2B5EF4-FFF2-40B4-BE49-F238E27FC236}">
                <a16:creationId xmlns:a16="http://schemas.microsoft.com/office/drawing/2014/main" id="{B70A6D7F-B767-4054-8523-BC71FD07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12573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65985"/>
          </a:bodyPr>
          <a:lstStyle xmlns:a="http://schemas.openxmlformats.org/drawingml/2006/main"/>
          <a:p xmlns:a="http://schemas.openxmlformats.org/drawingml/2006/main">
            <a:pPr algn="ctr">
              <a:def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关键词三</a:t>
            </a:r>
          </a:p>
        </p:txBody>
      </p:sp>
      <p:sp>
        <p:nvSpPr>
          <p:cNvPr id="26" name="paper-profile-paper-title">
            <a:extLst xmlns:a="http://schemas.openxmlformats.org/drawingml/2006/main">
              <a:ext uri="{FF2B5EF4-FFF2-40B4-BE49-F238E27FC236}">
                <a16:creationId xmlns:a16="http://schemas.microsoft.com/office/drawing/2014/main" id="{86712479-689F-4C7A-93AC-D84FECBFC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066800"/>
            <a:ext cx="7486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论文题目：用一句话说明研究对象与核心关系</a:t>
            </a:r>
          </a:p>
        </p:txBody>
      </p:sp>
      <p:sp>
        <p:nvSpPr>
          <p:cNvPr id="27" name="paper-profile-authors">
            <a:extLst xmlns:a="http://schemas.openxmlformats.org/drawingml/2006/main">
              <a:ext uri="{FF2B5EF4-FFF2-40B4-BE49-F238E27FC236}">
                <a16:creationId xmlns:a16="http://schemas.microsoft.com/office/drawing/2014/main" id="{232FB016-93F8-4891-9FC7-4F1EBB2A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43100"/>
            <a:ext cx="748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第一作者；共同作者；通讯作者</a:t>
            </a:r>
          </a:p>
        </p:txBody>
      </p:sp>
      <p:sp>
        <p:nvSpPr>
          <p:cNvPr id="28" name="paper-profile-visual-frame">
            <a:extLst xmlns:a="http://schemas.openxmlformats.org/drawingml/2006/main">
              <a:ext uri="{FF2B5EF4-FFF2-40B4-BE49-F238E27FC236}">
                <a16:creationId xmlns:a16="http://schemas.microsoft.com/office/drawing/2014/main" id="{381B1C84-613F-4CFA-8346-7CC30944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62200"/>
            <a:ext cx="748665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29" name="paper-profile-visual-placeholder">
            <a:extLst xmlns:a="http://schemas.openxmlformats.org/drawingml/2006/main">
              <a:ext uri="{FF2B5EF4-FFF2-40B4-BE49-F238E27FC236}">
                <a16:creationId xmlns:a16="http://schemas.microsoft.com/office/drawing/2014/main" id="{9DE3C5B0-D108-4218-A869-564D0654F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28875"/>
            <a:ext cx="7353300" cy="251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30" name="paper-profile-summary-band">
            <a:extLst xmlns:a="http://schemas.openxmlformats.org/drawingml/2006/main">
              <a:ext uri="{FF2B5EF4-FFF2-40B4-BE49-F238E27FC236}">
                <a16:creationId xmlns:a16="http://schemas.microsoft.com/office/drawing/2014/main" id="{9D8E9434-49E5-47CC-A33E-1506FE2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53050"/>
            <a:ext cx="11125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6"/>
          </a:solidFill>
          <a:ln xmlns:a="http://schemas.openxmlformats.org/drawingml/2006/main" w="0">
            <a:solidFill>
              <a:srgbClr val="E8EDF6"/>
            </a:solidFill>
            <a:prstDash val="solid"/>
          </a:ln>
        </p:spPr>
      </p:sp>
      <p:sp>
        <p:nvSpPr>
          <p:cNvPr id="31" name="paper-profile-question">
            <a:extLst xmlns:a="http://schemas.openxmlformats.org/drawingml/2006/main">
              <a:ext uri="{FF2B5EF4-FFF2-40B4-BE49-F238E27FC236}">
                <a16:creationId xmlns:a16="http://schemas.microsoft.com/office/drawing/2014/main" id="{1D447AAB-2F64-461C-B4E3-6243ACCB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629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2353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研究问题｜在明确对象与条件下，作者究竟想回答什么？</a:t>
            </a:r>
          </a:p>
        </p:txBody>
      </p:sp>
      <p:sp>
        <p:nvSpPr>
          <p:cNvPr id="32" name="paper-profile-contribution">
            <a:extLst xmlns:a="http://schemas.openxmlformats.org/drawingml/2006/main">
              <a:ext uri="{FF2B5EF4-FFF2-40B4-BE49-F238E27FC236}">
                <a16:creationId xmlns:a16="http://schemas.microsoft.com/office/drawing/2014/main" id="{1A708042-6761-45F1-AC9A-120973EC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062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一句话贡献｜用新的证据链解释关键现象，并给出可验证预测。</a:t>
            </a:r>
          </a:p>
        </p:txBody>
      </p:sp>
    </p:spTree>
    <p:extLst>
      <p:ext uri="{BB962C8B-B14F-4D97-AF65-F5344CB8AC3E}">
        <p14:creationId xmlns:p14="http://schemas.microsoft.com/office/powerpoint/2010/main" val="4065012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2B050373-CE2B-4C78-83BA-ADEA3BA0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975F6FF-3914-4F5D-AF32-6BC722EC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为什么选这些论文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F1C99C97-D9C4-4589-BB5A-91031369E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起始与选文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9BF6C946-3E31-4570-8CD1-30233334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0BC9226F-30DB-4FEF-B179-1962E0F9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0483104-AAB7-47C0-8833-D91047C1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selection-card-1">
            <a:extLst xmlns:a="http://schemas.openxmlformats.org/drawingml/2006/main">
              <a:ext uri="{FF2B5EF4-FFF2-40B4-BE49-F238E27FC236}">
                <a16:creationId xmlns:a16="http://schemas.microsoft.com/office/drawing/2014/main" id="{1B57A8AC-ACC3-4BDD-8921-3A02DF6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43050"/>
            <a:ext cx="3556000" cy="32766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8" name="selection-index-1">
            <a:extLst xmlns:a="http://schemas.openxmlformats.org/drawingml/2006/main">
              <a:ext uri="{FF2B5EF4-FFF2-40B4-BE49-F238E27FC236}">
                <a16:creationId xmlns:a16="http://schemas.microsoft.com/office/drawing/2014/main" id="{DEC2578C-90D9-4842-93CB-FA74BF99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selection-title-1">
            <a:extLst xmlns:a="http://schemas.openxmlformats.org/drawingml/2006/main">
              <a:ext uri="{FF2B5EF4-FFF2-40B4-BE49-F238E27FC236}">
                <a16:creationId xmlns:a16="http://schemas.microsoft.com/office/drawing/2014/main" id="{9C6EFCDF-7B65-407F-A1A8-64950DD5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313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问题相关</a:t>
            </a:r>
          </a:p>
        </p:txBody>
      </p:sp>
      <p:sp>
        <p:nvSpPr>
          <p:cNvPr id="10" name="selection-accent-1">
            <a:extLst xmlns:a="http://schemas.openxmlformats.org/drawingml/2006/main">
              <a:ext uri="{FF2B5EF4-FFF2-40B4-BE49-F238E27FC236}">
                <a16:creationId xmlns:a16="http://schemas.microsoft.com/office/drawing/2014/main" id="{C2D8A938-E8C1-4C02-94D8-05EC99ED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0">
            <a:solidFill>
              <a:srgbClr val="B77A2E"/>
            </a:solidFill>
            <a:prstDash val="solid"/>
          </a:ln>
        </p:spPr>
      </p:sp>
      <p:sp>
        <p:nvSpPr>
          <p:cNvPr id="11" name="selection-body-1">
            <a:extLst xmlns:a="http://schemas.openxmlformats.org/drawingml/2006/main">
              <a:ext uri="{FF2B5EF4-FFF2-40B4-BE49-F238E27FC236}">
                <a16:creationId xmlns:a16="http://schemas.microsoft.com/office/drawing/2014/main" id="{5B8D5A8B-B78E-402F-AFFE-E0A5F5D4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90900"/>
            <a:ext cx="31369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直接回应本组当前关心的科学问题。</a:t>
            </a:r>
          </a:p>
        </p:txBody>
      </p:sp>
      <p:sp>
        <p:nvSpPr>
          <p:cNvPr id="12" name="selection-card-2">
            <a:extLst xmlns:a="http://schemas.openxmlformats.org/drawingml/2006/main">
              <a:ext uri="{FF2B5EF4-FFF2-40B4-BE49-F238E27FC236}">
                <a16:creationId xmlns:a16="http://schemas.microsoft.com/office/drawing/2014/main" id="{CB12DE13-6969-47AE-84B4-DA179DE5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1543050"/>
            <a:ext cx="3556000" cy="32766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3" name="selection-index-2">
            <a:extLst xmlns:a="http://schemas.openxmlformats.org/drawingml/2006/main">
              <a:ext uri="{FF2B5EF4-FFF2-40B4-BE49-F238E27FC236}">
                <a16:creationId xmlns:a16="http://schemas.microsoft.com/office/drawing/2014/main" id="{58775CC5-16DD-4777-B9A3-198317AF3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175260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selection-title-2">
            <a:extLst xmlns:a="http://schemas.openxmlformats.org/drawingml/2006/main">
              <a:ext uri="{FF2B5EF4-FFF2-40B4-BE49-F238E27FC236}">
                <a16:creationId xmlns:a16="http://schemas.microsoft.com/office/drawing/2014/main" id="{D14C0011-995F-4C06-B710-DDA65E717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2324100"/>
            <a:ext cx="313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证据互补</a:t>
            </a:r>
          </a:p>
        </p:txBody>
      </p:sp>
      <p:sp>
        <p:nvSpPr>
          <p:cNvPr id="15" name="selection-accent-2">
            <a:extLst xmlns:a="http://schemas.openxmlformats.org/drawingml/2006/main">
              <a:ext uri="{FF2B5EF4-FFF2-40B4-BE49-F238E27FC236}">
                <a16:creationId xmlns:a16="http://schemas.microsoft.com/office/drawing/2014/main" id="{F064867D-5B69-4D10-8144-44858F2A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0">
            <a:solidFill>
              <a:srgbClr val="B77A2E"/>
            </a:solidFill>
            <a:prstDash val="solid"/>
          </a:ln>
        </p:spPr>
      </p:sp>
      <p:sp>
        <p:nvSpPr>
          <p:cNvPr id="16" name="selection-body-2">
            <a:extLst xmlns:a="http://schemas.openxmlformats.org/drawingml/2006/main">
              <a:ext uri="{FF2B5EF4-FFF2-40B4-BE49-F238E27FC236}">
                <a16:creationId xmlns:a16="http://schemas.microsoft.com/office/drawing/2014/main" id="{765EBEB2-CD3C-4AE8-A44E-3704BD3A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7550" y="3390900"/>
            <a:ext cx="31369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补充机制、方法或外部验证。</a:t>
            </a:r>
          </a:p>
        </p:txBody>
      </p:sp>
      <p:sp>
        <p:nvSpPr>
          <p:cNvPr id="17" name="selection-card-3">
            <a:extLst xmlns:a="http://schemas.openxmlformats.org/drawingml/2006/main">
              <a:ext uri="{FF2B5EF4-FFF2-40B4-BE49-F238E27FC236}">
                <a16:creationId xmlns:a16="http://schemas.microsoft.com/office/drawing/2014/main" id="{2E7B2C79-75CD-4F06-A7B1-D7E9946E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1543050"/>
            <a:ext cx="3556000" cy="327660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8" name="selection-index-3">
            <a:extLst xmlns:a="http://schemas.openxmlformats.org/drawingml/2006/main">
              <a:ext uri="{FF2B5EF4-FFF2-40B4-BE49-F238E27FC236}">
                <a16:creationId xmlns:a16="http://schemas.microsoft.com/office/drawing/2014/main" id="{2B4AA746-83F8-43E1-976D-AF73A82B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1752600"/>
            <a:ext cx="53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20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9" name="selection-title-3">
            <a:extLst xmlns:a="http://schemas.openxmlformats.org/drawingml/2006/main">
              <a:ext uri="{FF2B5EF4-FFF2-40B4-BE49-F238E27FC236}">
                <a16:creationId xmlns:a16="http://schemas.microsoft.com/office/drawing/2014/main" id="{BB83876F-7095-4222-AF5F-5B2B079D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2324100"/>
            <a:ext cx="3136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存在张力</a:t>
            </a:r>
          </a:p>
        </p:txBody>
      </p:sp>
      <p:sp>
        <p:nvSpPr>
          <p:cNvPr id="20" name="selection-accent-3">
            <a:extLst xmlns:a="http://schemas.openxmlformats.org/drawingml/2006/main">
              <a:ext uri="{FF2B5EF4-FFF2-40B4-BE49-F238E27FC236}">
                <a16:creationId xmlns:a16="http://schemas.microsoft.com/office/drawing/2014/main" id="{A4C6BE23-7A29-4A55-8786-E0155FB4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314325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0">
            <a:solidFill>
              <a:srgbClr val="B77A2E"/>
            </a:solidFill>
            <a:prstDash val="solid"/>
          </a:ln>
        </p:spPr>
      </p:sp>
      <p:sp>
        <p:nvSpPr>
          <p:cNvPr id="21" name="selection-body-3">
            <a:extLst xmlns:a="http://schemas.openxmlformats.org/drawingml/2006/main">
              <a:ext uri="{FF2B5EF4-FFF2-40B4-BE49-F238E27FC236}">
                <a16:creationId xmlns:a16="http://schemas.microsoft.com/office/drawing/2014/main" id="{C7B08DEF-CEC1-448A-9F79-19591CEE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150" y="3390900"/>
            <a:ext cx="31369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结论有冲突，或边界不同。</a:t>
            </a:r>
          </a:p>
        </p:txBody>
      </p:sp>
      <p:sp>
        <p:nvSpPr>
          <p:cNvPr id="22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83D0AE07-8149-4BFC-A03B-726C94F1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3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FE3B7180-847F-4595-945E-0FBC8E8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67325"/>
            <a:ext cx="10515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选文必须服务共同问题，而不是按下载顺序罗列。</a:t>
            </a:r>
          </a:p>
        </p:txBody>
      </p:sp>
    </p:spTree>
    <p:extLst>
      <p:ext uri="{BB962C8B-B14F-4D97-AF65-F5344CB8AC3E}">
        <p14:creationId xmlns:p14="http://schemas.microsoft.com/office/powerpoint/2010/main" val="5591273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56178896-2345-4665-AA9C-2A39D26D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D00577-1D0D-43D4-8DB6-53F0E267A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从已知到缺口，再到研究问题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9417788C-F5CC-46F1-80C1-3F76AC0E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起始与选文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BB597710-4B82-44AE-9071-ACE7699E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19A8D4B1-C67D-4519-8CEF-00C86CD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BF406A0-2295-4CFE-96C9-77A56DB7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known-gap-card-1">
            <a:extLst xmlns:a="http://schemas.openxmlformats.org/drawingml/2006/main">
              <a:ext uri="{FF2B5EF4-FFF2-40B4-BE49-F238E27FC236}">
                <a16:creationId xmlns:a16="http://schemas.microsoft.com/office/drawing/2014/main" id="{765DC188-51DF-4DA5-8F12-94FA9A61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31242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E8EDF5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</p:sp>
      <p:sp>
        <p:nvSpPr>
          <p:cNvPr id="8" name="known-gap-label-1">
            <a:extLst xmlns:a="http://schemas.openxmlformats.org/drawingml/2006/main">
              <a:ext uri="{FF2B5EF4-FFF2-40B4-BE49-F238E27FC236}">
                <a16:creationId xmlns:a16="http://schemas.microsoft.com/office/drawing/2014/main" id="{DB68A099-393A-4904-BD3A-EBD94B50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83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64472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9" name="known-gap-text-1">
            <a:extLst xmlns:a="http://schemas.openxmlformats.org/drawingml/2006/main">
              <a:ext uri="{FF2B5EF4-FFF2-40B4-BE49-F238E27FC236}">
                <a16:creationId xmlns:a16="http://schemas.microsoft.com/office/drawing/2014/main" id="{2E45B3E1-6D37-4590-A513-C3A3117E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6670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既有研究已确认现象存在，但主要依赖单一场景与替代指标。</a:t>
            </a:r>
          </a:p>
        </p:txBody>
      </p:sp>
      <p:sp>
        <p:nvSpPr>
          <p:cNvPr id="10" name="known-gap-arrow-1">
            <a:extLst xmlns:a="http://schemas.openxmlformats.org/drawingml/2006/main">
              <a:ext uri="{FF2B5EF4-FFF2-40B4-BE49-F238E27FC236}">
                <a16:creationId xmlns:a16="http://schemas.microsoft.com/office/drawing/2014/main" id="{EB77F585-A5F3-4C11-9753-CD9D3090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05150"/>
            <a:ext cx="3810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1" name="known-gap-card-2">
            <a:extLst xmlns:a="http://schemas.openxmlformats.org/drawingml/2006/main">
              <a:ext uri="{FF2B5EF4-FFF2-40B4-BE49-F238E27FC236}">
                <a16:creationId xmlns:a16="http://schemas.microsoft.com/office/drawing/2014/main" id="{AE64FFD2-F2E7-4BF3-B5B0-CF2992DB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28800"/>
            <a:ext cx="31242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FF5E6"/>
          </a:solidFill>
          <a:ln xmlns:a="http://schemas.openxmlformats.org/drawingml/2006/main" w="17145">
            <a:solidFill>
              <a:srgbClr val="B77A2E"/>
            </a:solidFill>
            <a:prstDash val="solid"/>
          </a:ln>
        </p:spPr>
      </p:sp>
      <p:sp>
        <p:nvSpPr>
          <p:cNvPr id="12" name="known-gap-label-2">
            <a:extLst xmlns:a="http://schemas.openxmlformats.org/drawingml/2006/main">
              <a:ext uri="{FF2B5EF4-FFF2-40B4-BE49-F238E27FC236}">
                <a16:creationId xmlns:a16="http://schemas.microsoft.com/office/drawing/2014/main" id="{1D65CB98-4055-4F3C-ADAF-94695749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038350"/>
            <a:ext cx="83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A2E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  <p:txBody>
          <a:bodyPr xmlns:a="http://schemas.openxmlformats.org/drawingml/2006/main" anchor="ctr">
            <a:normAutofit fontScale="64472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缺口</a:t>
            </a:r>
          </a:p>
        </p:txBody>
      </p:sp>
      <p:sp>
        <p:nvSpPr>
          <p:cNvPr id="13" name="known-gap-text-2">
            <a:extLst xmlns:a="http://schemas.openxmlformats.org/drawingml/2006/main">
              <a:ext uri="{FF2B5EF4-FFF2-40B4-BE49-F238E27FC236}">
                <a16:creationId xmlns:a16="http://schemas.microsoft.com/office/drawing/2014/main" id="{7E35987C-0E3C-4C10-A9D7-9B52F50E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6670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缺少直接机制证据，也不清楚结论能否跨样本迁移。</a:t>
            </a:r>
          </a:p>
        </p:txBody>
      </p:sp>
      <p:sp>
        <p:nvSpPr>
          <p:cNvPr id="14" name="known-gap-arrow-2">
            <a:extLst xmlns:a="http://schemas.openxmlformats.org/drawingml/2006/main">
              <a:ext uri="{FF2B5EF4-FFF2-40B4-BE49-F238E27FC236}">
                <a16:creationId xmlns:a16="http://schemas.microsoft.com/office/drawing/2014/main" id="{9320A648-D92F-4AEA-98D6-B729DD73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05150"/>
            <a:ext cx="3810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5" name="known-gap-card-3">
            <a:extLst xmlns:a="http://schemas.openxmlformats.org/drawingml/2006/main">
              <a:ext uri="{FF2B5EF4-FFF2-40B4-BE49-F238E27FC236}">
                <a16:creationId xmlns:a16="http://schemas.microsoft.com/office/drawing/2014/main" id="{D16DB97E-B4B5-4AA6-912B-4D7E0A47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31242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</p:sp>
      <p:sp>
        <p:nvSpPr>
          <p:cNvPr id="16" name="known-gap-label-3">
            <a:extLst xmlns:a="http://schemas.openxmlformats.org/drawingml/2006/main">
              <a:ext uri="{FF2B5EF4-FFF2-40B4-BE49-F238E27FC236}">
                <a16:creationId xmlns:a16="http://schemas.microsoft.com/office/drawing/2014/main" id="{4F06266E-BAA9-4248-BFC5-5C134090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38350"/>
            <a:ext cx="83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64472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问题</a:t>
            </a:r>
          </a:p>
        </p:txBody>
      </p:sp>
      <p:sp>
        <p:nvSpPr>
          <p:cNvPr id="17" name="known-gap-text-3">
            <a:extLst xmlns:a="http://schemas.openxmlformats.org/drawingml/2006/main">
              <a:ext uri="{FF2B5EF4-FFF2-40B4-BE49-F238E27FC236}">
                <a16:creationId xmlns:a16="http://schemas.microsoft.com/office/drawing/2014/main" id="{05DEA001-20EE-4572-95DB-5EA4F310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47950"/>
            <a:ext cx="26670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哪条机制链真正驱动该现象，且在什么边界内成立？</a:t>
            </a:r>
          </a:p>
        </p:txBody>
      </p:sp>
      <p:sp>
        <p:nvSpPr>
          <p:cNvPr id="1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5589CCD1-9037-49DA-B73C-344DF1B9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0A72376F-8F9F-422E-ACD9-BD5B58DF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43525"/>
            <a:ext cx="1051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已知、缺口和问题应来自论文文本与证据，而不是套用固定三段式。</a:t>
            </a:r>
          </a:p>
        </p:txBody>
      </p:sp>
    </p:spTree>
    <p:extLst>
      <p:ext uri="{BB962C8B-B14F-4D97-AF65-F5344CB8AC3E}">
        <p14:creationId xmlns:p14="http://schemas.microsoft.com/office/powerpoint/2010/main" val="17053784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6DE34B1B-0671-4A4D-A34C-E4F49277D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73B46B-AC53-43B1-8800-7237E777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概念框架：变量如何共同形成可检验解释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7AB29457-AE7F-43B0-AAF6-C1C54774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7A1234CB-37E6-4453-8AF6-0DCB2861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6337543D-E90F-441E-82FA-5D38E955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285EA7A-DE02-481C-BD75-DA129315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framework-link-input-core">
            <a:extLst xmlns:a="http://schemas.openxmlformats.org/drawingml/2006/main">
              <a:ext uri="{FF2B5EF4-FFF2-40B4-BE49-F238E27FC236}">
                <a16:creationId xmlns:a16="http://schemas.microsoft.com/office/drawing/2014/main" id="{70B105D1-3D30-4691-894D-85DFDE21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8" name="framework-arrow-input-core">
            <a:extLst xmlns:a="http://schemas.openxmlformats.org/drawingml/2006/main">
              <a:ext uri="{FF2B5EF4-FFF2-40B4-BE49-F238E27FC236}">
                <a16:creationId xmlns:a16="http://schemas.microsoft.com/office/drawing/2014/main" id="{34DF5516-B9F0-40A7-9C9F-00B5573C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57550"/>
            <a:ext cx="1619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9" name="framework-link-core-output">
            <a:extLst xmlns:a="http://schemas.openxmlformats.org/drawingml/2006/main">
              <a:ext uri="{FF2B5EF4-FFF2-40B4-BE49-F238E27FC236}">
                <a16:creationId xmlns:a16="http://schemas.microsoft.com/office/drawing/2014/main" id="{7B75DCED-9452-499F-8C4D-5DE10DEC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33750"/>
            <a:ext cx="1238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0" name="framework-arrow-core-output">
            <a:extLst xmlns:a="http://schemas.openxmlformats.org/drawingml/2006/main">
              <a:ext uri="{FF2B5EF4-FFF2-40B4-BE49-F238E27FC236}">
                <a16:creationId xmlns:a16="http://schemas.microsoft.com/office/drawing/2014/main" id="{EAF525DD-C964-483F-BA28-97826D6A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257550"/>
            <a:ext cx="16192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1" name="framework-link-boundary">
            <a:extLst xmlns:a="http://schemas.openxmlformats.org/drawingml/2006/main">
              <a:ext uri="{FF2B5EF4-FFF2-40B4-BE49-F238E27FC236}">
                <a16:creationId xmlns:a16="http://schemas.microsoft.com/office/drawing/2014/main" id="{CAB70A05-1E39-4B4C-8C35-CDCA935A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33850"/>
            <a:ext cx="38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0">
            <a:solidFill>
              <a:srgbClr val="B77A2E"/>
            </a:solidFill>
            <a:prstDash val="solid"/>
          </a:ln>
        </p:spPr>
      </p:sp>
      <p:sp>
        <p:nvSpPr>
          <p:cNvPr id="12" name="framework-link-evidence">
            <a:extLst xmlns:a="http://schemas.openxmlformats.org/drawingml/2006/main">
              <a:ext uri="{FF2B5EF4-FFF2-40B4-BE49-F238E27FC236}">
                <a16:creationId xmlns:a16="http://schemas.microsoft.com/office/drawing/2014/main" id="{108521B7-C5EF-46EE-84D0-A74703B3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05050"/>
            <a:ext cx="38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3" name="framework-node-input">
            <a:extLst xmlns:a="http://schemas.openxmlformats.org/drawingml/2006/main">
              <a:ext uri="{FF2B5EF4-FFF2-40B4-BE49-F238E27FC236}">
                <a16:creationId xmlns:a16="http://schemas.microsoft.com/office/drawing/2014/main" id="{1E9D99CA-329F-4681-B7D0-07373004D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2476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14" name="framework-label-input">
            <a:extLst xmlns:a="http://schemas.openxmlformats.org/drawingml/2006/main">
              <a:ext uri="{FF2B5EF4-FFF2-40B4-BE49-F238E27FC236}">
                <a16:creationId xmlns:a16="http://schemas.microsoft.com/office/drawing/2014/main" id="{2A820465-F6D4-4B81-A66D-9BB86023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2133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研究情境</a:t>
            </a:r>
          </a:p>
        </p:txBody>
      </p:sp>
      <p:sp>
        <p:nvSpPr>
          <p:cNvPr id="15" name="framework-detail-input">
            <a:extLst xmlns:a="http://schemas.openxmlformats.org/drawingml/2006/main">
              <a:ext uri="{FF2B5EF4-FFF2-40B4-BE49-F238E27FC236}">
                <a16:creationId xmlns:a16="http://schemas.microsoft.com/office/drawing/2014/main" id="{8BD81EC4-6760-4979-9D5B-26D04B4E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从问题与证据出发</a:t>
            </a:r>
          </a:p>
        </p:txBody>
      </p:sp>
      <p:sp>
        <p:nvSpPr>
          <p:cNvPr id="16" name="framework-node-core">
            <a:extLst xmlns:a="http://schemas.openxmlformats.org/drawingml/2006/main">
              <a:ext uri="{FF2B5EF4-FFF2-40B4-BE49-F238E27FC236}">
                <a16:creationId xmlns:a16="http://schemas.microsoft.com/office/drawing/2014/main" id="{03642EFD-D178-4823-9AD1-8B0F53EA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71750"/>
            <a:ext cx="3238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15240">
            <a:solidFill>
              <a:srgbClr val="32497B"/>
            </a:solidFill>
            <a:prstDash val="solid"/>
          </a:ln>
        </p:spPr>
      </p:sp>
      <p:sp>
        <p:nvSpPr>
          <p:cNvPr id="17" name="framework-label-core">
            <a:extLst xmlns:a="http://schemas.openxmlformats.org/drawingml/2006/main">
              <a:ext uri="{FF2B5EF4-FFF2-40B4-BE49-F238E27FC236}">
                <a16:creationId xmlns:a16="http://schemas.microsoft.com/office/drawing/2014/main" id="{5205B870-FC79-445C-9E04-E2FAEC2B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67000"/>
            <a:ext cx="2895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核心机制</a:t>
            </a:r>
          </a:p>
        </p:txBody>
      </p:sp>
      <p:sp>
        <p:nvSpPr>
          <p:cNvPr id="18" name="framework-node-output">
            <a:extLst xmlns:a="http://schemas.openxmlformats.org/drawingml/2006/main">
              <a:ext uri="{FF2B5EF4-FFF2-40B4-BE49-F238E27FC236}">
                <a16:creationId xmlns:a16="http://schemas.microsoft.com/office/drawing/2014/main" id="{1AA4609E-2BC1-4769-BA6D-8D2817D7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57500"/>
            <a:ext cx="2476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19" name="framework-label-output">
            <a:extLst xmlns:a="http://schemas.openxmlformats.org/drawingml/2006/main">
              <a:ext uri="{FF2B5EF4-FFF2-40B4-BE49-F238E27FC236}">
                <a16:creationId xmlns:a16="http://schemas.microsoft.com/office/drawing/2014/main" id="{EDD252FB-9982-4F9D-803A-E3E149DD0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52750"/>
            <a:ext cx="21336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可观测结果</a:t>
            </a:r>
          </a:p>
        </p:txBody>
      </p:sp>
      <p:sp>
        <p:nvSpPr>
          <p:cNvPr id="20" name="framework-node-boundary">
            <a:extLst xmlns:a="http://schemas.openxmlformats.org/drawingml/2006/main">
              <a:ext uri="{FF2B5EF4-FFF2-40B4-BE49-F238E27FC236}">
                <a16:creationId xmlns:a16="http://schemas.microsoft.com/office/drawing/2014/main" id="{25C3D040-B86D-4A51-AE3E-03E157F33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86300"/>
            <a:ext cx="32385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15240">
            <a:solidFill>
              <a:srgbClr val="B77A2E"/>
            </a:solidFill>
            <a:prstDash val="solid"/>
          </a:ln>
        </p:spPr>
      </p:sp>
      <p:sp>
        <p:nvSpPr>
          <p:cNvPr id="21" name="framework-label-boundary">
            <a:extLst xmlns:a="http://schemas.openxmlformats.org/drawingml/2006/main">
              <a:ext uri="{FF2B5EF4-FFF2-40B4-BE49-F238E27FC236}">
                <a16:creationId xmlns:a16="http://schemas.microsoft.com/office/drawing/2014/main" id="{3D37335F-5701-4C59-98AD-E3AD7BA2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81550"/>
            <a:ext cx="2895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适用边界</a:t>
            </a:r>
          </a:p>
        </p:txBody>
      </p:sp>
      <p:sp>
        <p:nvSpPr>
          <p:cNvPr id="22" name="framework-node-evidence">
            <a:extLst xmlns:a="http://schemas.openxmlformats.org/drawingml/2006/main">
              <a:ext uri="{FF2B5EF4-FFF2-40B4-BE49-F238E27FC236}">
                <a16:creationId xmlns:a16="http://schemas.microsoft.com/office/drawing/2014/main" id="{504DE45F-77E0-4916-B015-2BA3311E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3238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23" name="framework-label-evidence">
            <a:extLst xmlns:a="http://schemas.openxmlformats.org/drawingml/2006/main">
              <a:ext uri="{FF2B5EF4-FFF2-40B4-BE49-F238E27FC236}">
                <a16:creationId xmlns:a16="http://schemas.microsoft.com/office/drawing/2014/main" id="{697DA3CE-862A-4B25-A00A-2EB7EAB4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0975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关键证据</a:t>
            </a:r>
          </a:p>
        </p:txBody>
      </p:sp>
      <p:sp>
        <p:nvSpPr>
          <p:cNvPr id="24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B27DAC9-2E51-46C4-A96B-F9FDDB2B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5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E2DC2542-694A-4536-951D-6C7475BD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2625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只有真实存在输入—机制—输出—边界关系时才绘制框架。</a:t>
            </a:r>
          </a:p>
        </p:txBody>
      </p:sp>
    </p:spTree>
    <p:extLst>
      <p:ext uri="{BB962C8B-B14F-4D97-AF65-F5344CB8AC3E}">
        <p14:creationId xmlns:p14="http://schemas.microsoft.com/office/powerpoint/2010/main" val="19225168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BB98F448-3922-4B23-BF12-4E1A133E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C65057-4E39-4B02-8386-A79A8DD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研究设计：从样本到结论的证据链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23BEDACC-2FB7-497D-B710-45B524C7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3C39DDF9-ED86-4EC1-B395-A923E66C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8AA31F37-F6F1-4BDD-9DA0-C641B787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822E724-427D-4B72-BF2B-1262CF04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process-link-1">
            <a:extLst xmlns:a="http://schemas.openxmlformats.org/drawingml/2006/main">
              <a:ext uri="{FF2B5EF4-FFF2-40B4-BE49-F238E27FC236}">
                <a16:creationId xmlns:a16="http://schemas.microsoft.com/office/drawing/2014/main" id="{0FF5DD1A-7EAE-426C-870F-E9426270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0820" y="31527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8" name="process-arrow-1">
            <a:extLst xmlns:a="http://schemas.openxmlformats.org/drawingml/2006/main">
              <a:ext uri="{FF2B5EF4-FFF2-40B4-BE49-F238E27FC236}">
                <a16:creationId xmlns:a16="http://schemas.microsoft.com/office/drawing/2014/main" id="{157721E3-FD0E-4B55-B51E-351C4F70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6545" y="3095625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9" name="process-link-2">
            <a:extLst xmlns:a="http://schemas.openxmlformats.org/drawingml/2006/main">
              <a:ext uri="{FF2B5EF4-FFF2-40B4-BE49-F238E27FC236}">
                <a16:creationId xmlns:a16="http://schemas.microsoft.com/office/drawing/2014/main" id="{A19CA68A-58B3-477C-8930-54F538FE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31527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0" name="process-arrow-2">
            <a:extLst xmlns:a="http://schemas.openxmlformats.org/drawingml/2006/main">
              <a:ext uri="{FF2B5EF4-FFF2-40B4-BE49-F238E27FC236}">
                <a16:creationId xmlns:a16="http://schemas.microsoft.com/office/drawing/2014/main" id="{21CE8B07-A6CC-4C71-B921-E4C50736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6815" y="3095625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1" name="process-link-3">
            <a:extLst xmlns:a="http://schemas.openxmlformats.org/drawingml/2006/main">
              <a:ext uri="{FF2B5EF4-FFF2-40B4-BE49-F238E27FC236}">
                <a16:creationId xmlns:a16="http://schemas.microsoft.com/office/drawing/2014/main" id="{A8167BB0-7E1D-458D-AD80-D9C98C2B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1527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2" name="process-arrow-3">
            <a:extLst xmlns:a="http://schemas.openxmlformats.org/drawingml/2006/main">
              <a:ext uri="{FF2B5EF4-FFF2-40B4-BE49-F238E27FC236}">
                <a16:creationId xmlns:a16="http://schemas.microsoft.com/office/drawing/2014/main" id="{A3D533EE-65B4-4853-A95C-7A222519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7085" y="3095625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3" name="process-link-4">
            <a:extLst xmlns:a="http://schemas.openxmlformats.org/drawingml/2006/main">
              <a:ext uri="{FF2B5EF4-FFF2-40B4-BE49-F238E27FC236}">
                <a16:creationId xmlns:a16="http://schemas.microsoft.com/office/drawing/2014/main" id="{A28DBF3A-EF3F-482A-AC55-E0BB8A96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1630" y="3152775"/>
            <a:ext cx="20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4" name="process-arrow-4">
            <a:extLst xmlns:a="http://schemas.openxmlformats.org/drawingml/2006/main">
              <a:ext uri="{FF2B5EF4-FFF2-40B4-BE49-F238E27FC236}">
                <a16:creationId xmlns:a16="http://schemas.microsoft.com/office/drawing/2014/main" id="{7E1E2426-572D-4CC9-91BE-ACB54091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7355" y="3095625"/>
            <a:ext cx="1333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5" name="process-node-sample">
            <a:extLst xmlns:a="http://schemas.openxmlformats.org/drawingml/2006/main">
              <a:ext uri="{FF2B5EF4-FFF2-40B4-BE49-F238E27FC236}">
                <a16:creationId xmlns:a16="http://schemas.microsoft.com/office/drawing/2014/main" id="{A53D0A19-0AC1-4CA2-B8EE-DC7A34D1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195072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16" name="process-index-1">
            <a:extLst xmlns:a="http://schemas.openxmlformats.org/drawingml/2006/main">
              <a:ext uri="{FF2B5EF4-FFF2-40B4-BE49-F238E27FC236}">
                <a16:creationId xmlns:a16="http://schemas.microsoft.com/office/drawing/2014/main" id="{8AD56E38-3C00-42E4-A896-3263DFE43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462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process-label-1">
            <a:extLst xmlns:a="http://schemas.openxmlformats.org/drawingml/2006/main">
              <a:ext uri="{FF2B5EF4-FFF2-40B4-BE49-F238E27FC236}">
                <a16:creationId xmlns:a16="http://schemas.microsoft.com/office/drawing/2014/main" id="{9D2CEA44-AC84-4F3D-8E2B-CB9573ED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160782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样本与分组</a:t>
            </a:r>
          </a:p>
        </p:txBody>
      </p:sp>
      <p:sp>
        <p:nvSpPr>
          <p:cNvPr id="18" name="process-detail-1">
            <a:extLst xmlns:a="http://schemas.openxmlformats.org/drawingml/2006/main">
              <a:ext uri="{FF2B5EF4-FFF2-40B4-BE49-F238E27FC236}">
                <a16:creationId xmlns:a16="http://schemas.microsoft.com/office/drawing/2014/main" id="{17D89371-3591-410B-94BE-3F0178599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164592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从问题与证据出发</a:t>
            </a:r>
          </a:p>
        </p:txBody>
      </p:sp>
      <p:sp>
        <p:nvSpPr>
          <p:cNvPr id="19" name="process-node-measure">
            <a:extLst xmlns:a="http://schemas.openxmlformats.org/drawingml/2006/main">
              <a:ext uri="{FF2B5EF4-FFF2-40B4-BE49-F238E27FC236}">
                <a16:creationId xmlns:a16="http://schemas.microsoft.com/office/drawing/2014/main" id="{6D85DD18-3F3E-44A5-8CC0-A9FD8CF3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0370" y="2457450"/>
            <a:ext cx="195072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20" name="process-index-2">
            <a:extLst xmlns:a="http://schemas.openxmlformats.org/drawingml/2006/main">
              <a:ext uri="{FF2B5EF4-FFF2-40B4-BE49-F238E27FC236}">
                <a16:creationId xmlns:a16="http://schemas.microsoft.com/office/drawing/2014/main" id="{CCC271E4-F67C-425E-AD0E-4F2489622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" y="25717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462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1" name="process-label-2">
            <a:extLst xmlns:a="http://schemas.openxmlformats.org/drawingml/2006/main">
              <a:ext uri="{FF2B5EF4-FFF2-40B4-BE49-F238E27FC236}">
                <a16:creationId xmlns:a16="http://schemas.microsoft.com/office/drawing/2014/main" id="{D6C9C9B6-2E37-4097-8746-B2D4594E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1820" y="2838450"/>
            <a:ext cx="16078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测量与干预</a:t>
            </a:r>
          </a:p>
        </p:txBody>
      </p:sp>
      <p:sp>
        <p:nvSpPr>
          <p:cNvPr id="22" name="process-node-analysis">
            <a:extLst xmlns:a="http://schemas.openxmlformats.org/drawingml/2006/main">
              <a:ext uri="{FF2B5EF4-FFF2-40B4-BE49-F238E27FC236}">
                <a16:creationId xmlns:a16="http://schemas.microsoft.com/office/drawing/2014/main" id="{D50E8216-F05C-4028-B32F-0DB4BBEF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2457450"/>
            <a:ext cx="195072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23" name="process-index-3">
            <a:extLst xmlns:a="http://schemas.openxmlformats.org/drawingml/2006/main">
              <a:ext uri="{FF2B5EF4-FFF2-40B4-BE49-F238E27FC236}">
                <a16:creationId xmlns:a16="http://schemas.microsoft.com/office/drawing/2014/main" id="{6F33B6BA-D08A-4582-8D0C-AF3CF19A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3040" y="25717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462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4" name="process-label-3">
            <a:extLst xmlns:a="http://schemas.openxmlformats.org/drawingml/2006/main">
              <a:ext uri="{FF2B5EF4-FFF2-40B4-BE49-F238E27FC236}">
                <a16:creationId xmlns:a16="http://schemas.microsoft.com/office/drawing/2014/main" id="{F3719FFA-9E06-49EB-B493-B3DF9C53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2090" y="2838450"/>
            <a:ext cx="16078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分析与对照</a:t>
            </a:r>
          </a:p>
        </p:txBody>
      </p:sp>
      <p:sp>
        <p:nvSpPr>
          <p:cNvPr id="25" name="process-node-validation">
            <a:extLst xmlns:a="http://schemas.openxmlformats.org/drawingml/2006/main">
              <a:ext uri="{FF2B5EF4-FFF2-40B4-BE49-F238E27FC236}">
                <a16:creationId xmlns:a16="http://schemas.microsoft.com/office/drawing/2014/main" id="{28D36372-211E-422B-9150-A41A8F6C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457450"/>
            <a:ext cx="195072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5240">
            <a:solidFill>
              <a:srgbClr val="6682B3"/>
            </a:solidFill>
            <a:prstDash val="solid"/>
          </a:ln>
        </p:spPr>
      </p:sp>
      <p:sp>
        <p:nvSpPr>
          <p:cNvPr id="26" name="process-index-4">
            <a:extLst xmlns:a="http://schemas.openxmlformats.org/drawingml/2006/main">
              <a:ext uri="{FF2B5EF4-FFF2-40B4-BE49-F238E27FC236}">
                <a16:creationId xmlns:a16="http://schemas.microsoft.com/office/drawing/2014/main" id="{483B13D9-95B6-4DD1-9849-DD2EC1BE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5717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462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7" name="process-label-4">
            <a:extLst xmlns:a="http://schemas.openxmlformats.org/drawingml/2006/main">
              <a:ext uri="{FF2B5EF4-FFF2-40B4-BE49-F238E27FC236}">
                <a16:creationId xmlns:a16="http://schemas.microsoft.com/office/drawing/2014/main" id="{EF7BD378-B61A-4829-AC1F-0DC1FF2E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2838450"/>
            <a:ext cx="16078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稳健性检查</a:t>
            </a:r>
          </a:p>
        </p:txBody>
      </p:sp>
      <p:sp>
        <p:nvSpPr>
          <p:cNvPr id="28" name="process-node-result">
            <a:extLst xmlns:a="http://schemas.openxmlformats.org/drawingml/2006/main">
              <a:ext uri="{FF2B5EF4-FFF2-40B4-BE49-F238E27FC236}">
                <a16:creationId xmlns:a16="http://schemas.microsoft.com/office/drawing/2014/main" id="{C134219F-D58D-414D-ACD8-4C1F3FC3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180" y="2457450"/>
            <a:ext cx="195072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15240">
            <a:solidFill>
              <a:srgbClr val="32497B"/>
            </a:solidFill>
            <a:prstDash val="solid"/>
          </a:ln>
        </p:spPr>
      </p:sp>
      <p:sp>
        <p:nvSpPr>
          <p:cNvPr id="29" name="process-index-5">
            <a:extLst xmlns:a="http://schemas.openxmlformats.org/drawingml/2006/main">
              <a:ext uri="{FF2B5EF4-FFF2-40B4-BE49-F238E27FC236}">
                <a16:creationId xmlns:a16="http://schemas.microsoft.com/office/drawing/2014/main" id="{45A2537C-DE9B-4CBA-A859-9D7B3F19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25717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8462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E8EDF6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E8EDF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0" name="process-label-5">
            <a:extLst xmlns:a="http://schemas.openxmlformats.org/drawingml/2006/main">
              <a:ext uri="{FF2B5EF4-FFF2-40B4-BE49-F238E27FC236}">
                <a16:creationId xmlns:a16="http://schemas.microsoft.com/office/drawing/2014/main" id="{69C3B0FF-0A00-4247-A55A-331838BA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838450"/>
            <a:ext cx="16078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主要结论</a:t>
            </a:r>
          </a:p>
        </p:txBody>
      </p:sp>
      <p:sp>
        <p:nvSpPr>
          <p:cNvPr id="31" name="process-intro">
            <a:extLst xmlns:a="http://schemas.openxmlformats.org/drawingml/2006/main">
              <a:ext uri="{FF2B5EF4-FFF2-40B4-BE49-F238E27FC236}">
                <a16:creationId xmlns:a16="http://schemas.microsoft.com/office/drawing/2014/main" id="{D462EA50-40E1-4524-98C2-DB2D7907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内容包含三步以上的顺序或依赖关系，关系图比列表更清楚。</a:t>
            </a:r>
          </a:p>
        </p:txBody>
      </p:sp>
      <p:sp>
        <p:nvSpPr>
          <p:cNvPr id="32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5651D9AB-F586-407A-AEDD-70420FE5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33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4BB9257C-4ED9-483F-A885-A0461821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38775"/>
            <a:ext cx="10515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把设计顺序、关键控制和最终输出一起展示。</a:t>
            </a:r>
          </a:p>
        </p:txBody>
      </p:sp>
    </p:spTree>
    <p:extLst>
      <p:ext uri="{BB962C8B-B14F-4D97-AF65-F5344CB8AC3E}">
        <p14:creationId xmlns:p14="http://schemas.microsoft.com/office/powerpoint/2010/main" val="195646995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1AABD349-BC53-4CF8-A2C3-90DB75C7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DD916E0-152F-4A6C-BAA7-9C1779FDA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方法时间线：每一步解决一个不确定性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955FBD0C-2E77-4A31-9EBE-093604D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CCD26F1-9286-4935-80E7-7DDF7D02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85C2816F-0060-4FDE-9AF3-EDB1AD9A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1BDA5A6-BDD5-403B-9237-BA8E51E7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timeline-rail">
            <a:extLst xmlns:a="http://schemas.openxmlformats.org/drawingml/2006/main">
              <a:ext uri="{FF2B5EF4-FFF2-40B4-BE49-F238E27FC236}">
                <a16:creationId xmlns:a16="http://schemas.microsoft.com/office/drawing/2014/main" id="{2F2CC28D-8A11-46FA-8EBF-12445F80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1028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8" name="timeline-node-1">
            <a:extLst xmlns:a="http://schemas.openxmlformats.org/drawingml/2006/main">
              <a:ext uri="{FF2B5EF4-FFF2-40B4-BE49-F238E27FC236}">
                <a16:creationId xmlns:a16="http://schemas.microsoft.com/office/drawing/2014/main" id="{19446042-6569-4520-81A4-F177F6AE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9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15FBB841-5835-4338-ABD4-28D9882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22288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样本准备</a:t>
            </a:r>
          </a:p>
        </p:txBody>
      </p:sp>
      <p:sp>
        <p:nvSpPr>
          <p:cNvPr id="10" name="timeline-caption-1">
            <a:extLst xmlns:a="http://schemas.openxmlformats.org/drawingml/2006/main">
              <a:ext uri="{FF2B5EF4-FFF2-40B4-BE49-F238E27FC236}">
                <a16:creationId xmlns:a16="http://schemas.microsoft.com/office/drawing/2014/main" id="{6C397DB0-2D45-4E33-9026-46E3EED9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" y="17716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定义对象与排除标准</a:t>
            </a:r>
          </a:p>
        </p:txBody>
      </p:sp>
      <p:sp>
        <p:nvSpPr>
          <p:cNvPr id="11" name="timeline-node-2">
            <a:extLst xmlns:a="http://schemas.openxmlformats.org/drawingml/2006/main">
              <a:ext uri="{FF2B5EF4-FFF2-40B4-BE49-F238E27FC236}">
                <a16:creationId xmlns:a16="http://schemas.microsoft.com/office/drawing/2014/main" id="{2A511CAE-9F14-4BE8-A799-251C2AFF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B94CD61F-D667-4F2C-A2FA-61D994F7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38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模式识别</a:t>
            </a:r>
          </a:p>
        </p:txBody>
      </p:sp>
      <p:sp>
        <p:nvSpPr>
          <p:cNvPr id="13" name="timeline-caption-2">
            <a:extLst xmlns:a="http://schemas.openxmlformats.org/drawingml/2006/main">
              <a:ext uri="{FF2B5EF4-FFF2-40B4-BE49-F238E27FC236}">
                <a16:creationId xmlns:a16="http://schemas.microsoft.com/office/drawing/2014/main" id="{520E1021-5F64-498A-9CAC-D35B90F8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148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发现候选关系</a:t>
            </a:r>
          </a:p>
        </p:txBody>
      </p:sp>
      <p:sp>
        <p:nvSpPr>
          <p:cNvPr id="14" name="timeline-node-3">
            <a:extLst xmlns:a="http://schemas.openxmlformats.org/drawingml/2006/main">
              <a:ext uri="{FF2B5EF4-FFF2-40B4-BE49-F238E27FC236}">
                <a16:creationId xmlns:a16="http://schemas.microsoft.com/office/drawing/2014/main" id="{DB13AE03-0D64-42DC-BC67-83E1C4CE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708475FF-3952-49B6-868D-D4BC3CC2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机制检验</a:t>
            </a:r>
          </a:p>
        </p:txBody>
      </p:sp>
      <p:sp>
        <p:nvSpPr>
          <p:cNvPr id="16" name="timeline-caption-3">
            <a:extLst xmlns:a="http://schemas.openxmlformats.org/drawingml/2006/main">
              <a:ext uri="{FF2B5EF4-FFF2-40B4-BE49-F238E27FC236}">
                <a16:creationId xmlns:a16="http://schemas.microsoft.com/office/drawing/2014/main" id="{F325A4C4-23A3-4C05-A3C4-9249B58E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716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排除替代解释</a:t>
            </a:r>
          </a:p>
        </p:txBody>
      </p:sp>
      <p:sp>
        <p:nvSpPr>
          <p:cNvPr id="17" name="timeline-node-4">
            <a:extLst xmlns:a="http://schemas.openxmlformats.org/drawingml/2006/main">
              <a:ext uri="{FF2B5EF4-FFF2-40B4-BE49-F238E27FC236}">
                <a16:creationId xmlns:a16="http://schemas.microsoft.com/office/drawing/2014/main" id="{F3330768-DEA6-4DBC-A989-AC140850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385AD5C5-8170-43D9-AFD8-DE950DE8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638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外部验证</a:t>
            </a:r>
          </a:p>
        </p:txBody>
      </p:sp>
      <p:sp>
        <p:nvSpPr>
          <p:cNvPr id="19" name="timeline-caption-4">
            <a:extLst xmlns:a="http://schemas.openxmlformats.org/drawingml/2006/main">
              <a:ext uri="{FF2B5EF4-FFF2-40B4-BE49-F238E27FC236}">
                <a16:creationId xmlns:a16="http://schemas.microsoft.com/office/drawing/2014/main" id="{F699E6B1-56E5-41CE-B6BD-06DF9A8A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1148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检查可迁移性</a:t>
            </a:r>
          </a:p>
        </p:txBody>
      </p:sp>
      <p:sp>
        <p:nvSpPr>
          <p:cNvPr id="20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7E625F97-5568-4003-A4AD-46352333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1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18971359-9D43-4F2E-A2BB-D3787882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2625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方法页强调为什么这样做，不罗列软件按钮。</a:t>
            </a:r>
          </a:p>
        </p:txBody>
      </p:sp>
    </p:spTree>
    <p:extLst>
      <p:ext uri="{BB962C8B-B14F-4D97-AF65-F5344CB8AC3E}">
        <p14:creationId xmlns:p14="http://schemas.microsoft.com/office/powerpoint/2010/main" val="14971990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E639DCC6-D765-4E2E-BD01-C2F86444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3F0E94-0E61-4FC7-8EEE-E720AB98F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方法比较：不同路径回答不同问题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7AA057D7-0E4C-4F40-AAFC-66D87C49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FCC06DB1-1383-4DBA-B3A7-331EF7FE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386B98C7-3918-41B1-A1AA-D68FE72A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D801078-0522-44A5-8EDD-6714D0743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 firstRow="1" firstCol="1" bandRow="1"/>
              <a:tblGrid>
                <a:gridCol w="2743200"/>
                <a:gridCol w="2743200"/>
                <a:gridCol w="2743200"/>
                <a:gridCol w="274320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回答的问题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优势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主要风险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观察研究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是否相关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真实场景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混杂偏倚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干预实验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是否因果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控制明确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外部效度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模型分析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机制是否自洽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可检验预测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假设依赖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8D2AEC07-20D9-48E9-BC4A-B10D4B39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8DEAFFFA-8E31-45B4-8C1E-22FAA4A3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00725"/>
            <a:ext cx="1051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选择方法要与研究问题和证据强度匹配。</a:t>
            </a:r>
          </a:p>
        </p:txBody>
      </p:sp>
    </p:spTree>
    <p:extLst>
      <p:ext uri="{BB962C8B-B14F-4D97-AF65-F5344CB8AC3E}">
        <p14:creationId xmlns:p14="http://schemas.microsoft.com/office/powerpoint/2010/main" val="12178395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C522C93A-7B8F-45C7-8145-D08FB5CE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4553D4-68F8-4235-8ABA-59305951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样本与数据：先交代可比性，再解释结果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969080BD-5AC4-4013-9CC6-A58E6DB10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E3D92056-6BCF-4AF2-8B95-6DA62201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641A1052-2834-45EE-8A1C-C841868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28C4948-5AF2-4D13-8677-CD5C6832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sample-profile-panel">
            <a:extLst xmlns:a="http://schemas.openxmlformats.org/drawingml/2006/main">
              <a:ext uri="{FF2B5EF4-FFF2-40B4-BE49-F238E27FC236}">
                <a16:creationId xmlns:a16="http://schemas.microsoft.com/office/drawing/2014/main" id="{5773020D-0F1C-4916-BCF9-7B930DE9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810000" cy="432435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sample-profile-label">
            <a:extLst xmlns:a="http://schemas.openxmlformats.org/drawingml/2006/main">
              <a:ext uri="{FF2B5EF4-FFF2-40B4-BE49-F238E27FC236}">
                <a16:creationId xmlns:a16="http://schemas.microsoft.com/office/drawing/2014/main" id="{29CEF218-4B70-462D-87F3-30755BD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7727"/>
          </a:bodyPr>
          <a:lstStyle xmlns:a="http://schemas.openxmlformats.org/drawingml/2006/main"/>
          <a:p xmlns:a="http://schemas.openxmlformats.org/drawingml/2006/main">
            <a:pPr algn="l">
              <a:def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样本 / 数据概况</a:t>
            </a:r>
          </a:p>
        </p:txBody>
      </p:sp>
      <p:sp>
        <p:nvSpPr>
          <p:cNvPr id="9" name="sample-metric-value-1">
            <a:extLst xmlns:a="http://schemas.openxmlformats.org/drawingml/2006/main">
              <a:ext uri="{FF2B5EF4-FFF2-40B4-BE49-F238E27FC236}">
                <a16:creationId xmlns:a16="http://schemas.microsoft.com/office/drawing/2014/main" id="{6DE9098E-F670-48D2-A684-AF38C2EF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defRPr sz="3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N=XX</a:t>
            </a:r>
          </a:p>
        </p:txBody>
      </p:sp>
      <p:sp>
        <p:nvSpPr>
          <p:cNvPr id="10" name="sample-metric-label-1">
            <a:extLst xmlns:a="http://schemas.openxmlformats.org/drawingml/2006/main">
              <a:ext uri="{FF2B5EF4-FFF2-40B4-BE49-F238E27FC236}">
                <a16:creationId xmlns:a16="http://schemas.microsoft.com/office/drawing/2014/main" id="{6E7CD098-E4D9-4987-B4BD-DDA601BC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rPr>
              <a:t>样本规模</a:t>
            </a:r>
          </a:p>
        </p:txBody>
      </p:sp>
      <p:sp>
        <p:nvSpPr>
          <p:cNvPr id="11" name="sample-metric-value-2">
            <a:extLst xmlns:a="http://schemas.openxmlformats.org/drawingml/2006/main">
              <a:ext uri="{FF2B5EF4-FFF2-40B4-BE49-F238E27FC236}">
                <a16:creationId xmlns:a16="http://schemas.microsoft.com/office/drawing/2014/main" id="{8F1C3128-7792-4113-BC67-2637EEE03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2860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defRPr sz="3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类</a:t>
            </a:r>
          </a:p>
        </p:txBody>
      </p:sp>
      <p:sp>
        <p:nvSpPr>
          <p:cNvPr id="12" name="sample-metric-label-2">
            <a:extLst xmlns:a="http://schemas.openxmlformats.org/drawingml/2006/main">
              <a:ext uri="{FF2B5EF4-FFF2-40B4-BE49-F238E27FC236}">
                <a16:creationId xmlns:a16="http://schemas.microsoft.com/office/drawing/2014/main" id="{ADAE886A-0DA7-4964-808C-97163BE1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8575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rPr>
              <a:t>数据模态</a:t>
            </a:r>
          </a:p>
        </p:txBody>
      </p:sp>
      <p:sp>
        <p:nvSpPr>
          <p:cNvPr id="13" name="sample-metric-value-3">
            <a:extLst xmlns:a="http://schemas.openxmlformats.org/drawingml/2006/main">
              <a:ext uri="{FF2B5EF4-FFF2-40B4-BE49-F238E27FC236}">
                <a16:creationId xmlns:a16="http://schemas.microsoft.com/office/drawing/2014/main" id="{17A2E8C0-70F5-4492-83E6-480236BF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defRPr sz="3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组</a:t>
            </a:r>
          </a:p>
        </p:txBody>
      </p:sp>
      <p:sp>
        <p:nvSpPr>
          <p:cNvPr id="14" name="sample-metric-label-3">
            <a:extLst xmlns:a="http://schemas.openxmlformats.org/drawingml/2006/main">
              <a:ext uri="{FF2B5EF4-FFF2-40B4-BE49-F238E27FC236}">
                <a16:creationId xmlns:a16="http://schemas.microsoft.com/office/drawing/2014/main" id="{E79F6DC5-D5D7-4E86-9291-B37E949E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rPr>
              <a:t>关键分组</a:t>
            </a:r>
          </a:p>
        </p:txBody>
      </p:sp>
      <p:sp>
        <p:nvSpPr>
          <p:cNvPr id="15" name="sample-metric-value-4">
            <a:extLst xmlns:a="http://schemas.openxmlformats.org/drawingml/2006/main">
              <a:ext uri="{FF2B5EF4-FFF2-40B4-BE49-F238E27FC236}">
                <a16:creationId xmlns:a16="http://schemas.microsoft.com/office/drawing/2014/main" id="{590EEFF6-815E-4274-85E0-D67383C9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0520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4531"/>
          </a:bodyPr>
          <a:lstStyle xmlns:a="http://schemas.openxmlformats.org/drawingml/2006/main"/>
          <a:p xmlns:a="http://schemas.openxmlformats.org/drawingml/2006/main">
            <a:pPr algn="l">
              <a:defRPr sz="3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个</a:t>
            </a:r>
          </a:p>
        </p:txBody>
      </p:sp>
      <p:sp>
        <p:nvSpPr>
          <p:cNvPr id="16" name="sample-metric-label-4">
            <a:extLst xmlns:a="http://schemas.openxmlformats.org/drawingml/2006/main">
              <a:ext uri="{FF2B5EF4-FFF2-40B4-BE49-F238E27FC236}">
                <a16:creationId xmlns:a16="http://schemas.microsoft.com/office/drawing/2014/main" id="{45DB0F1E-1781-4931-AEDC-DDF286D0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0767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rPr>
              <a:t>时间点</a:t>
            </a:r>
          </a:p>
        </p:txBody>
      </p:sp>
      <p:sp>
        <p:nvSpPr>
          <p:cNvPr id="17" name="data-layer-index-1">
            <a:extLst xmlns:a="http://schemas.openxmlformats.org/drawingml/2006/main">
              <a:ext uri="{FF2B5EF4-FFF2-40B4-BE49-F238E27FC236}">
                <a16:creationId xmlns:a16="http://schemas.microsoft.com/office/drawing/2014/main" id="{88F52C02-054A-4896-9C40-F998ABF5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5811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8" name="data-layer-title-1">
            <a:extLst xmlns:a="http://schemas.openxmlformats.org/drawingml/2006/main">
              <a:ext uri="{FF2B5EF4-FFF2-40B4-BE49-F238E27FC236}">
                <a16:creationId xmlns:a16="http://schemas.microsoft.com/office/drawing/2014/main" id="{336F6E79-52B7-43FF-AAA7-54A407EC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668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</p:txBody>
      </p:sp>
      <p:sp>
        <p:nvSpPr>
          <p:cNvPr id="19" name="data-layer-body-1">
            <a:extLst xmlns:a="http://schemas.openxmlformats.org/drawingml/2006/main">
              <a:ext uri="{FF2B5EF4-FFF2-40B4-BE49-F238E27FC236}">
                <a16:creationId xmlns:a16="http://schemas.microsoft.com/office/drawing/2014/main" id="{34B584F2-74C3-448B-B41E-48292BE2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66850"/>
            <a:ext cx="346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来源、纳入标准与关键分层。</a:t>
            </a:r>
          </a:p>
        </p:txBody>
      </p:sp>
      <p:sp>
        <p:nvSpPr>
          <p:cNvPr id="20" name="data-layer-rule-1">
            <a:extLst xmlns:a="http://schemas.openxmlformats.org/drawingml/2006/main">
              <a:ext uri="{FF2B5EF4-FFF2-40B4-BE49-F238E27FC236}">
                <a16:creationId xmlns:a16="http://schemas.microsoft.com/office/drawing/2014/main" id="{F8194539-4049-4129-9386-FE841616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30505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1" name="data-layer-index-2">
            <a:extLst xmlns:a="http://schemas.openxmlformats.org/drawingml/2006/main">
              <a:ext uri="{FF2B5EF4-FFF2-40B4-BE49-F238E27FC236}">
                <a16:creationId xmlns:a16="http://schemas.microsoft.com/office/drawing/2014/main" id="{6BF3FD00-DDBF-4309-8619-85FE83CB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0510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2" name="data-layer-title-2">
            <a:extLst xmlns:a="http://schemas.openxmlformats.org/drawingml/2006/main">
              <a:ext uri="{FF2B5EF4-FFF2-40B4-BE49-F238E27FC236}">
                <a16:creationId xmlns:a16="http://schemas.microsoft.com/office/drawing/2014/main" id="{4F4089C4-17B1-4BFB-B69D-EA2C96D0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测量与数据</a:t>
            </a:r>
          </a:p>
        </p:txBody>
      </p:sp>
      <p:sp>
        <p:nvSpPr>
          <p:cNvPr id="23" name="data-layer-body-2">
            <a:extLst xmlns:a="http://schemas.openxmlformats.org/drawingml/2006/main">
              <a:ext uri="{FF2B5EF4-FFF2-40B4-BE49-F238E27FC236}">
                <a16:creationId xmlns:a16="http://schemas.microsoft.com/office/drawing/2014/main" id="{C605AB12-B339-4ED6-B02E-79F0D80C4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46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指标、数据模态与时间尺度。</a:t>
            </a:r>
          </a:p>
        </p:txBody>
      </p:sp>
      <p:sp>
        <p:nvSpPr>
          <p:cNvPr id="24" name="data-layer-rule-2">
            <a:extLst xmlns:a="http://schemas.openxmlformats.org/drawingml/2006/main">
              <a:ext uri="{FF2B5EF4-FFF2-40B4-BE49-F238E27FC236}">
                <a16:creationId xmlns:a16="http://schemas.microsoft.com/office/drawing/2014/main" id="{527F63B7-04B5-4E7A-971B-D391A43F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290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5" name="data-layer-index-3">
            <a:extLst xmlns:a="http://schemas.openxmlformats.org/drawingml/2006/main">
              <a:ext uri="{FF2B5EF4-FFF2-40B4-BE49-F238E27FC236}">
                <a16:creationId xmlns:a16="http://schemas.microsoft.com/office/drawing/2014/main" id="{780971CA-EBA7-4F8A-BFAE-6A8AE6BB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290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data-layer-title-3">
            <a:extLst xmlns:a="http://schemas.openxmlformats.org/drawingml/2006/main">
              <a:ext uri="{FF2B5EF4-FFF2-40B4-BE49-F238E27FC236}">
                <a16:creationId xmlns:a16="http://schemas.microsoft.com/office/drawing/2014/main" id="{D66458B4-D991-4D29-BAB4-EA4C55E2C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7147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质量控制</a:t>
            </a:r>
          </a:p>
        </p:txBody>
      </p:sp>
      <p:sp>
        <p:nvSpPr>
          <p:cNvPr id="27" name="data-layer-body-3">
            <a:extLst xmlns:a="http://schemas.openxmlformats.org/drawingml/2006/main">
              <a:ext uri="{FF2B5EF4-FFF2-40B4-BE49-F238E27FC236}">
                <a16:creationId xmlns:a16="http://schemas.microsoft.com/office/drawing/2014/main" id="{451DC3A8-FB99-4678-AD0F-17A4B006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14750"/>
            <a:ext cx="34671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缺失处理、批次效应与偏倚控制。</a:t>
            </a:r>
          </a:p>
        </p:txBody>
      </p:sp>
      <p:sp>
        <p:nvSpPr>
          <p:cNvPr id="2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8B07706-28DE-45C4-9E13-5A905DCF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DA8C28C5-DF44-4525-89C5-6AB8141C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7692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样本结构与质量控制决定结论可以外推多远。</a:t>
            </a:r>
          </a:p>
        </p:txBody>
      </p:sp>
    </p:spTree>
    <p:extLst>
      <p:ext uri="{BB962C8B-B14F-4D97-AF65-F5344CB8AC3E}">
        <p14:creationId xmlns:p14="http://schemas.microsoft.com/office/powerpoint/2010/main" val="3985405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EE6A1E9B-3A90-48D4-83BC-BE066B05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3C6584-F378-4FEF-B5AB-A6C73DA87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单一关键结果：主图占据视觉中心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BE0C9E0E-108A-4C0F-B6C1-B71236D7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49854318-EEFF-4BC1-9029-A4E83ED2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1F7F7950-50D3-4152-8226-BDFED56A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AFF530C-C889-4426-B2B4-104AEF50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figure-conclusion-image-frame">
            <a:extLst xmlns:a="http://schemas.openxmlformats.org/drawingml/2006/main">
              <a:ext uri="{FF2B5EF4-FFF2-40B4-BE49-F238E27FC236}">
                <a16:creationId xmlns:a16="http://schemas.microsoft.com/office/drawing/2014/main" id="{0E9C9EBD-36A7-4F31-B144-7D6635B5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733425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8" name="figure-conclusion-image-placeholder">
            <a:extLst xmlns:a="http://schemas.openxmlformats.org/drawingml/2006/main">
              <a:ext uri="{FF2B5EF4-FFF2-40B4-BE49-F238E27FC236}">
                <a16:creationId xmlns:a16="http://schemas.microsoft.com/office/drawing/2014/main" id="{9673672C-D985-44A2-B7D1-7E8DE921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24025"/>
            <a:ext cx="72009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9" name="figure-conclusion-panel">
            <a:extLst xmlns:a="http://schemas.openxmlformats.org/drawingml/2006/main">
              <a:ext uri="{FF2B5EF4-FFF2-40B4-BE49-F238E27FC236}">
                <a16:creationId xmlns:a16="http://schemas.microsoft.com/office/drawing/2014/main" id="{41684BED-3CBC-4E11-92A7-8E5EE6E08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90700"/>
            <a:ext cx="3333750" cy="35623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32497B"/>
            </a:solidFill>
            <a:prstDash val="solid"/>
          </a:ln>
        </p:spPr>
      </p:sp>
      <p:sp>
        <p:nvSpPr>
          <p:cNvPr id="10" name="figure-conclusion-label">
            <a:extLst xmlns:a="http://schemas.openxmlformats.org/drawingml/2006/main">
              <a:ext uri="{FF2B5EF4-FFF2-40B4-BE49-F238E27FC236}">
                <a16:creationId xmlns:a16="http://schemas.microsoft.com/office/drawing/2014/main" id="{DD8D915F-7ABA-4364-A563-96C0603C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00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1" name="figure-conclusion-claim">
            <a:extLst xmlns:a="http://schemas.openxmlformats.org/drawingml/2006/main">
              <a:ext uri="{FF2B5EF4-FFF2-40B4-BE49-F238E27FC236}">
                <a16:creationId xmlns:a16="http://schemas.microsoft.com/office/drawing/2014/main" id="{57F07F27-D097-4A3F-92FD-3E896108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57450"/>
            <a:ext cx="28003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主结果在核心条件下显著改变，并由独立分析支持。</a:t>
            </a:r>
          </a:p>
        </p:txBody>
      </p:sp>
      <p:sp>
        <p:nvSpPr>
          <p:cNvPr id="12" name="figure-conclusion-metric-value">
            <a:extLst xmlns:a="http://schemas.openxmlformats.org/drawingml/2006/main">
              <a:ext uri="{FF2B5EF4-FFF2-40B4-BE49-F238E27FC236}">
                <a16:creationId xmlns:a16="http://schemas.microsoft.com/office/drawing/2014/main" id="{7AFF08C5-0FB6-42EB-BD02-12F2B470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43350"/>
            <a:ext cx="2800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rmAutofit fontScale="90972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+32 %</a:t>
            </a:r>
          </a:p>
        </p:txBody>
      </p:sp>
      <p:sp>
        <p:nvSpPr>
          <p:cNvPr id="13" name="figure-conclusion-metric-label">
            <a:extLst xmlns:a="http://schemas.openxmlformats.org/drawingml/2006/main">
              <a:ext uri="{FF2B5EF4-FFF2-40B4-BE49-F238E27FC236}">
                <a16:creationId xmlns:a16="http://schemas.microsoft.com/office/drawing/2014/main" id="{FF0203CA-0459-4FF7-828B-AAE5D817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52950"/>
            <a:ext cx="280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效应变化</a:t>
            </a:r>
          </a:p>
        </p:txBody>
      </p:sp>
      <p:sp>
        <p:nvSpPr>
          <p:cNvPr id="14" name="figure-conclusion-caption">
            <a:extLst xmlns:a="http://schemas.openxmlformats.org/drawingml/2006/main">
              <a:ext uri="{FF2B5EF4-FFF2-40B4-BE49-F238E27FC236}">
                <a16:creationId xmlns:a16="http://schemas.microsoft.com/office/drawing/2014/main" id="{8403C15E-B01C-4324-AE32-318D57A1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181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8077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8A93A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8A93A5"/>
                </a:solidFill>
                <a:latin typeface="Microsoft YaHei"/>
                <a:ea typeface="Microsoft YaHei"/>
                <a:cs typeface="Microsoft YaHei"/>
              </a:rPr>
              <a:t>证据图 1</a:t>
            </a:r>
          </a:p>
        </p:txBody>
      </p:sp>
    </p:spTree>
    <p:extLst>
      <p:ext uri="{BB962C8B-B14F-4D97-AF65-F5344CB8AC3E}">
        <p14:creationId xmlns:p14="http://schemas.microsoft.com/office/powerpoint/2010/main" val="179265162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24B805D0-0D5E-45C8-85D5-56389E9E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74ECAB-DFA1-43A6-88E1-E6696C4F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结果对照：同一尺度下比较才有意义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C560D884-25DF-4619-9C09-BB0DD2EB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35D5E499-2D38-4852-8263-53CA17E4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9A5A20B8-2AA5-4E83-AA96-E2A8A91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E5B11B1-C26F-485B-9912-EE5020EB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compare-left-label">
            <a:extLst xmlns:a="http://schemas.openxmlformats.org/drawingml/2006/main">
              <a:ext uri="{FF2B5EF4-FFF2-40B4-BE49-F238E27FC236}">
                <a16:creationId xmlns:a16="http://schemas.microsoft.com/office/drawing/2014/main" id="{276E1FA1-6DD2-4655-B34D-5D1411DA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38300"/>
            <a:ext cx="495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5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64472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基线 / 对照</a:t>
            </a:r>
          </a:p>
        </p:txBody>
      </p:sp>
      <p:sp>
        <p:nvSpPr>
          <p:cNvPr id="8" name="compare-right-label">
            <a:extLst xmlns:a="http://schemas.openxmlformats.org/drawingml/2006/main">
              <a:ext uri="{FF2B5EF4-FFF2-40B4-BE49-F238E27FC236}">
                <a16:creationId xmlns:a16="http://schemas.microsoft.com/office/drawing/2014/main" id="{CD2700B1-FD23-40E0-9F5C-A097924C7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38300"/>
            <a:ext cx="495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64472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干预 / 目标条件</a:t>
            </a:r>
          </a:p>
        </p:txBody>
      </p:sp>
      <p:sp>
        <p:nvSpPr>
          <p:cNvPr id="9" name="compare-left-frame">
            <a:extLst xmlns:a="http://schemas.openxmlformats.org/drawingml/2006/main">
              <a:ext uri="{FF2B5EF4-FFF2-40B4-BE49-F238E27FC236}">
                <a16:creationId xmlns:a16="http://schemas.microsoft.com/office/drawing/2014/main" id="{CCFE464B-58B7-4BFE-83A6-49B52294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49530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0" name="compare-left-placeholder">
            <a:extLst xmlns:a="http://schemas.openxmlformats.org/drawingml/2006/main">
              <a:ext uri="{FF2B5EF4-FFF2-40B4-BE49-F238E27FC236}">
                <a16:creationId xmlns:a16="http://schemas.microsoft.com/office/drawing/2014/main" id="{BACEFFE5-8B6F-4DE0-B1BE-69CD6819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143125"/>
            <a:ext cx="48196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11" name="compare-right-frame">
            <a:extLst xmlns:a="http://schemas.openxmlformats.org/drawingml/2006/main">
              <a:ext uri="{FF2B5EF4-FFF2-40B4-BE49-F238E27FC236}">
                <a16:creationId xmlns:a16="http://schemas.microsoft.com/office/drawing/2014/main" id="{F03C9408-5371-4045-A74C-45C9C954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076450"/>
            <a:ext cx="495300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2" name="compare-right-placeholder">
            <a:extLst xmlns:a="http://schemas.openxmlformats.org/drawingml/2006/main">
              <a:ext uri="{FF2B5EF4-FFF2-40B4-BE49-F238E27FC236}">
                <a16:creationId xmlns:a16="http://schemas.microsoft.com/office/drawing/2014/main" id="{3CCFF59C-1329-42BD-97FF-62177F5D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143125"/>
            <a:ext cx="481965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13" name="compare-left-caption">
            <a:extLst xmlns:a="http://schemas.openxmlformats.org/drawingml/2006/main">
              <a:ext uri="{FF2B5EF4-FFF2-40B4-BE49-F238E27FC236}">
                <a16:creationId xmlns:a16="http://schemas.microsoft.com/office/drawing/2014/main" id="{A945BD49-E277-4EFF-BB77-FB8457B0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487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共同尺度下的基线观察</a:t>
            </a:r>
          </a:p>
        </p:txBody>
      </p:sp>
      <p:sp>
        <p:nvSpPr>
          <p:cNvPr id="14" name="compare-right-caption">
            <a:extLst xmlns:a="http://schemas.openxmlformats.org/drawingml/2006/main">
              <a:ext uri="{FF2B5EF4-FFF2-40B4-BE49-F238E27FC236}">
                <a16:creationId xmlns:a16="http://schemas.microsoft.com/office/drawing/2014/main" id="{C48B2147-C6FC-4658-AE14-53DD01C9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010150"/>
            <a:ext cx="4876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共同尺度下的差异观察</a:t>
            </a:r>
          </a:p>
        </p:txBody>
      </p:sp>
      <p:sp>
        <p:nvSpPr>
          <p:cNvPr id="15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2EC87ED8-E587-4A2B-80C2-D303C97F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6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AF2926BE-0E2C-4D2B-8AA4-12E4E05A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00725"/>
            <a:ext cx="1051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差异来自关键条件变化，而非坐标或样本口径不同。</a:t>
            </a:r>
          </a:p>
        </p:txBody>
      </p:sp>
    </p:spTree>
    <p:extLst>
      <p:ext uri="{BB962C8B-B14F-4D97-AF65-F5344CB8AC3E}">
        <p14:creationId xmlns:p14="http://schemas.microsoft.com/office/powerpoint/2010/main" val="177055261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3A51D33C-D8E4-44AC-A10E-0C4F8BF1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136F05-3E88-47FC-80EF-20780C52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多证据并列：每张图承担不同证据角色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913A4D9F-DD89-4EF9-93E2-932236D4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4FB9DC9-9C07-4D97-A886-867BEC7D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DDE2A074-3573-4D11-A989-B224817A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7624F027-9757-487C-A2C6-FCB59020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multi-evidence-1-frame">
            <a:extLst xmlns:a="http://schemas.openxmlformats.org/drawingml/2006/main">
              <a:ext uri="{FF2B5EF4-FFF2-40B4-BE49-F238E27FC236}">
                <a16:creationId xmlns:a16="http://schemas.microsoft.com/office/drawing/2014/main" id="{1176E022-613E-4CC4-A246-754CFFFF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34480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8" name="multi-evidence-1-placeholder">
            <a:extLst xmlns:a="http://schemas.openxmlformats.org/drawingml/2006/main">
              <a:ext uri="{FF2B5EF4-FFF2-40B4-BE49-F238E27FC236}">
                <a16:creationId xmlns:a16="http://schemas.microsoft.com/office/drawing/2014/main" id="{3D66AA05-6C7E-46A7-AA64-D34D607B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24025"/>
            <a:ext cx="33147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9" name="multi-evidence-caption-1">
            <a:extLst xmlns:a="http://schemas.openxmlformats.org/drawingml/2006/main">
              <a:ext uri="{FF2B5EF4-FFF2-40B4-BE49-F238E27FC236}">
                <a16:creationId xmlns:a16="http://schemas.microsoft.com/office/drawing/2014/main" id="{27193B64-BBA7-4425-96FF-86DF5D36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现象证据｜先确认主要变化。</a:t>
            </a:r>
          </a:p>
        </p:txBody>
      </p:sp>
      <p:sp>
        <p:nvSpPr>
          <p:cNvPr id="10" name="multi-evidence-2-frame">
            <a:extLst xmlns:a="http://schemas.openxmlformats.org/drawingml/2006/main">
              <a:ext uri="{FF2B5EF4-FFF2-40B4-BE49-F238E27FC236}">
                <a16:creationId xmlns:a16="http://schemas.microsoft.com/office/drawing/2014/main" id="{BBA3A2E9-7690-4CDF-9EC3-AD61E8E5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657350"/>
            <a:ext cx="34480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1" name="multi-evidence-2-placeholder">
            <a:extLst xmlns:a="http://schemas.openxmlformats.org/drawingml/2006/main">
              <a:ext uri="{FF2B5EF4-FFF2-40B4-BE49-F238E27FC236}">
                <a16:creationId xmlns:a16="http://schemas.microsoft.com/office/drawing/2014/main" id="{510F2D41-A1FB-4EDC-BD84-450B4F0D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1724025"/>
            <a:ext cx="33147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12" name="multi-evidence-caption-2">
            <a:extLst xmlns:a="http://schemas.openxmlformats.org/drawingml/2006/main">
              <a:ext uri="{FF2B5EF4-FFF2-40B4-BE49-F238E27FC236}">
                <a16:creationId xmlns:a16="http://schemas.microsoft.com/office/drawing/2014/main" id="{B1859842-D15C-4476-86F0-B786E66E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52950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机制证据｜解释变化如何发生。</a:t>
            </a:r>
          </a:p>
        </p:txBody>
      </p:sp>
      <p:sp>
        <p:nvSpPr>
          <p:cNvPr id="13" name="multi-evidence-3-frame">
            <a:extLst xmlns:a="http://schemas.openxmlformats.org/drawingml/2006/main">
              <a:ext uri="{FF2B5EF4-FFF2-40B4-BE49-F238E27FC236}">
                <a16:creationId xmlns:a16="http://schemas.microsoft.com/office/drawing/2014/main" id="{41BF5427-B56E-40DA-BFC9-8A534CA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57350"/>
            <a:ext cx="3448050" cy="2800350"/>
          </a:xfrm>
          <a:prstGeom xmlns:a="http://schemas.openxmlformats.org/drawingml/2006/main" prst="roundRect">
            <a:avLst>
              <a:gd name="adj" fmla="val 272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4" name="multi-evidence-3-placeholder">
            <a:extLst xmlns:a="http://schemas.openxmlformats.org/drawingml/2006/main">
              <a:ext uri="{FF2B5EF4-FFF2-40B4-BE49-F238E27FC236}">
                <a16:creationId xmlns:a16="http://schemas.microsoft.com/office/drawing/2014/main" id="{44F113AC-5F83-46E9-9132-09228CCF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724025"/>
            <a:ext cx="331470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15" name="multi-evidence-caption-3">
            <a:extLst xmlns:a="http://schemas.openxmlformats.org/drawingml/2006/main">
              <a:ext uri="{FF2B5EF4-FFF2-40B4-BE49-F238E27FC236}">
                <a16:creationId xmlns:a16="http://schemas.microsoft.com/office/drawing/2014/main" id="{33222454-D97F-47AC-BE54-602686E2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552950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验证证据｜检查是否可复现。</a:t>
            </a:r>
          </a:p>
        </p:txBody>
      </p:sp>
      <p:sp>
        <p:nvSpPr>
          <p:cNvPr id="16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CC9B130-D29E-4875-BB3B-8D0FCD18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7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8151387C-2AF8-43BF-8538-CFE8DE58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81675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现象、机制和外部验证共同决定结论可信度。</a:t>
            </a:r>
          </a:p>
        </p:txBody>
      </p:sp>
    </p:spTree>
    <p:extLst>
      <p:ext uri="{BB962C8B-B14F-4D97-AF65-F5344CB8AC3E}">
        <p14:creationId xmlns:p14="http://schemas.microsoft.com/office/powerpoint/2010/main" val="14002308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284EC76C-BA54-49AC-8560-7778120F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8642F87-DE2B-4B57-A633-56390813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图表结果：趋势之后必须给出解释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4B5ACC9D-CC12-4619-8E88-DA3C1E7B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FE823147-2272-4AB0-A68B-A3F45354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7882D45B-23A1-4848-BAD5-45C4A298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754D5FF-1305-4A69-AF16-F272BE0A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733425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f8a3a2253046fa"/>
          </a:graphicData>
        </a:graphic>
      </p:graphicFrame>
      <p:sp>
        <p:nvSpPr>
          <p:cNvPr id="8" name="chart-claim">
            <a:extLst xmlns:a="http://schemas.openxmlformats.org/drawingml/2006/main">
              <a:ext uri="{FF2B5EF4-FFF2-40B4-BE49-F238E27FC236}">
                <a16:creationId xmlns:a16="http://schemas.microsoft.com/office/drawing/2014/main" id="{54A89F33-5E6F-415E-A0BE-80EEDC7F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47850"/>
            <a:ext cx="3124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171"/>
          </a:bodyPr>
          <a:lstStyle xmlns:a="http://schemas.openxmlformats.org/drawingml/2006/main"/>
          <a:p xmlns:a="http://schemas.openxmlformats.org/drawingml/2006/main">
            <a:pPr algn="l">
              <a:defRPr sz="2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效应随条件增强，但在高水平区域出现平台。</a:t>
            </a:r>
          </a:p>
        </p:txBody>
      </p:sp>
      <p:sp>
        <p:nvSpPr>
          <p:cNvPr id="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82D6BCAF-BB76-4545-B610-E83B478B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14900"/>
            <a:ext cx="3124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rmAutofit fontScale="90972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36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+23.8 %</a:t>
            </a:r>
          </a:p>
        </p:txBody>
      </p:sp>
      <p:sp>
        <p:nvSpPr>
          <p:cNvPr id="1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5E9A001C-C5CA-4FA5-9D0B-A386CC32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5245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71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相对基线</a:t>
            </a:r>
          </a:p>
        </p:txBody>
      </p:sp>
    </p:spTree>
    <p:extLst>
      <p:ext uri="{BB962C8B-B14F-4D97-AF65-F5344CB8AC3E}">
        <p14:creationId xmlns:p14="http://schemas.microsoft.com/office/powerpoint/2010/main" val="14858329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A98051CC-848C-4B23-AEA9-28DAADF6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14C144-C8C5-480C-94E8-CCEE7EB8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机制解释：图中关系必须能被口头逐步追踪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C89305CA-172A-4D2E-86C3-54AFB30E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方法与证据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5657EF4E-4DBC-4C9B-B73E-9BA886FB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BA2A9716-B304-472D-BFDC-3D9D36A5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A7EE759-0114-4891-9203-1F4B796E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primary-evidence-image-frame">
            <a:extLst xmlns:a="http://schemas.openxmlformats.org/drawingml/2006/main">
              <a:ext uri="{FF2B5EF4-FFF2-40B4-BE49-F238E27FC236}">
                <a16:creationId xmlns:a16="http://schemas.microsoft.com/office/drawing/2014/main" id="{DD6E3DFE-BFCC-4B92-AAD3-5542E94E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448300" cy="3771900"/>
          </a:xfrm>
          <a:prstGeom xmlns:a="http://schemas.openxmlformats.org/drawingml/2006/main" prst="roundRect">
            <a:avLst>
              <a:gd name="adj" fmla="val 202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8" name="primary-evidence-image-placeholder">
            <a:extLst xmlns:a="http://schemas.openxmlformats.org/drawingml/2006/main">
              <a:ext uri="{FF2B5EF4-FFF2-40B4-BE49-F238E27FC236}">
                <a16:creationId xmlns:a16="http://schemas.microsoft.com/office/drawing/2014/main" id="{296F7B40-629C-48AE-90FF-CB30A8D9B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724025"/>
            <a:ext cx="5314950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论文证据图示意槽位</a:t>
            </a:r>
          </a:p>
        </p:txBody>
      </p:sp>
      <p:sp>
        <p:nvSpPr>
          <p:cNvPr id="9" name="image-interpretation-claim">
            <a:extLst xmlns:a="http://schemas.openxmlformats.org/drawingml/2006/main">
              <a:ext uri="{FF2B5EF4-FFF2-40B4-BE49-F238E27FC236}">
                <a16:creationId xmlns:a16="http://schemas.microsoft.com/office/drawing/2014/main" id="{8796C174-67CA-462E-889D-6320BED3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14500"/>
            <a:ext cx="5143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关键中介连接输入与输出，并受边界条件调节。</a:t>
            </a:r>
          </a:p>
        </p:txBody>
      </p:sp>
      <p:sp>
        <p:nvSpPr>
          <p:cNvPr id="10" name="image-interpretation-bullets">
            <a:extLst xmlns:a="http://schemas.openxmlformats.org/drawingml/2006/main">
              <a:ext uri="{FF2B5EF4-FFF2-40B4-BE49-F238E27FC236}">
                <a16:creationId xmlns:a16="http://schemas.microsoft.com/office/drawing/2014/main" id="{4E47032B-B7CB-4A82-A177-E52A251A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76550"/>
            <a:ext cx="51435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输入首先改变关键中介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中介再驱动可观测输出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边界条件决定效应是否成立</a:t>
            </a:r>
          </a:p>
        </p:txBody>
      </p:sp>
      <p:sp>
        <p:nvSpPr>
          <p:cNvPr id="11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E888364A-ED2B-4858-BB2E-1B9AD816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87680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b">
            <a:normAutofit fontScale="90972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1 条</a:t>
            </a:r>
          </a:p>
        </p:txBody>
      </p:sp>
      <p:sp>
        <p:nvSpPr>
          <p:cNvPr id="1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6486D42-94ED-4E1C-8C6F-ED3A12EE0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4864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71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关键路径</a:t>
            </a:r>
          </a:p>
        </p:txBody>
      </p:sp>
    </p:spTree>
    <p:extLst>
      <p:ext uri="{BB962C8B-B14F-4D97-AF65-F5344CB8AC3E}">
        <p14:creationId xmlns:p14="http://schemas.microsoft.com/office/powerpoint/2010/main" val="149216016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EF417A3F-C85D-4873-8720-8C259D2F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96ED5C-D0AD-41B9-BA3F-97547917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把作者主张、证据与边界分开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6DF690CA-3D35-4947-9CBB-5E069AB9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D92C8C6-6404-499C-9467-6B4CE40AD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01B03C77-27D7-4A68-A8D7-2E174D89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2869C29-52BB-4062-AA97-42D746CC9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author-claim-panel">
            <a:extLst xmlns:a="http://schemas.openxmlformats.org/drawingml/2006/main">
              <a:ext uri="{FF2B5EF4-FFF2-40B4-BE49-F238E27FC236}">
                <a16:creationId xmlns:a16="http://schemas.microsoft.com/office/drawing/2014/main" id="{AC59DC7A-2211-4CC7-B49C-DF22C231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3219450" cy="37147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author-claim-label">
            <a:extLst xmlns:a="http://schemas.openxmlformats.org/drawingml/2006/main">
              <a:ext uri="{FF2B5EF4-FFF2-40B4-BE49-F238E27FC236}">
                <a16:creationId xmlns:a16="http://schemas.microsoft.com/office/drawing/2014/main" id="{900CECCE-1CBE-49B5-9EA5-AB412A96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1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i="0">
                <a:solidFill>
                  <a:srgbClr val="DDE5F4"/>
                </a:solidFill>
                <a:latin typeface="Microsoft YaHei"/>
                <a:ea typeface="Microsoft YaHei"/>
                <a:cs typeface="Microsoft YaHei"/>
              </a:rPr>
              <a:t>作者主张</a:t>
            </a:r>
          </a:p>
        </p:txBody>
      </p:sp>
      <p:sp>
        <p:nvSpPr>
          <p:cNvPr id="9" name="author-claim-text">
            <a:extLst xmlns:a="http://schemas.openxmlformats.org/drawingml/2006/main">
              <a:ext uri="{FF2B5EF4-FFF2-40B4-BE49-F238E27FC236}">
                <a16:creationId xmlns:a16="http://schemas.microsoft.com/office/drawing/2014/main" id="{ABEE0AD1-CC51-479E-80E2-FD9DEF09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26860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作者认为关键中介是现象变化的主要驱动因素。</a:t>
            </a:r>
          </a:p>
        </p:txBody>
      </p:sp>
      <p:sp>
        <p:nvSpPr>
          <p:cNvPr id="10" name="claim-evidence-label">
            <a:extLst xmlns:a="http://schemas.openxmlformats.org/drawingml/2006/main">
              <a:ext uri="{FF2B5EF4-FFF2-40B4-BE49-F238E27FC236}">
                <a16:creationId xmlns:a16="http://schemas.microsoft.com/office/drawing/2014/main" id="{F11BBA98-59A5-49B5-984F-B24AB5A9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62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证据链</a:t>
            </a:r>
          </a:p>
        </p:txBody>
      </p:sp>
      <p:sp>
        <p:nvSpPr>
          <p:cNvPr id="11" name="claim-evidence-item-1">
            <a:extLst xmlns:a="http://schemas.openxmlformats.org/drawingml/2006/main">
              <a:ext uri="{FF2B5EF4-FFF2-40B4-BE49-F238E27FC236}">
                <a16:creationId xmlns:a16="http://schemas.microsoft.com/office/drawing/2014/main" id="{3B8A0EF6-EBC0-4FD2-BA8B-B48BBB7E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38350"/>
            <a:ext cx="3981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6682B3"/>
            </a:solidFill>
            <a:prstDash val="solid"/>
          </a:ln>
        </p:spPr>
      </p:sp>
      <p:sp>
        <p:nvSpPr>
          <p:cNvPr id="12" name="claim-evidence-item-title-1">
            <a:extLst xmlns:a="http://schemas.openxmlformats.org/drawingml/2006/main">
              <a:ext uri="{FF2B5EF4-FFF2-40B4-BE49-F238E27FC236}">
                <a16:creationId xmlns:a16="http://schemas.microsoft.com/office/drawing/2014/main" id="{673A3990-A24A-4077-86EB-CB06B7FD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defRPr sz="16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直接证据</a:t>
            </a:r>
          </a:p>
        </p:txBody>
      </p:sp>
      <p:sp>
        <p:nvSpPr>
          <p:cNvPr id="13" name="claim-evidence-item-body-1">
            <a:extLst xmlns:a="http://schemas.openxmlformats.org/drawingml/2006/main">
              <a:ext uri="{FF2B5EF4-FFF2-40B4-BE49-F238E27FC236}">
                <a16:creationId xmlns:a16="http://schemas.microsoft.com/office/drawing/2014/main" id="{719A29EF-9B87-4E01-94F2-FAAA6DFA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3360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干预中介后主要结果同步变化。</a:t>
            </a:r>
          </a:p>
        </p:txBody>
      </p:sp>
      <p:sp>
        <p:nvSpPr>
          <p:cNvPr id="14" name="claim-evidence-item-2">
            <a:extLst xmlns:a="http://schemas.openxmlformats.org/drawingml/2006/main">
              <a:ext uri="{FF2B5EF4-FFF2-40B4-BE49-F238E27FC236}">
                <a16:creationId xmlns:a16="http://schemas.microsoft.com/office/drawing/2014/main" id="{1C932992-36E1-4379-A366-8E632E4E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9814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5" name="claim-evidence-item-title-2">
            <a:extLst xmlns:a="http://schemas.openxmlformats.org/drawingml/2006/main">
              <a:ext uri="{FF2B5EF4-FFF2-40B4-BE49-F238E27FC236}">
                <a16:creationId xmlns:a16="http://schemas.microsoft.com/office/drawing/2014/main" id="{12650B35-21D1-4372-A169-4A59536C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142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defRPr sz="16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一致性证据</a:t>
            </a:r>
          </a:p>
        </p:txBody>
      </p:sp>
      <p:sp>
        <p:nvSpPr>
          <p:cNvPr id="16" name="claim-evidence-item-body-2">
            <a:extLst xmlns:a="http://schemas.openxmlformats.org/drawingml/2006/main">
              <a:ext uri="{FF2B5EF4-FFF2-40B4-BE49-F238E27FC236}">
                <a16:creationId xmlns:a16="http://schemas.microsoft.com/office/drawing/2014/main" id="{0297CCEC-8032-42C2-A36F-FE23072A6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200400"/>
            <a:ext cx="2057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独立方法得到相同方向结果。</a:t>
            </a:r>
          </a:p>
        </p:txBody>
      </p:sp>
      <p:sp>
        <p:nvSpPr>
          <p:cNvPr id="17" name="claim-boundary-panel">
            <a:extLst xmlns:a="http://schemas.openxmlformats.org/drawingml/2006/main">
              <a:ext uri="{FF2B5EF4-FFF2-40B4-BE49-F238E27FC236}">
                <a16:creationId xmlns:a16="http://schemas.microsoft.com/office/drawing/2014/main" id="{9567CB75-8688-4156-B5D5-0836C238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524000"/>
            <a:ext cx="3048000" cy="371475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14288">
            <a:solidFill>
              <a:srgbClr val="B77A2E"/>
            </a:solidFill>
            <a:prstDash val="solid"/>
          </a:ln>
        </p:spPr>
      </p:sp>
      <p:sp>
        <p:nvSpPr>
          <p:cNvPr id="18" name="claim-boundary-label">
            <a:extLst xmlns:a="http://schemas.openxmlformats.org/drawingml/2006/main">
              <a:ext uri="{FF2B5EF4-FFF2-40B4-BE49-F238E27FC236}">
                <a16:creationId xmlns:a16="http://schemas.microsoft.com/office/drawing/2014/main" id="{DE42B9E0-E6ED-4062-A619-DD72E4C0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52600"/>
            <a:ext cx="2552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rPr>
              <a:t>汇报者边界判断</a:t>
            </a:r>
          </a:p>
        </p:txBody>
      </p:sp>
      <p:sp>
        <p:nvSpPr>
          <p:cNvPr id="19" name="claim-boundary-text">
            <a:extLst xmlns:a="http://schemas.openxmlformats.org/drawingml/2006/main">
              <a:ext uri="{FF2B5EF4-FFF2-40B4-BE49-F238E27FC236}">
                <a16:creationId xmlns:a16="http://schemas.microsoft.com/office/drawing/2014/main" id="{D086B0D2-A1A6-4D02-9E2D-1E14CA76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5527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现有证据尚不能排除长期适应与样本选择的影响。</a:t>
            </a:r>
          </a:p>
        </p:txBody>
      </p:sp>
      <p:sp>
        <p:nvSpPr>
          <p:cNvPr id="20" name="claim-boundary-reminder">
            <a:extLst xmlns:a="http://schemas.openxmlformats.org/drawingml/2006/main">
              <a:ext uri="{FF2B5EF4-FFF2-40B4-BE49-F238E27FC236}">
                <a16:creationId xmlns:a16="http://schemas.microsoft.com/office/drawing/2014/main" id="{863EAB37-B070-403D-8959-8743B1C23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2915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作者声称 ≠ 汇报者认同</a:t>
            </a:r>
          </a:p>
        </p:txBody>
      </p:sp>
      <p:sp>
        <p:nvSpPr>
          <p:cNvPr id="21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68CA36F5-5610-46F6-96B1-7D5F40E4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2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5AD662E6-5EB8-4742-A29F-2315F5BE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1051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可接受机制方向，但</a:t>
            </a:r>
            <a:r>
              <a:rPr sz="1700" b="1" i="0">
                <a:solidFill>
                  <a:srgbClr val="B4233A"/>
                </a:solidFill>
                <a:latin typeface="Microsoft YaHei"/>
                <a:ea typeface="Microsoft YaHei"/>
                <a:cs typeface="Microsoft YaHei"/>
              </a:rPr>
              <a:t>因果强度</a:t>
            </a: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和适用范围仍需验证。</a:t>
            </a:r>
          </a:p>
        </p:txBody>
      </p:sp>
    </p:spTree>
    <p:extLst>
      <p:ext uri="{BB962C8B-B14F-4D97-AF65-F5344CB8AC3E}">
        <p14:creationId xmlns:p14="http://schemas.microsoft.com/office/powerpoint/2010/main" val="122443185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612C8C62-B6C6-4C13-AB50-46525233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04E118-4516-4FD6-B975-30BF5064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单篇论文结论：发现、依据与未证明内容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C5F3CBED-E72F-4D17-BE1D-F5BC0D89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38AE13C3-70DB-462A-9468-216F5809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D7C58980-5DA6-46B6-9C7F-2A954D94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D91986C-BE48-45B6-9B5F-267F12DB3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paper-conclusion-row-1">
            <a:extLst xmlns:a="http://schemas.openxmlformats.org/drawingml/2006/main">
              <a:ext uri="{FF2B5EF4-FFF2-40B4-BE49-F238E27FC236}">
                <a16:creationId xmlns:a16="http://schemas.microsoft.com/office/drawing/2014/main" id="{FEB91703-759F-46EE-B266-4B089075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8" name="paper-conclusion-label-1">
            <a:extLst xmlns:a="http://schemas.openxmlformats.org/drawingml/2006/main">
              <a:ext uri="{FF2B5EF4-FFF2-40B4-BE49-F238E27FC236}">
                <a16:creationId xmlns:a16="http://schemas.microsoft.com/office/drawing/2014/main" id="{83D1B761-67AA-4235-801A-0B4D2CB1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发现了什么</a:t>
            </a:r>
          </a:p>
        </p:txBody>
      </p:sp>
      <p:sp>
        <p:nvSpPr>
          <p:cNvPr id="9" name="paper-conclusion-rule-1">
            <a:extLst xmlns:a="http://schemas.openxmlformats.org/drawingml/2006/main">
              <a:ext uri="{FF2B5EF4-FFF2-40B4-BE49-F238E27FC236}">
                <a16:creationId xmlns:a16="http://schemas.microsoft.com/office/drawing/2014/main" id="{F68F734A-2A12-42EC-BB42-EDE506F5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676400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0" name="paper-conclusion-text-1">
            <a:extLst xmlns:a="http://schemas.openxmlformats.org/drawingml/2006/main">
              <a:ext uri="{FF2B5EF4-FFF2-40B4-BE49-F238E27FC236}">
                <a16:creationId xmlns:a16="http://schemas.microsoft.com/office/drawing/2014/main" id="{CEDAC3A8-7964-4EC1-AFC9-73F31198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00200"/>
            <a:ext cx="8343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关键中介在目标条件下改变主要结果。</a:t>
            </a:r>
          </a:p>
        </p:txBody>
      </p:sp>
      <p:sp>
        <p:nvSpPr>
          <p:cNvPr id="11" name="paper-conclusion-row-2">
            <a:extLst xmlns:a="http://schemas.openxmlformats.org/drawingml/2006/main">
              <a:ext uri="{FF2B5EF4-FFF2-40B4-BE49-F238E27FC236}">
                <a16:creationId xmlns:a16="http://schemas.microsoft.com/office/drawing/2014/main" id="{3099B4BA-2599-4932-8B16-43B2D2271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38450"/>
            <a:ext cx="11125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2" name="paper-conclusion-label-2">
            <a:extLst xmlns:a="http://schemas.openxmlformats.org/drawingml/2006/main">
              <a:ext uri="{FF2B5EF4-FFF2-40B4-BE49-F238E27FC236}">
                <a16:creationId xmlns:a16="http://schemas.microsoft.com/office/drawing/2014/main" id="{F4354FEF-1132-4431-ACCB-3A3EE593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凭什么相信</a:t>
            </a:r>
          </a:p>
        </p:txBody>
      </p:sp>
      <p:sp>
        <p:nvSpPr>
          <p:cNvPr id="13" name="paper-conclusion-rule-2">
            <a:extLst xmlns:a="http://schemas.openxmlformats.org/drawingml/2006/main">
              <a:ext uri="{FF2B5EF4-FFF2-40B4-BE49-F238E27FC236}">
                <a16:creationId xmlns:a16="http://schemas.microsoft.com/office/drawing/2014/main" id="{D7283FA9-5B73-4898-9F1D-69C39F3A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048000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4" name="paper-conclusion-text-2">
            <a:extLst xmlns:a="http://schemas.openxmlformats.org/drawingml/2006/main">
              <a:ext uri="{FF2B5EF4-FFF2-40B4-BE49-F238E27FC236}">
                <a16:creationId xmlns:a16="http://schemas.microsoft.com/office/drawing/2014/main" id="{0211AA53-91B6-4AFA-B362-A19C0472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8343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干预、对照和独立样本提供方向一致的证据。</a:t>
            </a:r>
          </a:p>
        </p:txBody>
      </p:sp>
      <p:sp>
        <p:nvSpPr>
          <p:cNvPr id="15" name="paper-conclusion-row-3">
            <a:extLst xmlns:a="http://schemas.openxmlformats.org/drawingml/2006/main">
              <a:ext uri="{FF2B5EF4-FFF2-40B4-BE49-F238E27FC236}">
                <a16:creationId xmlns:a16="http://schemas.microsoft.com/office/drawing/2014/main" id="{725E3773-D3F6-4C69-8783-80478989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111252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</p:sp>
      <p:sp>
        <p:nvSpPr>
          <p:cNvPr id="16" name="paper-conclusion-label-3">
            <a:extLst xmlns:a="http://schemas.openxmlformats.org/drawingml/2006/main">
              <a:ext uri="{FF2B5EF4-FFF2-40B4-BE49-F238E27FC236}">
                <a16:creationId xmlns:a16="http://schemas.microsoft.com/office/drawing/2014/main" id="{BB5271B0-8CDD-4EB0-88D6-F64E6713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rPr>
              <a:t>尚未证明</a:t>
            </a:r>
          </a:p>
        </p:txBody>
      </p:sp>
      <p:sp>
        <p:nvSpPr>
          <p:cNvPr id="17" name="paper-conclusion-rule-3">
            <a:extLst xmlns:a="http://schemas.openxmlformats.org/drawingml/2006/main">
              <a:ext uri="{FF2B5EF4-FFF2-40B4-BE49-F238E27FC236}">
                <a16:creationId xmlns:a16="http://schemas.microsoft.com/office/drawing/2014/main" id="{5CDD770D-A50F-4994-96F1-8551C5CB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19600"/>
            <a:ext cx="19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0">
            <a:solidFill>
              <a:srgbClr val="B77A2E"/>
            </a:solidFill>
            <a:prstDash val="solid"/>
          </a:ln>
        </p:spPr>
      </p:sp>
      <p:sp>
        <p:nvSpPr>
          <p:cNvPr id="18" name="paper-conclusion-text-3">
            <a:extLst xmlns:a="http://schemas.openxmlformats.org/drawingml/2006/main">
              <a:ext uri="{FF2B5EF4-FFF2-40B4-BE49-F238E27FC236}">
                <a16:creationId xmlns:a16="http://schemas.microsoft.com/office/drawing/2014/main" id="{482C18BD-790D-4626-B76A-28B6F9B7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43400"/>
            <a:ext cx="8343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尚未证明该机制在所有场景或长期尺度都成立。</a:t>
            </a:r>
          </a:p>
        </p:txBody>
      </p:sp>
      <p:sp>
        <p:nvSpPr>
          <p:cNvPr id="19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3C63C5FA-8D37-4651-83BC-C513922C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0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C5ED6FA-8C5A-4B35-9ABB-658B2C72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1051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核心结论可作为工作假设，而不是无条件事实。</a:t>
            </a:r>
          </a:p>
        </p:txBody>
      </p:sp>
    </p:spTree>
    <p:extLst>
      <p:ext uri="{BB962C8B-B14F-4D97-AF65-F5344CB8AC3E}">
        <p14:creationId xmlns:p14="http://schemas.microsoft.com/office/powerpoint/2010/main" val="17000591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65307E2C-67A2-4818-8D61-18248963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8778D4F-ACC7-4238-8FB6-6A797799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批判性阅读：同时回答可信与不可信之处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F1521E33-AB11-4D7F-A3F7-4B0FBFEC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7749420-5824-4512-B5CC-6D9CCB60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3B981B35-AEFD-4574-9B0E-5449C138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856B741-FB83-480C-91DD-08AFE7FA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appraisal-header-1">
            <a:extLst xmlns:a="http://schemas.openxmlformats.org/drawingml/2006/main">
              <a:ext uri="{FF2B5EF4-FFF2-40B4-BE49-F238E27FC236}">
                <a16:creationId xmlns:a16="http://schemas.microsoft.com/office/drawing/2014/main" id="{415633A8-D61D-4057-BA44-FA37FA8B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54673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78510"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可信之处</a:t>
            </a:r>
          </a:p>
        </p:txBody>
      </p:sp>
      <p:sp>
        <p:nvSpPr>
          <p:cNvPr id="8" name="appraisal-row-1-1">
            <a:extLst xmlns:a="http://schemas.openxmlformats.org/drawingml/2006/main">
              <a:ext uri="{FF2B5EF4-FFF2-40B4-BE49-F238E27FC236}">
                <a16:creationId xmlns:a16="http://schemas.microsoft.com/office/drawing/2014/main" id="{0201B80B-5EA6-4623-8E6A-DB4A04DDF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9" name="appraisal-index-1-1">
            <a:extLst xmlns:a="http://schemas.openxmlformats.org/drawingml/2006/main">
              <a:ext uri="{FF2B5EF4-FFF2-40B4-BE49-F238E27FC236}">
                <a16:creationId xmlns:a16="http://schemas.microsoft.com/office/drawing/2014/main" id="{45FCB822-A4E7-4EEB-9466-1F13F049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appraisal-text-1-1">
            <a:extLst xmlns:a="http://schemas.openxmlformats.org/drawingml/2006/main">
              <a:ext uri="{FF2B5EF4-FFF2-40B4-BE49-F238E27FC236}">
                <a16:creationId xmlns:a16="http://schemas.microsoft.com/office/drawing/2014/main" id="{D7341772-4BD8-45A9-92EC-8D4F532F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717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研究问题与设计匹配</a:t>
            </a:r>
          </a:p>
        </p:txBody>
      </p:sp>
      <p:sp>
        <p:nvSpPr>
          <p:cNvPr id="11" name="appraisal-row-1-2">
            <a:extLst xmlns:a="http://schemas.openxmlformats.org/drawingml/2006/main">
              <a:ext uri="{FF2B5EF4-FFF2-40B4-BE49-F238E27FC236}">
                <a16:creationId xmlns:a16="http://schemas.microsoft.com/office/drawing/2014/main" id="{394EEF02-C7AB-47D2-B784-A1D596AD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2" name="appraisal-index-1-2">
            <a:extLst xmlns:a="http://schemas.openxmlformats.org/drawingml/2006/main">
              <a:ext uri="{FF2B5EF4-FFF2-40B4-BE49-F238E27FC236}">
                <a16:creationId xmlns:a16="http://schemas.microsoft.com/office/drawing/2014/main" id="{22E68E8D-AF6E-4661-923E-E9ADE217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appraisal-text-1-2">
            <a:extLst xmlns:a="http://schemas.openxmlformats.org/drawingml/2006/main">
              <a:ext uri="{FF2B5EF4-FFF2-40B4-BE49-F238E27FC236}">
                <a16:creationId xmlns:a16="http://schemas.microsoft.com/office/drawing/2014/main" id="{82BF3703-66DB-41A5-B198-E977BA80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718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关键对照充分</a:t>
            </a:r>
          </a:p>
        </p:txBody>
      </p:sp>
      <p:sp>
        <p:nvSpPr>
          <p:cNvPr id="14" name="appraisal-row-1-3">
            <a:extLst xmlns:a="http://schemas.openxmlformats.org/drawingml/2006/main">
              <a:ext uri="{FF2B5EF4-FFF2-40B4-BE49-F238E27FC236}">
                <a16:creationId xmlns:a16="http://schemas.microsoft.com/office/drawing/2014/main" id="{4C3560F6-8124-4E2C-80D1-28A7A785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957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5" name="appraisal-index-1-3">
            <a:extLst xmlns:a="http://schemas.openxmlformats.org/drawingml/2006/main">
              <a:ext uri="{FF2B5EF4-FFF2-40B4-BE49-F238E27FC236}">
                <a16:creationId xmlns:a16="http://schemas.microsoft.com/office/drawing/2014/main" id="{04AAA595-8DC4-4D9F-AA1A-123712BE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909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6" name="appraisal-text-1-3">
            <a:extLst xmlns:a="http://schemas.openxmlformats.org/drawingml/2006/main">
              <a:ext uri="{FF2B5EF4-FFF2-40B4-BE49-F238E27FC236}">
                <a16:creationId xmlns:a16="http://schemas.microsoft.com/office/drawing/2014/main" id="{993F8313-D683-49EF-B38F-5C7AA722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71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结论边界较清楚</a:t>
            </a:r>
          </a:p>
        </p:txBody>
      </p:sp>
      <p:sp>
        <p:nvSpPr>
          <p:cNvPr id="17" name="appraisal-header-2">
            <a:extLst xmlns:a="http://schemas.openxmlformats.org/drawingml/2006/main">
              <a:ext uri="{FF2B5EF4-FFF2-40B4-BE49-F238E27FC236}">
                <a16:creationId xmlns:a16="http://schemas.microsoft.com/office/drawing/2014/main" id="{4B3C73E9-CE86-4771-8E33-79CF06AB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54673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A2E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  <p:txBody>
          <a:bodyPr xmlns:a="http://schemas.openxmlformats.org/drawingml/2006/main" anchor="ctr">
            <a:normAutofit fontScale="78510"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需要警惕</a:t>
            </a:r>
          </a:p>
        </p:txBody>
      </p:sp>
      <p:sp>
        <p:nvSpPr>
          <p:cNvPr id="18" name="appraisal-row-2-1">
            <a:extLst xmlns:a="http://schemas.openxmlformats.org/drawingml/2006/main">
              <a:ext uri="{FF2B5EF4-FFF2-40B4-BE49-F238E27FC236}">
                <a16:creationId xmlns:a16="http://schemas.microsoft.com/office/drawing/2014/main" id="{29F4A779-6DFF-4955-9FF1-CAE787A6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</p:sp>
      <p:sp>
        <p:nvSpPr>
          <p:cNvPr id="19" name="appraisal-index-2-1">
            <a:extLst xmlns:a="http://schemas.openxmlformats.org/drawingml/2006/main">
              <a:ext uri="{FF2B5EF4-FFF2-40B4-BE49-F238E27FC236}">
                <a16:creationId xmlns:a16="http://schemas.microsoft.com/office/drawing/2014/main" id="{146BC310-74A5-43FA-9B0F-E36BB47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907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B77A2E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B77A2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0" name="appraisal-text-2-1">
            <a:extLst xmlns:a="http://schemas.openxmlformats.org/drawingml/2006/main">
              <a:ext uri="{FF2B5EF4-FFF2-40B4-BE49-F238E27FC236}">
                <a16:creationId xmlns:a16="http://schemas.microsoft.com/office/drawing/2014/main" id="{56E51E91-F04E-4E53-8168-A273B2DC6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样本外推受限</a:t>
            </a:r>
          </a:p>
        </p:txBody>
      </p:sp>
      <p:sp>
        <p:nvSpPr>
          <p:cNvPr id="21" name="appraisal-row-2-2">
            <a:extLst xmlns:a="http://schemas.openxmlformats.org/drawingml/2006/main">
              <a:ext uri="{FF2B5EF4-FFF2-40B4-BE49-F238E27FC236}">
                <a16:creationId xmlns:a16="http://schemas.microsoft.com/office/drawing/2014/main" id="{5E58EC2B-CC45-446C-B7EF-68E64F6F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956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</p:sp>
      <p:sp>
        <p:nvSpPr>
          <p:cNvPr id="22" name="appraisal-index-2-2">
            <a:extLst xmlns:a="http://schemas.openxmlformats.org/drawingml/2006/main">
              <a:ext uri="{FF2B5EF4-FFF2-40B4-BE49-F238E27FC236}">
                <a16:creationId xmlns:a16="http://schemas.microsoft.com/office/drawing/2014/main" id="{5F90BACD-292C-45E7-95DF-02A68ED6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908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B77A2E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B77A2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3" name="appraisal-text-2-2">
            <a:extLst xmlns:a="http://schemas.openxmlformats.org/drawingml/2006/main">
              <a:ext uri="{FF2B5EF4-FFF2-40B4-BE49-F238E27FC236}">
                <a16:creationId xmlns:a16="http://schemas.microsoft.com/office/drawing/2014/main" id="{D05B10B9-3EA7-4945-B85B-618EE1AE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718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替代解释未完全排除</a:t>
            </a:r>
          </a:p>
        </p:txBody>
      </p:sp>
      <p:sp>
        <p:nvSpPr>
          <p:cNvPr id="24" name="appraisal-row-2-3">
            <a:extLst xmlns:a="http://schemas.openxmlformats.org/drawingml/2006/main">
              <a:ext uri="{FF2B5EF4-FFF2-40B4-BE49-F238E27FC236}">
                <a16:creationId xmlns:a16="http://schemas.microsoft.com/office/drawing/2014/main" id="{3B2A09AF-33F3-49FA-8A70-D275C773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95700"/>
            <a:ext cx="54673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</p:sp>
      <p:sp>
        <p:nvSpPr>
          <p:cNvPr id="25" name="appraisal-index-2-3">
            <a:extLst xmlns:a="http://schemas.openxmlformats.org/drawingml/2006/main">
              <a:ext uri="{FF2B5EF4-FFF2-40B4-BE49-F238E27FC236}">
                <a16:creationId xmlns:a16="http://schemas.microsoft.com/office/drawing/2014/main" id="{73790EE0-CA35-4A67-888A-5349A96D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90950"/>
            <a:ext cx="400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B77A2E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B77A2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6" name="appraisal-text-2-3">
            <a:extLst xmlns:a="http://schemas.openxmlformats.org/drawingml/2006/main">
              <a:ext uri="{FF2B5EF4-FFF2-40B4-BE49-F238E27FC236}">
                <a16:creationId xmlns:a16="http://schemas.microsoft.com/office/drawing/2014/main" id="{D01A40CC-29C1-4BB7-AE53-7C010AAF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71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部分复现信息缺失</a:t>
            </a:r>
          </a:p>
        </p:txBody>
      </p:sp>
      <p:sp>
        <p:nvSpPr>
          <p:cNvPr id="27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0862A6B0-F0DD-4EA3-B189-B77E41CA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8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2C3025C0-6C0B-4C8F-815E-DA6663B9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29275"/>
            <a:ext cx="10515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证据足以支持方向性判断，但不足以支持广泛因果外推。</a:t>
            </a:r>
          </a:p>
        </p:txBody>
      </p:sp>
    </p:spTree>
    <p:extLst>
      <p:ext uri="{BB962C8B-B14F-4D97-AF65-F5344CB8AC3E}">
        <p14:creationId xmlns:p14="http://schemas.microsoft.com/office/powerpoint/2010/main" val="135507327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E2D47B61-FD36-4DAE-95A2-7D855843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AB6D72-9B39-4094-B8C0-F3576DC08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可复现性：从数据可得走到外部验证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5CB4155F-8F87-4431-B175-9FA79345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F9BCAD88-F09F-4763-896B-0F047D77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063B49F9-C318-4C87-8982-EAB946CF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6083E2-3B3E-4B20-BA87-37D75753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repro-index-1">
            <a:extLst xmlns:a="http://schemas.openxmlformats.org/drawingml/2006/main">
              <a:ext uri="{FF2B5EF4-FFF2-40B4-BE49-F238E27FC236}">
                <a16:creationId xmlns:a16="http://schemas.microsoft.com/office/drawing/2014/main" id="{21A205AE-7932-4B51-9E8D-BD75F3C1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7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pro-title-1">
            <a:extLst xmlns:a="http://schemas.openxmlformats.org/drawingml/2006/main">
              <a:ext uri="{FF2B5EF4-FFF2-40B4-BE49-F238E27FC236}">
                <a16:creationId xmlns:a16="http://schemas.microsoft.com/office/drawing/2014/main" id="{C10923F9-9BC2-4CAB-9F36-20E518A5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5049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数据可得</a:t>
            </a:r>
          </a:p>
        </p:txBody>
      </p:sp>
      <p:sp>
        <p:nvSpPr>
          <p:cNvPr id="9" name="repro-body-1">
            <a:extLst xmlns:a="http://schemas.openxmlformats.org/drawingml/2006/main">
              <a:ext uri="{FF2B5EF4-FFF2-40B4-BE49-F238E27FC236}">
                <a16:creationId xmlns:a16="http://schemas.microsoft.com/office/drawing/2014/main" id="{02D810C1-7A47-4586-A309-95722342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049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原始数据、纳排规则与预处理。</a:t>
            </a:r>
          </a:p>
        </p:txBody>
      </p:sp>
      <p:sp>
        <p:nvSpPr>
          <p:cNvPr id="10" name="repro-status-1">
            <a:extLst xmlns:a="http://schemas.openxmlformats.org/drawingml/2006/main">
              <a:ext uri="{FF2B5EF4-FFF2-40B4-BE49-F238E27FC236}">
                <a16:creationId xmlns:a16="http://schemas.microsoft.com/office/drawing/2014/main" id="{A6C0536B-FF88-4C27-9639-96C0A685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628775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ADE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  <p:txBody>
          <a:bodyPr xmlns:a="http://schemas.openxmlformats.org/drawingml/2006/main" anchor="ctr">
            <a:normAutofit fontScale="77099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rPr>
              <a:t>部分</a:t>
            </a:r>
          </a:p>
        </p:txBody>
      </p:sp>
      <p:sp>
        <p:nvSpPr>
          <p:cNvPr id="11" name="repro-rule-1">
            <a:extLst xmlns:a="http://schemas.openxmlformats.org/drawingml/2006/main">
              <a:ext uri="{FF2B5EF4-FFF2-40B4-BE49-F238E27FC236}">
                <a16:creationId xmlns:a16="http://schemas.microsoft.com/office/drawing/2014/main" id="{79D091CA-60FE-4656-8F65-C7681BB0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28850"/>
            <a:ext cx="996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2" name="repro-index-2">
            <a:extLst xmlns:a="http://schemas.openxmlformats.org/drawingml/2006/main">
              <a:ext uri="{FF2B5EF4-FFF2-40B4-BE49-F238E27FC236}">
                <a16:creationId xmlns:a16="http://schemas.microsoft.com/office/drawing/2014/main" id="{B4B4291D-1EDF-4165-AA93-9D2D93A2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57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repro-title-2">
            <a:extLst xmlns:a="http://schemas.openxmlformats.org/drawingml/2006/main">
              <a:ext uri="{FF2B5EF4-FFF2-40B4-BE49-F238E27FC236}">
                <a16:creationId xmlns:a16="http://schemas.microsoft.com/office/drawing/2014/main" id="{82F53C34-0BFF-402C-A85C-C205233E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431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方法可复现</a:t>
            </a:r>
          </a:p>
        </p:txBody>
      </p:sp>
      <p:sp>
        <p:nvSpPr>
          <p:cNvPr id="14" name="repro-body-2">
            <a:extLst xmlns:a="http://schemas.openxmlformats.org/drawingml/2006/main">
              <a:ext uri="{FF2B5EF4-FFF2-40B4-BE49-F238E27FC236}">
                <a16:creationId xmlns:a16="http://schemas.microsoft.com/office/drawing/2014/main" id="{9F712CC2-BD24-4D88-91C1-DF237204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431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参数、代码、软件版本与随机性。</a:t>
            </a:r>
          </a:p>
        </p:txBody>
      </p:sp>
      <p:sp>
        <p:nvSpPr>
          <p:cNvPr id="15" name="repro-status-2">
            <a:extLst xmlns:a="http://schemas.openxmlformats.org/drawingml/2006/main">
              <a:ext uri="{FF2B5EF4-FFF2-40B4-BE49-F238E27FC236}">
                <a16:creationId xmlns:a16="http://schemas.microsoft.com/office/drawing/2014/main" id="{EB6820A8-D10D-481C-A71A-902FC220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66975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E9E8"/>
          </a:solidFill>
          <a:ln xmlns:a="http://schemas.openxmlformats.org/drawingml/2006/main" w="9525">
            <a:solidFill>
              <a:srgbClr val="3C786D"/>
            </a:solidFill>
            <a:prstDash val="solid"/>
          </a:ln>
        </p:spPr>
        <p:txBody>
          <a:bodyPr xmlns:a="http://schemas.openxmlformats.org/drawingml/2006/main" anchor="ctr">
            <a:normAutofit fontScale="77099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3C78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3C786D"/>
                </a:solidFill>
                <a:latin typeface="Microsoft YaHei"/>
                <a:ea typeface="Microsoft YaHei"/>
                <a:cs typeface="Microsoft YaHei"/>
              </a:rPr>
              <a:t>可核</a:t>
            </a:r>
          </a:p>
        </p:txBody>
      </p:sp>
      <p:sp>
        <p:nvSpPr>
          <p:cNvPr id="16" name="repro-rule-2">
            <a:extLst xmlns:a="http://schemas.openxmlformats.org/drawingml/2006/main">
              <a:ext uri="{FF2B5EF4-FFF2-40B4-BE49-F238E27FC236}">
                <a16:creationId xmlns:a16="http://schemas.microsoft.com/office/drawing/2014/main" id="{B87718B1-1B20-44AC-80C9-5F7C534C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996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7" name="repro-index-3">
            <a:extLst xmlns:a="http://schemas.openxmlformats.org/drawingml/2006/main">
              <a:ext uri="{FF2B5EF4-FFF2-40B4-BE49-F238E27FC236}">
                <a16:creationId xmlns:a16="http://schemas.microsoft.com/office/drawing/2014/main" id="{0EE1FED2-F676-4276-A840-8F941C810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57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repro-title-3">
            <a:extLst xmlns:a="http://schemas.openxmlformats.org/drawingml/2006/main">
              <a:ext uri="{FF2B5EF4-FFF2-40B4-BE49-F238E27FC236}">
                <a16:creationId xmlns:a16="http://schemas.microsoft.com/office/drawing/2014/main" id="{D674770B-1770-4AAD-97BC-AFFE490C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结果可重算</a:t>
            </a:r>
          </a:p>
        </p:txBody>
      </p:sp>
      <p:sp>
        <p:nvSpPr>
          <p:cNvPr id="19" name="repro-body-3">
            <a:extLst xmlns:a="http://schemas.openxmlformats.org/drawingml/2006/main">
              <a:ext uri="{FF2B5EF4-FFF2-40B4-BE49-F238E27FC236}">
                <a16:creationId xmlns:a16="http://schemas.microsoft.com/office/drawing/2014/main" id="{855DE47F-92EF-4B5E-854C-D0AB4F30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813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主要图表与统计口径能够追踪。</a:t>
            </a:r>
          </a:p>
        </p:txBody>
      </p:sp>
      <p:sp>
        <p:nvSpPr>
          <p:cNvPr id="20" name="repro-status-3">
            <a:extLst xmlns:a="http://schemas.openxmlformats.org/drawingml/2006/main">
              <a:ext uri="{FF2B5EF4-FFF2-40B4-BE49-F238E27FC236}">
                <a16:creationId xmlns:a16="http://schemas.microsoft.com/office/drawing/2014/main" id="{07EC78C2-47CB-479B-87E5-DB1708E9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305175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E7DE"/>
          </a:solidFill>
          <a:ln xmlns:a="http://schemas.openxmlformats.org/drawingml/2006/main" w="9525">
            <a:solidFill>
              <a:srgbClr val="B56A2E"/>
            </a:solidFill>
            <a:prstDash val="solid"/>
          </a:ln>
        </p:spPr>
        <p:txBody>
          <a:bodyPr xmlns:a="http://schemas.openxmlformats.org/drawingml/2006/main" anchor="ctr">
            <a:normAutofit fontScale="77099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B56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B56A2E"/>
                </a:solidFill>
                <a:latin typeface="Microsoft YaHei"/>
                <a:ea typeface="Microsoft YaHei"/>
                <a:cs typeface="Microsoft YaHei"/>
              </a:rPr>
              <a:t>待做</a:t>
            </a:r>
          </a:p>
        </p:txBody>
      </p:sp>
      <p:sp>
        <p:nvSpPr>
          <p:cNvPr id="21" name="repro-rule-3">
            <a:extLst xmlns:a="http://schemas.openxmlformats.org/drawingml/2006/main">
              <a:ext uri="{FF2B5EF4-FFF2-40B4-BE49-F238E27FC236}">
                <a16:creationId xmlns:a16="http://schemas.microsoft.com/office/drawing/2014/main" id="{18309502-72DC-46E5-93F5-75F135930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05250"/>
            <a:ext cx="996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2" name="repro-index-4">
            <a:extLst xmlns:a="http://schemas.openxmlformats.org/drawingml/2006/main">
              <a:ext uri="{FF2B5EF4-FFF2-40B4-BE49-F238E27FC236}">
                <a16:creationId xmlns:a16="http://schemas.microsoft.com/office/drawing/2014/main" id="{330260EA-32A9-4502-B32E-47EA0229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57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3" name="repro-title-4">
            <a:extLst xmlns:a="http://schemas.openxmlformats.org/drawingml/2006/main">
              <a:ext uri="{FF2B5EF4-FFF2-40B4-BE49-F238E27FC236}">
                <a16:creationId xmlns:a16="http://schemas.microsoft.com/office/drawing/2014/main" id="{29B6A7D9-5031-42BD-AB2D-DF537205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1955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外部可验证</a:t>
            </a:r>
          </a:p>
        </p:txBody>
      </p:sp>
      <p:sp>
        <p:nvSpPr>
          <p:cNvPr id="24" name="repro-body-4">
            <a:extLst xmlns:a="http://schemas.openxmlformats.org/drawingml/2006/main">
              <a:ext uri="{FF2B5EF4-FFF2-40B4-BE49-F238E27FC236}">
                <a16:creationId xmlns:a16="http://schemas.microsoft.com/office/drawing/2014/main" id="{C808B1E6-C051-4083-8C91-67A1D56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19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独立样本或替代方法支持。</a:t>
            </a:r>
          </a:p>
        </p:txBody>
      </p:sp>
      <p:sp>
        <p:nvSpPr>
          <p:cNvPr id="25" name="repro-status-4">
            <a:extLst xmlns:a="http://schemas.openxmlformats.org/drawingml/2006/main">
              <a:ext uri="{FF2B5EF4-FFF2-40B4-BE49-F238E27FC236}">
                <a16:creationId xmlns:a16="http://schemas.microsoft.com/office/drawing/2014/main" id="{9EC05A1D-A94E-4989-96EE-E87758E8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143375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1E2"/>
          </a:solidFill>
          <a:ln xmlns:a="http://schemas.openxmlformats.org/drawingml/2006/main" w="9525">
            <a:solidFill>
              <a:srgbClr val="A5424A"/>
            </a:solidFill>
            <a:prstDash val="solid"/>
          </a:ln>
        </p:spPr>
        <p:txBody>
          <a:bodyPr xmlns:a="http://schemas.openxmlformats.org/drawingml/2006/main" anchor="ctr">
            <a:normAutofit fontScale="77099"/>
          </a:bodyPr>
          <a:lstStyle xmlns:a="http://schemas.openxmlformats.org/drawingml/2006/main"/>
          <a:p xmlns:a="http://schemas.openxmlformats.org/drawingml/2006/main">
            <a:pPr algn="ctr">
              <a:defRPr sz="1400" b="1">
                <a:solidFill>
                  <a:srgbClr val="A542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A5424A"/>
                </a:solidFill>
                <a:latin typeface="Microsoft YaHei"/>
                <a:ea typeface="Microsoft YaHei"/>
                <a:cs typeface="Microsoft YaHei"/>
              </a:rPr>
              <a:t>不足</a:t>
            </a:r>
          </a:p>
        </p:txBody>
      </p:sp>
      <p:sp>
        <p:nvSpPr>
          <p:cNvPr id="26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B4C13CDC-A192-4352-95C1-7632353CA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7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09CF769-0B74-4E53-AEDE-0B27382B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1051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可复现性不是一个标签，而是四层逐步核查。</a:t>
            </a:r>
          </a:p>
        </p:txBody>
      </p:sp>
    </p:spTree>
    <p:extLst>
      <p:ext uri="{BB962C8B-B14F-4D97-AF65-F5344CB8AC3E}">
        <p14:creationId xmlns:p14="http://schemas.microsoft.com/office/powerpoint/2010/main" val="19616047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2BC6E79A-0C2D-4358-8126-08E85F17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20EB02B-52AF-40F8-8D90-A27E1361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跨论文矩阵：统一比较轴后再综合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BE7FC51C-83A9-4390-853C-11E5C2C3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71C5B33-3932-4150-B5C4-868570B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5A7BF435-8703-4A20-8CF9-35B53DA4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3DC6E6E-088C-4713-B816-21675B8DB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 firstRow="1" firstCol="1" bandRow="1"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 / 样本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核心结论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主要边界</a:t>
                      </a:r>
                    </a:p>
                  </a:txBody>
                  <a:tcPr marL="91440" marR="91440" marT="45720" marB="45720">
                    <a:solidFill>
                      <a:srgbClr val="32497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 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干预实验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支持机制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单一场景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 B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 2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观察数据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方向一致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混杂风险</a:t>
                      </a:r>
                    </a:p>
                  </a:txBody>
                  <a:tcPr marL="91440" marR="91440" marT="45720" marB="45720">
                    <a:solidFill>
                      <a:srgbClr val="F6F8FB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 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外部样本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复现研究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部分支持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721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效应较弱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8169FB4B-96ED-4213-A955-7D583BC4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5F2A1F5B-4B98-4341-902E-50C61D89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00725"/>
            <a:ext cx="10515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样本、方法和结论口径不同，不能只比较标题结论。</a:t>
            </a:r>
          </a:p>
        </p:txBody>
      </p:sp>
    </p:spTree>
    <p:extLst>
      <p:ext uri="{BB962C8B-B14F-4D97-AF65-F5344CB8AC3E}">
        <p14:creationId xmlns:p14="http://schemas.microsoft.com/office/powerpoint/2010/main" val="29363671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E9A57E85-4D97-4533-A37B-0CDAD2229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CFA52B-828A-4C90-A10D-6C722530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一致、冲突与原因要同时出现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79972A5C-588B-4E74-9942-CEBF0B04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4646E82A-C54F-4CA1-BCE2-560BE169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9B93D1F3-FB69-4CE4-9289-5238FB7A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30EDAC1-B6D2-409A-8FC2-B9179741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7" name="synthesis-column-1">
            <a:extLst xmlns:a="http://schemas.openxmlformats.org/drawingml/2006/main">
              <a:ext uri="{FF2B5EF4-FFF2-40B4-BE49-F238E27FC236}">
                <a16:creationId xmlns:a16="http://schemas.microsoft.com/office/drawing/2014/main" id="{A67E17F2-8DC9-460B-8107-582EC2F5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3543300" cy="38100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8" name="synthesis-label-1">
            <a:extLst xmlns:a="http://schemas.openxmlformats.org/drawingml/2006/main">
              <a:ext uri="{FF2B5EF4-FFF2-40B4-BE49-F238E27FC236}">
                <a16:creationId xmlns:a16="http://schemas.microsoft.com/office/drawing/2014/main" id="{16CFD00D-90C5-4FE1-9BD8-7851BBBB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一致结论</a:t>
            </a:r>
          </a:p>
        </p:txBody>
      </p:sp>
      <p:sp>
        <p:nvSpPr>
          <p:cNvPr id="9" name="synthesis-bullets-1">
            <a:extLst xmlns:a="http://schemas.openxmlformats.org/drawingml/2006/main">
              <a:ext uri="{FF2B5EF4-FFF2-40B4-BE49-F238E27FC236}">
                <a16:creationId xmlns:a16="http://schemas.microsoft.com/office/drawing/2014/main" id="{1B14093E-2DBD-4FB3-B5EE-E1B10275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308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关键现象方向一致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核心中介被多方法观察到</a:t>
            </a:r>
          </a:p>
        </p:txBody>
      </p:sp>
      <p:sp>
        <p:nvSpPr>
          <p:cNvPr id="10" name="synthesis-column-2">
            <a:extLst xmlns:a="http://schemas.openxmlformats.org/drawingml/2006/main">
              <a:ext uri="{FF2B5EF4-FFF2-40B4-BE49-F238E27FC236}">
                <a16:creationId xmlns:a16="http://schemas.microsoft.com/office/drawing/2014/main" id="{1001AA9A-3979-49BD-8604-44AEC6DB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24000"/>
            <a:ext cx="3543300" cy="38100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11430">
            <a:solidFill>
              <a:srgbClr val="B77A2E"/>
            </a:solidFill>
            <a:prstDash val="solid"/>
          </a:ln>
        </p:spPr>
      </p:sp>
      <p:sp>
        <p:nvSpPr>
          <p:cNvPr id="11" name="synthesis-label-2">
            <a:extLst xmlns:a="http://schemas.openxmlformats.org/drawingml/2006/main">
              <a:ext uri="{FF2B5EF4-FFF2-40B4-BE49-F238E27FC236}">
                <a16:creationId xmlns:a16="http://schemas.microsoft.com/office/drawing/2014/main" id="{97D48E16-B416-4EDE-8CA1-9D5DC714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5260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B77A2E"/>
                </a:solidFill>
                <a:latin typeface="Microsoft YaHei"/>
                <a:ea typeface="Microsoft YaHei"/>
                <a:cs typeface="Microsoft YaHei"/>
              </a:rPr>
              <a:t>冲突结论</a:t>
            </a:r>
          </a:p>
        </p:txBody>
      </p:sp>
      <p:sp>
        <p:nvSpPr>
          <p:cNvPr id="12" name="synthesis-bullets-2">
            <a:extLst xmlns:a="http://schemas.openxmlformats.org/drawingml/2006/main">
              <a:ext uri="{FF2B5EF4-FFF2-40B4-BE49-F238E27FC236}">
                <a16:creationId xmlns:a16="http://schemas.microsoft.com/office/drawing/2014/main" id="{5EF7AEE3-F494-43FF-974C-F3236352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24100"/>
            <a:ext cx="308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效应量差异明显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外部样本仅部分复现</a:t>
            </a:r>
          </a:p>
        </p:txBody>
      </p:sp>
      <p:sp>
        <p:nvSpPr>
          <p:cNvPr id="13" name="synthesis-column-3">
            <a:extLst xmlns:a="http://schemas.openxmlformats.org/drawingml/2006/main">
              <a:ext uri="{FF2B5EF4-FFF2-40B4-BE49-F238E27FC236}">
                <a16:creationId xmlns:a16="http://schemas.microsoft.com/office/drawing/2014/main" id="{1BBB5A9F-CD5D-4C7A-B867-37338312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24000"/>
            <a:ext cx="3543300" cy="3810000"/>
          </a:xfrm>
          <a:prstGeom xmlns:a="http://schemas.openxmlformats.org/drawingml/2006/main" prst="roundRect">
            <a:avLst>
              <a:gd name="adj" fmla="val 2151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6682B3"/>
            </a:solidFill>
            <a:prstDash val="solid"/>
          </a:ln>
        </p:spPr>
      </p:sp>
      <p:sp>
        <p:nvSpPr>
          <p:cNvPr id="14" name="synthesis-label-3">
            <a:extLst xmlns:a="http://schemas.openxmlformats.org/drawingml/2006/main">
              <a:ext uri="{FF2B5EF4-FFF2-40B4-BE49-F238E27FC236}">
                <a16:creationId xmlns:a16="http://schemas.microsoft.com/office/drawing/2014/main" id="{1BDD3CD5-2C52-4700-B14A-08FCD98D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52600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668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6682B3"/>
                </a:solidFill>
                <a:latin typeface="Microsoft YaHei"/>
                <a:ea typeface="Microsoft YaHei"/>
                <a:cs typeface="Microsoft YaHei"/>
              </a:rPr>
              <a:t>可能原因</a:t>
            </a:r>
          </a:p>
        </p:txBody>
      </p:sp>
      <p:sp>
        <p:nvSpPr>
          <p:cNvPr id="15" name="synthesis-bullets-3">
            <a:extLst xmlns:a="http://schemas.openxmlformats.org/drawingml/2006/main">
              <a:ext uri="{FF2B5EF4-FFF2-40B4-BE49-F238E27FC236}">
                <a16:creationId xmlns:a16="http://schemas.microsoft.com/office/drawing/2014/main" id="{ABDC6D0C-969F-45BE-8705-37FD2868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24100"/>
            <a:ext cx="30861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样本构成不同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测量时间窗不同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•  控制变量不一致</a:t>
            </a:r>
          </a:p>
        </p:txBody>
      </p:sp>
      <p:sp>
        <p:nvSpPr>
          <p:cNvPr id="16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F9559A26-A4BF-4E72-82C3-EDD583FA0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7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7AEAC29-BE0A-4884-824E-C67489B0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05475"/>
            <a:ext cx="1051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冲突往往来自样本、测量或边界，而非简单的“谁对谁错”。</a:t>
            </a:r>
          </a:p>
        </p:txBody>
      </p:sp>
    </p:spTree>
    <p:extLst>
      <p:ext uri="{BB962C8B-B14F-4D97-AF65-F5344CB8AC3E}">
        <p14:creationId xmlns:p14="http://schemas.microsoft.com/office/powerpoint/2010/main" val="130251886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53E14B2D-86F6-4B85-AE29-4D9590839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F9ED229-A075-479F-8FE7-B0F3A034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证据地图：强度与适用性是两个维度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2371A401-1669-4158-98AB-0E31F6D2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C708617D-B841-4A77-A7FC-54DFF898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224023AF-F6D3-4B3E-A217-34EB54AB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766E49B-B342-4240-AF48-F8DA3CE5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quality-map-surface">
            <a:extLst xmlns:a="http://schemas.openxmlformats.org/drawingml/2006/main">
              <a:ext uri="{FF2B5EF4-FFF2-40B4-BE49-F238E27FC236}">
                <a16:creationId xmlns:a16="http://schemas.microsoft.com/office/drawing/2014/main" id="{DE3AEB80-E8C2-464F-B8D0-482B39D8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7239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8" name="quality-map-v-mid">
            <a:extLst xmlns:a="http://schemas.openxmlformats.org/drawingml/2006/main">
              <a:ext uri="{FF2B5EF4-FFF2-40B4-BE49-F238E27FC236}">
                <a16:creationId xmlns:a16="http://schemas.microsoft.com/office/drawing/2014/main" id="{7D35B4B3-8A13-46BD-AA0F-88BD5D7E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952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9" name="quality-map-h-mid">
            <a:extLst xmlns:a="http://schemas.openxmlformats.org/drawingml/2006/main">
              <a:ext uri="{FF2B5EF4-FFF2-40B4-BE49-F238E27FC236}">
                <a16:creationId xmlns:a16="http://schemas.microsoft.com/office/drawing/2014/main" id="{99BF7F2E-AE97-4924-BFD8-F7FD739F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52825"/>
            <a:ext cx="723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0" name="quality-map-x-label">
            <a:extLst xmlns:a="http://schemas.openxmlformats.org/drawingml/2006/main">
              <a:ext uri="{FF2B5EF4-FFF2-40B4-BE49-F238E27FC236}">
                <a16:creationId xmlns:a16="http://schemas.microsoft.com/office/drawing/2014/main" id="{537EBD2F-D225-4FF8-AE57-AB6E7051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8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071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证据强度 →</a:t>
            </a:r>
          </a:p>
        </p:txBody>
      </p:sp>
      <p:sp>
        <p:nvSpPr>
          <p:cNvPr id="11" name="quality-map-y-label">
            <a:extLst xmlns:a="http://schemas.openxmlformats.org/drawingml/2006/main">
              <a:ext uri="{FF2B5EF4-FFF2-40B4-BE49-F238E27FC236}">
                <a16:creationId xmlns:a16="http://schemas.microsoft.com/office/drawing/2014/main" id="{0FE612E4-3FE4-4450-8027-BAC476FD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" y="3124200"/>
            <a:ext cx="762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外部适用性</a:t>
            </a:r>
          </a:p>
        </p:txBody>
      </p:sp>
      <p:sp>
        <p:nvSpPr>
          <p:cNvPr id="12" name="quality-point-1">
            <a:extLst xmlns:a="http://schemas.openxmlformats.org/drawingml/2006/main">
              <a:ext uri="{FF2B5EF4-FFF2-40B4-BE49-F238E27FC236}">
                <a16:creationId xmlns:a16="http://schemas.microsoft.com/office/drawing/2014/main" id="{A2E892FE-8CDD-476C-9616-B75E49CA4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3170" y="3195638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3" name="quality-point-label-1">
            <a:extLst xmlns:a="http://schemas.openxmlformats.org/drawingml/2006/main">
              <a:ext uri="{FF2B5EF4-FFF2-40B4-BE49-F238E27FC236}">
                <a16:creationId xmlns:a16="http://schemas.microsoft.com/office/drawing/2014/main" id="{5CA9A63B-CE41-428A-A9BA-973FC940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3220" y="3167063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A</a:t>
            </a:r>
          </a:p>
        </p:txBody>
      </p:sp>
      <p:sp>
        <p:nvSpPr>
          <p:cNvPr id="14" name="quality-point-2">
            <a:extLst xmlns:a="http://schemas.openxmlformats.org/drawingml/2006/main">
              <a:ext uri="{FF2B5EF4-FFF2-40B4-BE49-F238E27FC236}">
                <a16:creationId xmlns:a16="http://schemas.microsoft.com/office/drawing/2014/main" id="{F55ABDD5-023D-42F3-824B-40E98E9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9605" y="236982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5" name="quality-point-label-2">
            <a:extLst xmlns:a="http://schemas.openxmlformats.org/drawingml/2006/main">
              <a:ext uri="{FF2B5EF4-FFF2-40B4-BE49-F238E27FC236}">
                <a16:creationId xmlns:a16="http://schemas.microsoft.com/office/drawing/2014/main" id="{B64CB638-A942-46A5-ADE5-744FFCB1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2505" y="234124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B</a:t>
            </a:r>
          </a:p>
        </p:txBody>
      </p:sp>
      <p:sp>
        <p:nvSpPr>
          <p:cNvPr id="16" name="quality-point-3">
            <a:extLst xmlns:a="http://schemas.openxmlformats.org/drawingml/2006/main">
              <a:ext uri="{FF2B5EF4-FFF2-40B4-BE49-F238E27FC236}">
                <a16:creationId xmlns:a16="http://schemas.microsoft.com/office/drawing/2014/main" id="{83B5FD4D-F83D-4ABC-9FE5-39F9FB9C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890" y="364236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786D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quality-point-label-3">
            <a:extLst xmlns:a="http://schemas.openxmlformats.org/drawingml/2006/main">
              <a:ext uri="{FF2B5EF4-FFF2-40B4-BE49-F238E27FC236}">
                <a16:creationId xmlns:a16="http://schemas.microsoft.com/office/drawing/2014/main" id="{9754EBB6-98D9-4A3C-8AD9-00B1DB41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4740" y="361378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 C</a:t>
            </a:r>
          </a:p>
        </p:txBody>
      </p:sp>
      <p:sp>
        <p:nvSpPr>
          <p:cNvPr id="18" name="quality-legend-title-1">
            <a:extLst xmlns:a="http://schemas.openxmlformats.org/drawingml/2006/main">
              <a:ext uri="{FF2B5EF4-FFF2-40B4-BE49-F238E27FC236}">
                <a16:creationId xmlns:a16="http://schemas.microsoft.com/office/drawing/2014/main" id="{4801F8E1-97FC-4A1C-B9BC-722B78D3E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7526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横轴</a:t>
            </a:r>
          </a:p>
        </p:txBody>
      </p:sp>
      <p:sp>
        <p:nvSpPr>
          <p:cNvPr id="19" name="quality-legend-body-1">
            <a:extLst xmlns:a="http://schemas.openxmlformats.org/drawingml/2006/main">
              <a:ext uri="{FF2B5EF4-FFF2-40B4-BE49-F238E27FC236}">
                <a16:creationId xmlns:a16="http://schemas.microsoft.com/office/drawing/2014/main" id="{78A3D7C5-0643-4A5F-B989-72497C7D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3360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设计、对照、统计与复现决定证据强度。</a:t>
            </a:r>
          </a:p>
        </p:txBody>
      </p:sp>
      <p:sp>
        <p:nvSpPr>
          <p:cNvPr id="20" name="quality-legend-title-2">
            <a:extLst xmlns:a="http://schemas.openxmlformats.org/drawingml/2006/main">
              <a:ext uri="{FF2B5EF4-FFF2-40B4-BE49-F238E27FC236}">
                <a16:creationId xmlns:a16="http://schemas.microsoft.com/office/drawing/2014/main" id="{F4C05F8A-3526-4E48-9C02-1A48135F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纵轴</a:t>
            </a:r>
          </a:p>
        </p:txBody>
      </p:sp>
      <p:sp>
        <p:nvSpPr>
          <p:cNvPr id="21" name="quality-legend-body-2">
            <a:extLst xmlns:a="http://schemas.openxmlformats.org/drawingml/2006/main">
              <a:ext uri="{FF2B5EF4-FFF2-40B4-BE49-F238E27FC236}">
                <a16:creationId xmlns:a16="http://schemas.microsoft.com/office/drawing/2014/main" id="{7E5FF7C0-BFB5-42BC-8E29-4DAB1243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5755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样本与情境决定外部适用性。</a:t>
            </a:r>
          </a:p>
        </p:txBody>
      </p:sp>
      <p:sp>
        <p:nvSpPr>
          <p:cNvPr id="22" name="quality-legend-title-3">
            <a:extLst xmlns:a="http://schemas.openxmlformats.org/drawingml/2006/main">
              <a:ext uri="{FF2B5EF4-FFF2-40B4-BE49-F238E27FC236}">
                <a16:creationId xmlns:a16="http://schemas.microsoft.com/office/drawing/2014/main" id="{B01ACC12-0039-4D72-88EB-2899ACC7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00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23" name="quality-legend-body-3">
            <a:extLst xmlns:a="http://schemas.openxmlformats.org/drawingml/2006/main">
              <a:ext uri="{FF2B5EF4-FFF2-40B4-BE49-F238E27FC236}">
                <a16:creationId xmlns:a16="http://schemas.microsoft.com/office/drawing/2014/main" id="{F75B9057-F72D-49DF-8A9D-D66EF333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81500"/>
            <a:ext cx="2724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把高价值不确定性变成讨论重点。</a:t>
            </a:r>
          </a:p>
        </p:txBody>
      </p:sp>
      <p:sp>
        <p:nvSpPr>
          <p:cNvPr id="24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BC41721E-6C4A-44B7-A06E-042F03D6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5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791ED3C2-62E4-41E7-B364-93E663D9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优先讨论证据强但迁移边界不清的关键论文。</a:t>
            </a:r>
          </a:p>
        </p:txBody>
      </p:sp>
    </p:spTree>
    <p:extLst>
      <p:ext uri="{BB962C8B-B14F-4D97-AF65-F5344CB8AC3E}">
        <p14:creationId xmlns:p14="http://schemas.microsoft.com/office/powerpoint/2010/main" val="5111950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994CD36A-9613-486A-B55C-878374F6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91261D-8047-45CB-873C-BB332EA9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研究演进：问题如何被一轮轮收窄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0AD61031-27E8-4C67-A25C-AC831763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判断与综合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1B54B4E8-9CE3-4F76-B84A-0097FAF8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5C005D12-FFC6-4EBF-96B1-4BCCF33B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46D4570-E899-4BEC-BD8D-EBD0A23C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timeline-rail">
            <a:extLst xmlns:a="http://schemas.openxmlformats.org/drawingml/2006/main">
              <a:ext uri="{FF2B5EF4-FFF2-40B4-BE49-F238E27FC236}">
                <a16:creationId xmlns:a16="http://schemas.microsoft.com/office/drawing/2014/main" id="{3C70A8AC-3C3F-4A5F-A6B4-2696A436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1028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8" name="timeline-node-1">
            <a:extLst xmlns:a="http://schemas.openxmlformats.org/drawingml/2006/main">
              <a:ext uri="{FF2B5EF4-FFF2-40B4-BE49-F238E27FC236}">
                <a16:creationId xmlns:a16="http://schemas.microsoft.com/office/drawing/2014/main" id="{A66548FA-F474-45B3-BC44-2D61930BB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9" name="timeline-title-1">
            <a:extLst xmlns:a="http://schemas.openxmlformats.org/drawingml/2006/main">
              <a:ext uri="{FF2B5EF4-FFF2-40B4-BE49-F238E27FC236}">
                <a16:creationId xmlns:a16="http://schemas.microsoft.com/office/drawing/2014/main" id="{130CBFED-FFC6-4A91-891E-8067E839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" y="22288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现象发现</a:t>
            </a:r>
          </a:p>
        </p:txBody>
      </p:sp>
      <p:sp>
        <p:nvSpPr>
          <p:cNvPr id="10" name="timeline-caption-1">
            <a:extLst xmlns:a="http://schemas.openxmlformats.org/drawingml/2006/main">
              <a:ext uri="{FF2B5EF4-FFF2-40B4-BE49-F238E27FC236}">
                <a16:creationId xmlns:a16="http://schemas.microsoft.com/office/drawing/2014/main" id="{9559C6C4-98CC-46FF-B4AD-1208E9EC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9050" y="17716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确认问题存在</a:t>
            </a:r>
          </a:p>
        </p:txBody>
      </p:sp>
      <p:sp>
        <p:nvSpPr>
          <p:cNvPr id="11" name="timeline-node-2">
            <a:extLst xmlns:a="http://schemas.openxmlformats.org/drawingml/2006/main">
              <a:ext uri="{FF2B5EF4-FFF2-40B4-BE49-F238E27FC236}">
                <a16:creationId xmlns:a16="http://schemas.microsoft.com/office/drawing/2014/main" id="{62FF28FF-6F4B-4C0B-8FB8-D3EA18DE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timeline-title-2">
            <a:extLst xmlns:a="http://schemas.openxmlformats.org/drawingml/2006/main">
              <a:ext uri="{FF2B5EF4-FFF2-40B4-BE49-F238E27FC236}">
                <a16:creationId xmlns:a16="http://schemas.microsoft.com/office/drawing/2014/main" id="{58C1C52E-9E04-4FF3-8D52-AC546016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38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候选机制</a:t>
            </a:r>
          </a:p>
        </p:txBody>
      </p:sp>
      <p:sp>
        <p:nvSpPr>
          <p:cNvPr id="13" name="timeline-caption-2">
            <a:extLst xmlns:a="http://schemas.openxmlformats.org/drawingml/2006/main">
              <a:ext uri="{FF2B5EF4-FFF2-40B4-BE49-F238E27FC236}">
                <a16:creationId xmlns:a16="http://schemas.microsoft.com/office/drawing/2014/main" id="{C9E33DAD-AD46-4483-9442-27986D29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148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提出可检验解释</a:t>
            </a:r>
          </a:p>
        </p:txBody>
      </p:sp>
      <p:sp>
        <p:nvSpPr>
          <p:cNvPr id="14" name="timeline-node-3">
            <a:extLst xmlns:a="http://schemas.openxmlformats.org/drawingml/2006/main">
              <a:ext uri="{FF2B5EF4-FFF2-40B4-BE49-F238E27FC236}">
                <a16:creationId xmlns:a16="http://schemas.microsoft.com/office/drawing/2014/main" id="{EE62F8F4-51B1-4676-9A26-902747F6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timeline-title-3">
            <a:extLst xmlns:a="http://schemas.openxmlformats.org/drawingml/2006/main">
              <a:ext uri="{FF2B5EF4-FFF2-40B4-BE49-F238E27FC236}">
                <a16:creationId xmlns:a16="http://schemas.microsoft.com/office/drawing/2014/main" id="{56158185-CD16-4E00-B7AC-EF0CF106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因果干预</a:t>
            </a:r>
          </a:p>
        </p:txBody>
      </p:sp>
      <p:sp>
        <p:nvSpPr>
          <p:cNvPr id="16" name="timeline-caption-3">
            <a:extLst xmlns:a="http://schemas.openxmlformats.org/drawingml/2006/main">
              <a:ext uri="{FF2B5EF4-FFF2-40B4-BE49-F238E27FC236}">
                <a16:creationId xmlns:a16="http://schemas.microsoft.com/office/drawing/2014/main" id="{138208BE-58FD-4A2E-BC3E-E8FAB4A9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716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排除替代解释</a:t>
            </a:r>
          </a:p>
        </p:txBody>
      </p:sp>
      <p:sp>
        <p:nvSpPr>
          <p:cNvPr id="17" name="timeline-node-4">
            <a:extLst xmlns:a="http://schemas.openxmlformats.org/drawingml/2006/main">
              <a:ext uri="{FF2B5EF4-FFF2-40B4-BE49-F238E27FC236}">
                <a16:creationId xmlns:a16="http://schemas.microsoft.com/office/drawing/2014/main" id="{1E1092C6-3357-4D42-934F-74E47DC5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1908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A2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timeline-title-4">
            <a:extLst xmlns:a="http://schemas.openxmlformats.org/drawingml/2006/main">
              <a:ext uri="{FF2B5EF4-FFF2-40B4-BE49-F238E27FC236}">
                <a16:creationId xmlns:a16="http://schemas.microsoft.com/office/drawing/2014/main" id="{55A27FF4-D9BC-430D-848E-80EA3059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638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外部复核</a:t>
            </a:r>
          </a:p>
        </p:txBody>
      </p:sp>
      <p:sp>
        <p:nvSpPr>
          <p:cNvPr id="19" name="timeline-caption-4">
            <a:extLst xmlns:a="http://schemas.openxmlformats.org/drawingml/2006/main">
              <a:ext uri="{FF2B5EF4-FFF2-40B4-BE49-F238E27FC236}">
                <a16:creationId xmlns:a16="http://schemas.microsoft.com/office/drawing/2014/main" id="{E57748F4-4EA0-45D5-BA33-26C8822C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1148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明确适用边界</a:t>
            </a:r>
          </a:p>
        </p:txBody>
      </p:sp>
      <p:sp>
        <p:nvSpPr>
          <p:cNvPr id="20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1EDACF8C-9E45-464D-B73C-3468C342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1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568AC6B5-140E-476A-8584-163AC87C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62625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时间线展示证据演进，不机械罗列发表年份。</a:t>
            </a:r>
          </a:p>
        </p:txBody>
      </p:sp>
    </p:spTree>
    <p:extLst>
      <p:ext uri="{BB962C8B-B14F-4D97-AF65-F5344CB8AC3E}">
        <p14:creationId xmlns:p14="http://schemas.microsoft.com/office/powerpoint/2010/main" val="36074868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212442CE-DE36-4B00-8940-D6CC0F7C6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0A593D7-8378-42E2-AE4B-87090C31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从论文结论迁移到本组动作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C6954391-DDE6-4AB1-A192-5BCC84AF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讨论与收束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7502644A-0E11-44F6-B786-D4696DE6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1457A56C-E50B-4E0A-A054-B0C04609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F28F17D-6226-4697-BF07-834DA776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transfer-card-1">
            <a:extLst xmlns:a="http://schemas.openxmlformats.org/drawingml/2006/main">
              <a:ext uri="{FF2B5EF4-FFF2-40B4-BE49-F238E27FC236}">
                <a16:creationId xmlns:a16="http://schemas.microsoft.com/office/drawing/2014/main" id="{78ED1F67-0C17-4F3C-B466-02ADE992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47850"/>
            <a:ext cx="331470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8" name="transfer-label-1">
            <a:extLst xmlns:a="http://schemas.openxmlformats.org/drawingml/2006/main">
              <a:ext uri="{FF2B5EF4-FFF2-40B4-BE49-F238E27FC236}">
                <a16:creationId xmlns:a16="http://schemas.microsoft.com/office/drawing/2014/main" id="{6EE53ED0-27B3-4096-B9BC-771507FE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1200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69431"/>
          </a:bodyPr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论文给出</a:t>
            </a:r>
          </a:p>
        </p:txBody>
      </p:sp>
      <p:sp>
        <p:nvSpPr>
          <p:cNvPr id="9" name="transfer-text-1">
            <a:extLst xmlns:a="http://schemas.openxmlformats.org/drawingml/2006/main">
              <a:ext uri="{FF2B5EF4-FFF2-40B4-BE49-F238E27FC236}">
                <a16:creationId xmlns:a16="http://schemas.microsoft.com/office/drawing/2014/main" id="{64003B4E-C4C7-4C0B-832A-2CC0849E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2857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论文给出可检验机制与测量路径。</a:t>
            </a:r>
          </a:p>
        </p:txBody>
      </p:sp>
      <p:sp>
        <p:nvSpPr>
          <p:cNvPr id="10" name="transfer-arrow-1">
            <a:extLst xmlns:a="http://schemas.openxmlformats.org/drawingml/2006/main">
              <a:ext uri="{FF2B5EF4-FFF2-40B4-BE49-F238E27FC236}">
                <a16:creationId xmlns:a16="http://schemas.microsoft.com/office/drawing/2014/main" id="{40C41569-0D3B-4324-999A-52CB1065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05150"/>
            <a:ext cx="3429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1" name="transfer-card-2">
            <a:extLst xmlns:a="http://schemas.openxmlformats.org/drawingml/2006/main">
              <a:ext uri="{FF2B5EF4-FFF2-40B4-BE49-F238E27FC236}">
                <a16:creationId xmlns:a16="http://schemas.microsoft.com/office/drawing/2014/main" id="{F69F3D38-F696-4DBA-81E5-03EBE85A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331470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12" name="transfer-label-2">
            <a:extLst xmlns:a="http://schemas.openxmlformats.org/drawingml/2006/main">
              <a:ext uri="{FF2B5EF4-FFF2-40B4-BE49-F238E27FC236}">
                <a16:creationId xmlns:a16="http://schemas.microsoft.com/office/drawing/2014/main" id="{FD6FFEF1-CB53-4E30-B26E-4482262D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1200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  <p:txBody>
          <a:bodyPr xmlns:a="http://schemas.openxmlformats.org/drawingml/2006/main" anchor="ctr">
            <a:normAutofit fontScale="69431"/>
          </a:bodyPr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迁移判断</a:t>
            </a:r>
          </a:p>
        </p:txBody>
      </p:sp>
      <p:sp>
        <p:nvSpPr>
          <p:cNvPr id="13" name="transfer-text-2">
            <a:extLst xmlns:a="http://schemas.openxmlformats.org/drawingml/2006/main">
              <a:ext uri="{FF2B5EF4-FFF2-40B4-BE49-F238E27FC236}">
                <a16:creationId xmlns:a16="http://schemas.microsoft.com/office/drawing/2014/main" id="{2CDB9F50-45BA-4179-AE2A-E170D816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857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对象相似，但尺度和边界不同。</a:t>
            </a:r>
          </a:p>
        </p:txBody>
      </p:sp>
      <p:sp>
        <p:nvSpPr>
          <p:cNvPr id="14" name="transfer-arrow-2">
            <a:extLst xmlns:a="http://schemas.openxmlformats.org/drawingml/2006/main">
              <a:ext uri="{FF2B5EF4-FFF2-40B4-BE49-F238E27FC236}">
                <a16:creationId xmlns:a16="http://schemas.microsoft.com/office/drawing/2014/main" id="{60364912-A5A6-41D2-B60A-5DF3926A0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105150"/>
            <a:ext cx="3429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682B3"/>
          </a:solidFill>
          <a:ln xmlns:a="http://schemas.openxmlformats.org/drawingml/2006/main" w="0">
            <a:solidFill>
              <a:srgbClr val="6682B3"/>
            </a:solidFill>
            <a:prstDash val="solid"/>
          </a:ln>
        </p:spPr>
      </p:sp>
      <p:sp>
        <p:nvSpPr>
          <p:cNvPr id="15" name="transfer-card-3">
            <a:extLst xmlns:a="http://schemas.openxmlformats.org/drawingml/2006/main">
              <a:ext uri="{FF2B5EF4-FFF2-40B4-BE49-F238E27FC236}">
                <a16:creationId xmlns:a16="http://schemas.microsoft.com/office/drawing/2014/main" id="{166C905B-CC13-41BB-AAAA-4B668F28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47850"/>
            <a:ext cx="3314700" cy="27813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FF7E9"/>
          </a:solidFill>
          <a:ln xmlns:a="http://schemas.openxmlformats.org/drawingml/2006/main" w="11430">
            <a:solidFill>
              <a:srgbClr val="B77A2E"/>
            </a:solidFill>
            <a:prstDash val="solid"/>
          </a:ln>
        </p:spPr>
      </p:sp>
      <p:sp>
        <p:nvSpPr>
          <p:cNvPr id="16" name="transfer-label-3">
            <a:extLst xmlns:a="http://schemas.openxmlformats.org/drawingml/2006/main">
              <a:ext uri="{FF2B5EF4-FFF2-40B4-BE49-F238E27FC236}">
                <a16:creationId xmlns:a16="http://schemas.microsoft.com/office/drawing/2014/main" id="{2CE338B7-0A34-4B30-A007-41906147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12001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77A2E"/>
          </a:solidFill>
          <a:ln xmlns:a="http://schemas.openxmlformats.org/drawingml/2006/main" w="9525">
            <a:solidFill>
              <a:srgbClr val="B77A2E"/>
            </a:solidFill>
            <a:prstDash val="solid"/>
          </a:ln>
        </p:spPr>
        <p:txBody>
          <a:bodyPr xmlns:a="http://schemas.openxmlformats.org/drawingml/2006/main" anchor="ctr">
            <a:normAutofit fontScale="69431"/>
          </a:bodyPr>
          <a:lstStyle xmlns:a="http://schemas.openxmlformats.org/drawingml/2006/main"/>
          <a:p xmlns:a="http://schemas.openxmlformats.org/drawingml/2006/main"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下一步动作</a:t>
            </a:r>
          </a:p>
        </p:txBody>
      </p:sp>
      <p:sp>
        <p:nvSpPr>
          <p:cNvPr id="17" name="transfer-text-3">
            <a:extLst xmlns:a="http://schemas.openxmlformats.org/drawingml/2006/main">
              <a:ext uri="{FF2B5EF4-FFF2-40B4-BE49-F238E27FC236}">
                <a16:creationId xmlns:a16="http://schemas.microsoft.com/office/drawing/2014/main" id="{D39FB104-785E-4866-A292-915F3C22D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86050"/>
            <a:ext cx="2857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先完成最小验证，再决定是否扩展。</a:t>
            </a:r>
          </a:p>
        </p:txBody>
      </p:sp>
      <p:sp>
        <p:nvSpPr>
          <p:cNvPr id="1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31B00E4B-3E20-4477-8BA7-82AC2A66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969E2EA8-FA1D-4A5B-AF14-141A583B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24475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可借鉴的是证据逻辑，不是把论文结论原封不动搬到本组。</a:t>
            </a:r>
          </a:p>
        </p:txBody>
      </p:sp>
    </p:spTree>
    <p:extLst>
      <p:ext uri="{BB962C8B-B14F-4D97-AF65-F5344CB8AC3E}">
        <p14:creationId xmlns:p14="http://schemas.microsoft.com/office/powerpoint/2010/main" val="97778518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700537A9-4EF7-4CF4-A308-3B9755528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E7A470-C022-4039-AB5F-DB72662E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讨论问题：形成新的判断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9F76C0FA-5EEE-499E-82E8-6053ED56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讨论与收束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1DB2D421-BEB0-422C-915E-66B17B2C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639442C7-3E11-46A1-A335-D1F209DE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59CB072-D7EB-4181-A1D6-95130CD7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discussion-row-1">
            <a:extLst xmlns:a="http://schemas.openxmlformats.org/drawingml/2006/main">
              <a:ext uri="{FF2B5EF4-FFF2-40B4-BE49-F238E27FC236}">
                <a16:creationId xmlns:a16="http://schemas.microsoft.com/office/drawing/2014/main" id="{B77F6231-0A6A-48D4-BFC7-68716DF6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32497B"/>
            </a:solidFill>
            <a:prstDash val="solid"/>
          </a:ln>
        </p:spPr>
      </p:sp>
      <p:sp>
        <p:nvSpPr>
          <p:cNvPr id="8" name="discussion-number-1">
            <a:extLst xmlns:a="http://schemas.openxmlformats.org/drawingml/2006/main">
              <a:ext uri="{FF2B5EF4-FFF2-40B4-BE49-F238E27FC236}">
                <a16:creationId xmlns:a16="http://schemas.microsoft.com/office/drawing/2014/main" id="{58703122-A62A-4C6D-AE33-850FFBFD3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9" name="discussion-number-text-1">
            <a:extLst xmlns:a="http://schemas.openxmlformats.org/drawingml/2006/main">
              <a:ext uri="{FF2B5EF4-FFF2-40B4-BE49-F238E27FC236}">
                <a16:creationId xmlns:a16="http://schemas.microsoft.com/office/drawing/2014/main" id="{B5B9AAE9-E753-4134-A0DA-70E6ACF0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716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discussion-question-1">
            <a:extLst xmlns:a="http://schemas.openxmlformats.org/drawingml/2006/main">
              <a:ext uri="{FF2B5EF4-FFF2-40B4-BE49-F238E27FC236}">
                <a16:creationId xmlns:a16="http://schemas.microsoft.com/office/drawing/2014/main" id="{FE1CCBE5-6B05-4344-8BAB-F97037475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1638300"/>
            <a:ext cx="958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哪个替代解释最值得优先排除？</a:t>
            </a:r>
          </a:p>
        </p:txBody>
      </p:sp>
      <p:sp>
        <p:nvSpPr>
          <p:cNvPr id="11" name="discussion-row-2">
            <a:extLst xmlns:a="http://schemas.openxmlformats.org/drawingml/2006/main">
              <a:ext uri="{FF2B5EF4-FFF2-40B4-BE49-F238E27FC236}">
                <a16:creationId xmlns:a16="http://schemas.microsoft.com/office/drawing/2014/main" id="{38B2598C-8063-48E3-AE93-DB604CD9A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1082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2" name="discussion-number-2">
            <a:extLst xmlns:a="http://schemas.openxmlformats.org/drawingml/2006/main">
              <a:ext uri="{FF2B5EF4-FFF2-40B4-BE49-F238E27FC236}">
                <a16:creationId xmlns:a16="http://schemas.microsoft.com/office/drawing/2014/main" id="{8B2AEE52-B2C6-45B1-B06E-59590AE4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13" name="discussion-number-text-2">
            <a:extLst xmlns:a="http://schemas.openxmlformats.org/drawingml/2006/main">
              <a:ext uri="{FF2B5EF4-FFF2-40B4-BE49-F238E27FC236}">
                <a16:creationId xmlns:a16="http://schemas.microsoft.com/office/drawing/2014/main" id="{64100C05-20A1-4BAF-8C89-78D53CB9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discussion-question-2">
            <a:extLst xmlns:a="http://schemas.openxmlformats.org/drawingml/2006/main">
              <a:ext uri="{FF2B5EF4-FFF2-40B4-BE49-F238E27FC236}">
                <a16:creationId xmlns:a16="http://schemas.microsoft.com/office/drawing/2014/main" id="{48B68EDE-3538-4501-8344-91E8A18B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628900"/>
            <a:ext cx="958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若迁移到本组对象，首个验证实验应是什么？</a:t>
            </a:r>
          </a:p>
        </p:txBody>
      </p:sp>
      <p:sp>
        <p:nvSpPr>
          <p:cNvPr id="15" name="discussion-row-3">
            <a:extLst xmlns:a="http://schemas.openxmlformats.org/drawingml/2006/main">
              <a:ext uri="{FF2B5EF4-FFF2-40B4-BE49-F238E27FC236}">
                <a16:creationId xmlns:a16="http://schemas.microsoft.com/office/drawing/2014/main" id="{05F87469-51A4-4CF7-ABB9-50FFC2D7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1082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6" name="discussion-number-3">
            <a:extLst xmlns:a="http://schemas.openxmlformats.org/drawingml/2006/main">
              <a:ext uri="{FF2B5EF4-FFF2-40B4-BE49-F238E27FC236}">
                <a16:creationId xmlns:a16="http://schemas.microsoft.com/office/drawing/2014/main" id="{F57148E9-C332-43D7-B3E6-15EFBB9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17" name="discussion-number-text-3">
            <a:extLst xmlns:a="http://schemas.openxmlformats.org/drawingml/2006/main">
              <a:ext uri="{FF2B5EF4-FFF2-40B4-BE49-F238E27FC236}">
                <a16:creationId xmlns:a16="http://schemas.microsoft.com/office/drawing/2014/main" id="{97F2D197-B50D-450B-A248-19201FAE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discussion-question-3">
            <a:extLst xmlns:a="http://schemas.openxmlformats.org/drawingml/2006/main">
              <a:ext uri="{FF2B5EF4-FFF2-40B4-BE49-F238E27FC236}">
                <a16:creationId xmlns:a16="http://schemas.microsoft.com/office/drawing/2014/main" id="{E003D70C-86B8-4F53-9E2F-5DC0D54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19500"/>
            <a:ext cx="958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哪项证据最可能改变我们的判断？</a:t>
            </a:r>
          </a:p>
        </p:txBody>
      </p:sp>
      <p:sp>
        <p:nvSpPr>
          <p:cNvPr id="19" name="discussion-row-4">
            <a:extLst xmlns:a="http://schemas.openxmlformats.org/drawingml/2006/main">
              <a:ext uri="{FF2B5EF4-FFF2-40B4-BE49-F238E27FC236}">
                <a16:creationId xmlns:a16="http://schemas.microsoft.com/office/drawing/2014/main" id="{507A3E50-47E9-44BE-8A91-6A03982B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10820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20" name="discussion-number-4">
            <a:extLst xmlns:a="http://schemas.openxmlformats.org/drawingml/2006/main">
              <a:ext uri="{FF2B5EF4-FFF2-40B4-BE49-F238E27FC236}">
                <a16:creationId xmlns:a16="http://schemas.microsoft.com/office/drawing/2014/main" id="{C6E8E006-DDB7-479C-9A0A-6598BB69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21" name="discussion-number-text-4">
            <a:extLst xmlns:a="http://schemas.openxmlformats.org/drawingml/2006/main">
              <a:ext uri="{FF2B5EF4-FFF2-40B4-BE49-F238E27FC236}">
                <a16:creationId xmlns:a16="http://schemas.microsoft.com/office/drawing/2014/main" id="{167BA143-6E02-428D-A046-E078308D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discussion-question-4">
            <a:extLst xmlns:a="http://schemas.openxmlformats.org/drawingml/2006/main">
              <a:ext uri="{FF2B5EF4-FFF2-40B4-BE49-F238E27FC236}">
                <a16:creationId xmlns:a16="http://schemas.microsoft.com/office/drawing/2014/main" id="{15CB6358-97DB-4300-BB3B-D9B9C5B6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10100"/>
            <a:ext cx="9582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不同论文冲突的最小解释是什么？</a:t>
            </a:r>
          </a:p>
        </p:txBody>
      </p:sp>
    </p:spTree>
    <p:extLst>
      <p:ext uri="{BB962C8B-B14F-4D97-AF65-F5344CB8AC3E}">
        <p14:creationId xmlns:p14="http://schemas.microsoft.com/office/powerpoint/2010/main" val="198702174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0E02360D-43B7-436A-8CEB-A3018A11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88AB69-D5B1-4F86-AC9E-ED726FE6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需要组会形成什么决定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744FEA9B-F923-46F9-93D2-5DAD7194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讨论与收束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F13A6AD5-6D5F-47D1-9800-80D1AC3A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CE4DDAE4-CED6-45B8-941D-F3DD0C7B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127CF2F-C9C0-44CF-A0DC-1C7D5287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decision-question">
            <a:extLst xmlns:a="http://schemas.openxmlformats.org/drawingml/2006/main">
              <a:ext uri="{FF2B5EF4-FFF2-40B4-BE49-F238E27FC236}">
                <a16:creationId xmlns:a16="http://schemas.microsoft.com/office/drawing/2014/main" id="{561F0800-B691-426B-A6E5-4BBCBF83A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8763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decision-question-text">
            <a:extLst xmlns:a="http://schemas.openxmlformats.org/drawingml/2006/main">
              <a:ext uri="{FF2B5EF4-FFF2-40B4-BE49-F238E27FC236}">
                <a16:creationId xmlns:a16="http://schemas.microsoft.com/office/drawing/2014/main" id="{4D4E8E8E-4CAC-4176-9C16-B38DE2B9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600200"/>
            <a:ext cx="800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5132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我们是否应把这条机制列为下一阶段的优先验证假设？</a:t>
            </a:r>
          </a:p>
        </p:txBody>
      </p:sp>
      <p:sp>
        <p:nvSpPr>
          <p:cNvPr id="9" name="decision-option-1">
            <a:extLst xmlns:a="http://schemas.openxmlformats.org/drawingml/2006/main">
              <a:ext uri="{FF2B5EF4-FFF2-40B4-BE49-F238E27FC236}">
                <a16:creationId xmlns:a16="http://schemas.microsoft.com/office/drawing/2014/main" id="{3075061F-E370-4E8C-BA9E-07F31D47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3020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11430">
            <a:solidFill>
              <a:srgbClr val="32497B"/>
            </a:solidFill>
            <a:prstDash val="solid"/>
          </a:ln>
        </p:spPr>
      </p:sp>
      <p:sp>
        <p:nvSpPr>
          <p:cNvPr id="10" name="decision-option-title-1">
            <a:extLst xmlns:a="http://schemas.openxmlformats.org/drawingml/2006/main">
              <a:ext uri="{FF2B5EF4-FFF2-40B4-BE49-F238E27FC236}">
                <a16:creationId xmlns:a16="http://schemas.microsoft.com/office/drawing/2014/main" id="{9CD4615A-6790-4183-9B5C-F57AAA19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92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立即验证</a:t>
            </a:r>
          </a:p>
        </p:txBody>
      </p:sp>
      <p:sp>
        <p:nvSpPr>
          <p:cNvPr id="11" name="decision-option-body-1">
            <a:extLst xmlns:a="http://schemas.openxmlformats.org/drawingml/2006/main">
              <a:ext uri="{FF2B5EF4-FFF2-40B4-BE49-F238E27FC236}">
                <a16:creationId xmlns:a16="http://schemas.microsoft.com/office/drawing/2014/main" id="{E3E69EE7-E342-494A-830C-7F102698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67150"/>
            <a:ext cx="292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科学价值高，已有最小实验条件</a:t>
            </a:r>
          </a:p>
        </p:txBody>
      </p:sp>
      <p:sp>
        <p:nvSpPr>
          <p:cNvPr id="12" name="decision-option-2">
            <a:extLst xmlns:a="http://schemas.openxmlformats.org/drawingml/2006/main">
              <a:ext uri="{FF2B5EF4-FFF2-40B4-BE49-F238E27FC236}">
                <a16:creationId xmlns:a16="http://schemas.microsoft.com/office/drawing/2014/main" id="{C15DD8DE-B525-48AA-8DD3-012E0DAA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000" y="3009900"/>
            <a:ext cx="33020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3" name="decision-option-title-2">
            <a:extLst xmlns:a="http://schemas.openxmlformats.org/drawingml/2006/main">
              <a:ext uri="{FF2B5EF4-FFF2-40B4-BE49-F238E27FC236}">
                <a16:creationId xmlns:a16="http://schemas.microsoft.com/office/drawing/2014/main" id="{96DC8C4D-188E-4496-9939-EB96E423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219450"/>
            <a:ext cx="292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先补证据</a:t>
            </a:r>
          </a:p>
        </p:txBody>
      </p:sp>
      <p:sp>
        <p:nvSpPr>
          <p:cNvPr id="14" name="decision-option-body-2">
            <a:extLst xmlns:a="http://schemas.openxmlformats.org/drawingml/2006/main">
              <a:ext uri="{FF2B5EF4-FFF2-40B4-BE49-F238E27FC236}">
                <a16:creationId xmlns:a16="http://schemas.microsoft.com/office/drawing/2014/main" id="{6C39FC84-21F1-4DE6-A935-2CB07C02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5500" y="3867150"/>
            <a:ext cx="292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先核对关键参数与外部数据</a:t>
            </a:r>
          </a:p>
        </p:txBody>
      </p:sp>
      <p:sp>
        <p:nvSpPr>
          <p:cNvPr id="15" name="decision-option-3">
            <a:extLst xmlns:a="http://schemas.openxmlformats.org/drawingml/2006/main">
              <a:ext uri="{FF2B5EF4-FFF2-40B4-BE49-F238E27FC236}">
                <a16:creationId xmlns:a16="http://schemas.microsoft.com/office/drawing/2014/main" id="{A5DA0477-06BD-40BE-88C4-48CE2FAD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5600" y="3009900"/>
            <a:ext cx="33020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11430">
            <a:solidFill>
              <a:srgbClr val="D2D9E6"/>
            </a:solidFill>
            <a:prstDash val="solid"/>
          </a:ln>
        </p:spPr>
      </p:sp>
      <p:sp>
        <p:nvSpPr>
          <p:cNvPr id="16" name="decision-option-title-3">
            <a:extLst xmlns:a="http://schemas.openxmlformats.org/drawingml/2006/main">
              <a:ext uri="{FF2B5EF4-FFF2-40B4-BE49-F238E27FC236}">
                <a16:creationId xmlns:a16="http://schemas.microsoft.com/office/drawing/2014/main" id="{53CA17E0-5425-4AD0-86CF-E09EDD2AA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3219450"/>
            <a:ext cx="292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暂不推进</a:t>
            </a:r>
          </a:p>
        </p:txBody>
      </p:sp>
      <p:sp>
        <p:nvSpPr>
          <p:cNvPr id="17" name="decision-option-body-3">
            <a:extLst xmlns:a="http://schemas.openxmlformats.org/drawingml/2006/main">
              <a:ext uri="{FF2B5EF4-FFF2-40B4-BE49-F238E27FC236}">
                <a16:creationId xmlns:a16="http://schemas.microsoft.com/office/drawing/2014/main" id="{CA8FF770-2A72-443E-A901-B66BA6C6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6100" y="3867150"/>
            <a:ext cx="2921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与本组主线或资源不匹配</a:t>
            </a:r>
          </a:p>
        </p:txBody>
      </p:sp>
      <p:sp>
        <p:nvSpPr>
          <p:cNvPr id="18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6F68336B-0327-4096-B516-6A51BFCE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19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48A3670-7932-4228-B4D5-191FC7E6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14975"/>
            <a:ext cx="105156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按科学价值、可验证性和资源成本共同决策。</a:t>
            </a:r>
          </a:p>
        </p:txBody>
      </p:sp>
    </p:spTree>
    <p:extLst>
      <p:ext uri="{BB962C8B-B14F-4D97-AF65-F5344CB8AC3E}">
        <p14:creationId xmlns:p14="http://schemas.microsoft.com/office/powerpoint/2010/main" val="99752907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57A5DB33-FD13-4AF5-B1E7-15443F42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6736D6-9C1A-4F35-93B2-2FA8CFB7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下一步阅读与验证安排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D32D3280-A2D1-44A0-9441-6F4EFA69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讨论与收束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55AB8255-7F71-4C31-9E25-79302FAB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14E7957E-9E87-469F-8DA2-0FA2B545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F111B3B-FCCD-4750-BB73-54E1AA8F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reading-action-header">
            <a:extLst xmlns:a="http://schemas.openxmlformats.org/drawingml/2006/main">
              <a:ext uri="{FF2B5EF4-FFF2-40B4-BE49-F238E27FC236}">
                <a16:creationId xmlns:a16="http://schemas.microsoft.com/office/drawing/2014/main" id="{36F5F1A7-763B-48F6-B6A0-A929B720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1125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reading-header-1">
            <a:extLst xmlns:a="http://schemas.openxmlformats.org/drawingml/2006/main">
              <a:ext uri="{FF2B5EF4-FFF2-40B4-BE49-F238E27FC236}">
                <a16:creationId xmlns:a16="http://schemas.microsoft.com/office/drawing/2014/main" id="{090D408B-D921-4307-AFEC-6173B67C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9" name="reading-header-2">
            <a:extLst xmlns:a="http://schemas.openxmlformats.org/drawingml/2006/main">
              <a:ext uri="{FF2B5EF4-FFF2-40B4-BE49-F238E27FC236}">
                <a16:creationId xmlns:a16="http://schemas.microsoft.com/office/drawing/2014/main" id="{4730159C-BC37-47F7-9E9E-7A3C532C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504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预期输出</a:t>
            </a:r>
          </a:p>
        </p:txBody>
      </p:sp>
      <p:sp>
        <p:nvSpPr>
          <p:cNvPr id="10" name="reading-header-3">
            <a:extLst xmlns:a="http://schemas.openxmlformats.org/drawingml/2006/main">
              <a:ext uri="{FF2B5EF4-FFF2-40B4-BE49-F238E27FC236}">
                <a16:creationId xmlns:a16="http://schemas.microsoft.com/office/drawing/2014/main" id="{964FE312-4018-4A16-9816-BF33E4B1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0495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负责人 / 时间</a:t>
            </a:r>
          </a:p>
        </p:txBody>
      </p:sp>
      <p:sp>
        <p:nvSpPr>
          <p:cNvPr id="11" name="reading-action-row-1">
            <a:extLst xmlns:a="http://schemas.openxmlformats.org/drawingml/2006/main">
              <a:ext uri="{FF2B5EF4-FFF2-40B4-BE49-F238E27FC236}">
                <a16:creationId xmlns:a16="http://schemas.microsoft.com/office/drawing/2014/main" id="{9FFF681D-5C46-450F-BCED-7607CB5C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19300"/>
            <a:ext cx="11125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2" name="reading-action-title-1">
            <a:extLst xmlns:a="http://schemas.openxmlformats.org/drawingml/2006/main">
              <a:ext uri="{FF2B5EF4-FFF2-40B4-BE49-F238E27FC236}">
                <a16:creationId xmlns:a16="http://schemas.microsoft.com/office/drawing/2014/main" id="{80765BF1-C0D5-43E2-A095-4C140D76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补读关键方法</a:t>
            </a:r>
          </a:p>
        </p:txBody>
      </p:sp>
      <p:sp>
        <p:nvSpPr>
          <p:cNvPr id="13" name="reading-action-output-1">
            <a:extLst xmlns:a="http://schemas.openxmlformats.org/drawingml/2006/main">
              <a:ext uri="{FF2B5EF4-FFF2-40B4-BE49-F238E27FC236}">
                <a16:creationId xmlns:a16="http://schemas.microsoft.com/office/drawing/2014/main" id="{1B068903-0977-4661-95D2-CAEF5904A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0955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参数、假设与可复用步骤</a:t>
            </a:r>
          </a:p>
        </p:txBody>
      </p:sp>
      <p:sp>
        <p:nvSpPr>
          <p:cNvPr id="14" name="reading-action-owner-1">
            <a:extLst xmlns:a="http://schemas.openxmlformats.org/drawingml/2006/main">
              <a:ext uri="{FF2B5EF4-FFF2-40B4-BE49-F238E27FC236}">
                <a16:creationId xmlns:a16="http://schemas.microsoft.com/office/drawing/2014/main" id="{5BB5BF17-C654-424A-A879-89CDFB11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9550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成员 A｜下次组会前</a:t>
            </a:r>
          </a:p>
        </p:txBody>
      </p:sp>
      <p:sp>
        <p:nvSpPr>
          <p:cNvPr id="15" name="reading-action-row-2">
            <a:extLst xmlns:a="http://schemas.openxmlformats.org/drawingml/2006/main">
              <a:ext uri="{FF2B5EF4-FFF2-40B4-BE49-F238E27FC236}">
                <a16:creationId xmlns:a16="http://schemas.microsoft.com/office/drawing/2014/main" id="{9A4B1492-44EC-4333-97FE-7E79F9460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43200"/>
            <a:ext cx="11125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16" name="reading-action-title-2">
            <a:extLst xmlns:a="http://schemas.openxmlformats.org/drawingml/2006/main">
              <a:ext uri="{FF2B5EF4-FFF2-40B4-BE49-F238E27FC236}">
                <a16:creationId xmlns:a16="http://schemas.microsoft.com/office/drawing/2014/main" id="{1DD43934-A240-496E-9716-45376FC6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核对冲突证据</a:t>
            </a:r>
          </a:p>
        </p:txBody>
      </p:sp>
      <p:sp>
        <p:nvSpPr>
          <p:cNvPr id="17" name="reading-action-output-2">
            <a:extLst xmlns:a="http://schemas.openxmlformats.org/drawingml/2006/main">
              <a:ext uri="{FF2B5EF4-FFF2-40B4-BE49-F238E27FC236}">
                <a16:creationId xmlns:a16="http://schemas.microsoft.com/office/drawing/2014/main" id="{5C373259-A44B-44A3-AC33-073A08357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8194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统一比较矩阵与差异解释</a:t>
            </a:r>
          </a:p>
        </p:txBody>
      </p:sp>
      <p:sp>
        <p:nvSpPr>
          <p:cNvPr id="18" name="reading-action-owner-2">
            <a:extLst xmlns:a="http://schemas.openxmlformats.org/drawingml/2006/main">
              <a:ext uri="{FF2B5EF4-FFF2-40B4-BE49-F238E27FC236}">
                <a16:creationId xmlns:a16="http://schemas.microsoft.com/office/drawing/2014/main" id="{56662D3F-2589-4DC5-980D-D51B77C9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1940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成员 B｜本周</a:t>
            </a:r>
          </a:p>
        </p:txBody>
      </p:sp>
      <p:sp>
        <p:nvSpPr>
          <p:cNvPr id="19" name="reading-action-row-3">
            <a:extLst xmlns:a="http://schemas.openxmlformats.org/drawingml/2006/main">
              <a:ext uri="{FF2B5EF4-FFF2-40B4-BE49-F238E27FC236}">
                <a16:creationId xmlns:a16="http://schemas.microsoft.com/office/drawing/2014/main" id="{08A3EEF1-D28D-48AA-8485-1F526B13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67100"/>
            <a:ext cx="111252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2D9E6"/>
            </a:solidFill>
            <a:prstDash val="solid"/>
          </a:ln>
        </p:spPr>
      </p:sp>
      <p:sp>
        <p:nvSpPr>
          <p:cNvPr id="20" name="reading-action-title-3">
            <a:extLst xmlns:a="http://schemas.openxmlformats.org/drawingml/2006/main">
              <a:ext uri="{FF2B5EF4-FFF2-40B4-BE49-F238E27FC236}">
                <a16:creationId xmlns:a16="http://schemas.microsoft.com/office/drawing/2014/main" id="{72E2EDF6-437A-406B-A4A3-FA521877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形成验证方案</a:t>
            </a:r>
          </a:p>
        </p:txBody>
      </p:sp>
      <p:sp>
        <p:nvSpPr>
          <p:cNvPr id="21" name="reading-action-output-3">
            <a:extLst xmlns:a="http://schemas.openxmlformats.org/drawingml/2006/main">
              <a:ext uri="{FF2B5EF4-FFF2-40B4-BE49-F238E27FC236}">
                <a16:creationId xmlns:a16="http://schemas.microsoft.com/office/drawing/2014/main" id="{AB2BD655-E373-40B7-A6DB-A257BB36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43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最小实验、判据与资源清单</a:t>
            </a:r>
          </a:p>
        </p:txBody>
      </p:sp>
      <p:sp>
        <p:nvSpPr>
          <p:cNvPr id="22" name="reading-action-owner-3">
            <a:extLst xmlns:a="http://schemas.openxmlformats.org/drawingml/2006/main">
              <a:ext uri="{FF2B5EF4-FFF2-40B4-BE49-F238E27FC236}">
                <a16:creationId xmlns:a16="http://schemas.microsoft.com/office/drawing/2014/main" id="{2D2444EB-408C-43D9-A36F-9FDAAB4B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543300"/>
            <a:ext cx="2324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成员 C｜两周内</a:t>
            </a:r>
          </a:p>
        </p:txBody>
      </p:sp>
      <p:sp>
        <p:nvSpPr>
          <p:cNvPr id="23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ACA3D8B0-CC61-4453-8D40-187070AC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4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DAD6F92-C3BA-4D8D-86BF-2CBE3123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7692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把组会结论转成责任明确、输出清楚的后续动作。</a:t>
            </a:r>
          </a:p>
        </p:txBody>
      </p:sp>
    </p:spTree>
    <p:extLst>
      <p:ext uri="{BB962C8B-B14F-4D97-AF65-F5344CB8AC3E}">
        <p14:creationId xmlns:p14="http://schemas.microsoft.com/office/powerpoint/2010/main" val="192550489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group-title-marker">
            <a:extLst xmlns:a="http://schemas.openxmlformats.org/drawingml/2006/main">
              <a:ext uri="{FF2B5EF4-FFF2-40B4-BE49-F238E27FC236}">
                <a16:creationId xmlns:a16="http://schemas.microsoft.com/office/drawing/2014/main" id="{0BD80601-1DDF-40C6-A68E-A7BEC3C34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3400" y="238125"/>
            <a:ext cx="228600" cy="2476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468691-B5E3-4762-9D8A-7CA80AD9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532"/>
          </a:bodyPr>
          <a:lstStyle xmlns:a="http://schemas.openxmlformats.org/drawingml/2006/main"/>
          <a:p xmlns:a="http://schemas.openxmlformats.org/drawingml/2006/main">
            <a:pPr algn="l">
              <a:def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00" b="1" i="0">
                <a:solidFill>
                  <a:srgbClr val="32497B"/>
                </a:solidFill>
                <a:latin typeface="Microsoft YaHei"/>
                <a:ea typeface="Microsoft YaHei"/>
                <a:cs typeface="Microsoft YaHei"/>
              </a:rPr>
              <a:t>本次汇报精选来源</a:t>
            </a:r>
          </a:p>
        </p:txBody>
      </p:sp>
      <p:sp>
        <p:nvSpPr>
          <p:cNvPr id="3" name="group-context-tag">
            <a:extLst xmlns:a="http://schemas.openxmlformats.org/drawingml/2006/main">
              <a:ext uri="{FF2B5EF4-FFF2-40B4-BE49-F238E27FC236}">
                <a16:creationId xmlns:a16="http://schemas.microsoft.com/office/drawing/2014/main" id="{4AE0F03F-B6E6-4031-B463-6392B5E8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"/>
            <a:ext cx="19431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5217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讨论与收束</a:t>
            </a:r>
          </a:p>
        </p:txBody>
      </p:sp>
      <p:sp>
        <p:nvSpPr>
          <p:cNvPr id="4" name="group-title-rule">
            <a:extLst xmlns:a="http://schemas.openxmlformats.org/drawingml/2006/main">
              <a:ext uri="{FF2B5EF4-FFF2-40B4-BE49-F238E27FC236}">
                <a16:creationId xmlns:a16="http://schemas.microsoft.com/office/drawing/2014/main" id="{6B862538-0DAE-4C4D-B49B-1BBCB4C8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5" name="group-slide-number-box">
            <a:extLst xmlns:a="http://schemas.openxmlformats.org/drawingml/2006/main">
              <a:ext uri="{FF2B5EF4-FFF2-40B4-BE49-F238E27FC236}">
                <a16:creationId xmlns:a16="http://schemas.microsoft.com/office/drawing/2014/main" id="{9DE53FD6-D1C4-4F49-8E36-D3DFD7BC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26DE137-20A5-4018-B3B8-73360D9D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4389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reference-group-1">
            <a:extLst xmlns:a="http://schemas.openxmlformats.org/drawingml/2006/main">
              <a:ext uri="{FF2B5EF4-FFF2-40B4-BE49-F238E27FC236}">
                <a16:creationId xmlns:a16="http://schemas.microsoft.com/office/drawing/2014/main" id="{391B2EE6-FF8C-435C-A01A-A6F8CE10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578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2986"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焦点论文</a:t>
            </a:r>
          </a:p>
        </p:txBody>
      </p:sp>
      <p:sp>
        <p:nvSpPr>
          <p:cNvPr id="8" name="reference-number-1">
            <a:extLst xmlns:a="http://schemas.openxmlformats.org/drawingml/2006/main">
              <a:ext uri="{FF2B5EF4-FFF2-40B4-BE49-F238E27FC236}">
                <a16:creationId xmlns:a16="http://schemas.microsoft.com/office/drawing/2014/main" id="{2493C5F5-2A0B-44CA-97D8-5531DDC6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reference-entry-1">
            <a:extLst xmlns:a="http://schemas.openxmlformats.org/drawingml/2006/main">
              <a:ext uri="{FF2B5EF4-FFF2-40B4-BE49-F238E27FC236}">
                <a16:creationId xmlns:a16="http://schemas.microsoft.com/office/drawing/2014/main" id="{457A202A-FBE6-44FE-BC36-92D5BEB7C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0980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焦点论文 A：完整作者. 完整题名. 期刊/会议, 年份. DOI.</a:t>
            </a:r>
          </a:p>
        </p:txBody>
      </p:sp>
      <p:sp>
        <p:nvSpPr>
          <p:cNvPr id="10" name="reference-rule-1">
            <a:extLst xmlns:a="http://schemas.openxmlformats.org/drawingml/2006/main">
              <a:ext uri="{FF2B5EF4-FFF2-40B4-BE49-F238E27FC236}">
                <a16:creationId xmlns:a16="http://schemas.microsoft.com/office/drawing/2014/main" id="{80610B0D-1651-4099-8CC8-83D9DA34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67025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1" name="reference-number-2">
            <a:extLst xmlns:a="http://schemas.openxmlformats.org/drawingml/2006/main">
              <a:ext uri="{FF2B5EF4-FFF2-40B4-BE49-F238E27FC236}">
                <a16:creationId xmlns:a16="http://schemas.microsoft.com/office/drawing/2014/main" id="{FB62D346-8BEC-427B-944E-392DDD81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reference-entry-2">
            <a:extLst xmlns:a="http://schemas.openxmlformats.org/drawingml/2006/main">
              <a:ext uri="{FF2B5EF4-FFF2-40B4-BE49-F238E27FC236}">
                <a16:creationId xmlns:a16="http://schemas.microsoft.com/office/drawing/2014/main" id="{B45FC33E-09A0-4981-88FC-43B4DF6C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9085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焦点论文 B：完整作者. 完整题名. 期刊/会议, 年份. DOI.</a:t>
            </a:r>
          </a:p>
        </p:txBody>
      </p:sp>
      <p:sp>
        <p:nvSpPr>
          <p:cNvPr id="13" name="reference-rule-2">
            <a:extLst xmlns:a="http://schemas.openxmlformats.org/drawingml/2006/main">
              <a:ext uri="{FF2B5EF4-FFF2-40B4-BE49-F238E27FC236}">
                <a16:creationId xmlns:a16="http://schemas.microsoft.com/office/drawing/2014/main" id="{2615A254-9743-463E-A130-677D35DB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48075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14" name="reference-number-3">
            <a:extLst xmlns:a="http://schemas.openxmlformats.org/drawingml/2006/main">
              <a:ext uri="{FF2B5EF4-FFF2-40B4-BE49-F238E27FC236}">
                <a16:creationId xmlns:a16="http://schemas.microsoft.com/office/drawing/2014/main" id="{C5CF445D-36B8-4C68-BF00-B501AD48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ference-entry-3">
            <a:extLst xmlns:a="http://schemas.openxmlformats.org/drawingml/2006/main">
              <a:ext uri="{FF2B5EF4-FFF2-40B4-BE49-F238E27FC236}">
                <a16:creationId xmlns:a16="http://schemas.microsoft.com/office/drawing/2014/main" id="{665CE8AF-D301-4392-AC18-F4CC88E3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7190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焦点论文 C：完整作者. 完整题名. 期刊/会议, 年份. DOI.</a:t>
            </a:r>
          </a:p>
        </p:txBody>
      </p:sp>
      <p:sp>
        <p:nvSpPr>
          <p:cNvPr id="16" name="reference-group-2">
            <a:extLst xmlns:a="http://schemas.openxmlformats.org/drawingml/2006/main">
              <a:ext uri="{FF2B5EF4-FFF2-40B4-BE49-F238E27FC236}">
                <a16:creationId xmlns:a16="http://schemas.microsoft.com/office/drawing/2014/main" id="{B6640152-416A-4E98-972B-62E3E99E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657350"/>
            <a:ext cx="52578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  <p:txBody>
          <a:bodyPr xmlns:a="http://schemas.openxmlformats.org/drawingml/2006/main" anchor="ctr">
            <a:normAutofit fontScale="72986"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方法与背景来源</a:t>
            </a:r>
          </a:p>
        </p:txBody>
      </p:sp>
      <p:sp>
        <p:nvSpPr>
          <p:cNvPr id="17" name="reference-number-4">
            <a:extLst xmlns:a="http://schemas.openxmlformats.org/drawingml/2006/main">
              <a:ext uri="{FF2B5EF4-FFF2-40B4-BE49-F238E27FC236}">
                <a16:creationId xmlns:a16="http://schemas.microsoft.com/office/drawing/2014/main" id="{00A1D99B-1450-434F-BF69-6D5AFF84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0980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8" name="reference-entry-4">
            <a:extLst xmlns:a="http://schemas.openxmlformats.org/drawingml/2006/main">
              <a:ext uri="{FF2B5EF4-FFF2-40B4-BE49-F238E27FC236}">
                <a16:creationId xmlns:a16="http://schemas.microsoft.com/office/drawing/2014/main" id="{B131D625-9C00-439D-8747-3C4CC998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20980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关键方法来源：作者. 题名. 来源, 年份.</a:t>
            </a:r>
          </a:p>
        </p:txBody>
      </p:sp>
      <p:sp>
        <p:nvSpPr>
          <p:cNvPr id="19" name="reference-rule-4">
            <a:extLst xmlns:a="http://schemas.openxmlformats.org/drawingml/2006/main">
              <a:ext uri="{FF2B5EF4-FFF2-40B4-BE49-F238E27FC236}">
                <a16:creationId xmlns:a16="http://schemas.microsoft.com/office/drawing/2014/main" id="{BDB0C6A4-413B-40BC-A678-231FDEB6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67025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0" name="reference-number-5">
            <a:extLst xmlns:a="http://schemas.openxmlformats.org/drawingml/2006/main">
              <a:ext uri="{FF2B5EF4-FFF2-40B4-BE49-F238E27FC236}">
                <a16:creationId xmlns:a16="http://schemas.microsoft.com/office/drawing/2014/main" id="{0A3F8C87-F77C-448F-A321-E2494390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9085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eference-entry-5">
            <a:extLst xmlns:a="http://schemas.openxmlformats.org/drawingml/2006/main">
              <a:ext uri="{FF2B5EF4-FFF2-40B4-BE49-F238E27FC236}">
                <a16:creationId xmlns:a16="http://schemas.microsoft.com/office/drawing/2014/main" id="{E58B410E-4D98-4937-A2BA-9AAF76CB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9085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数据或标准来源：机构. 名称. 版本/年份.</a:t>
            </a:r>
          </a:p>
        </p:txBody>
      </p:sp>
      <p:sp>
        <p:nvSpPr>
          <p:cNvPr id="22" name="reference-rule-5">
            <a:extLst xmlns:a="http://schemas.openxmlformats.org/drawingml/2006/main">
              <a:ext uri="{FF2B5EF4-FFF2-40B4-BE49-F238E27FC236}">
                <a16:creationId xmlns:a16="http://schemas.microsoft.com/office/drawing/2014/main" id="{68AD052E-F8C8-4C8B-9313-E1299FF7D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48075"/>
            <a:ext cx="4533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9E6"/>
          </a:solidFill>
          <a:ln xmlns:a="http://schemas.openxmlformats.org/drawingml/2006/main" w="0">
            <a:solidFill>
              <a:srgbClr val="D2D9E6"/>
            </a:solidFill>
            <a:prstDash val="solid"/>
          </a:ln>
        </p:spPr>
      </p:sp>
      <p:sp>
        <p:nvSpPr>
          <p:cNvPr id="23" name="reference-number-6">
            <a:extLst xmlns:a="http://schemas.openxmlformats.org/drawingml/2006/main">
              <a:ext uri="{FF2B5EF4-FFF2-40B4-BE49-F238E27FC236}">
                <a16:creationId xmlns:a16="http://schemas.microsoft.com/office/drawing/2014/main" id="{C6E8A3CC-371E-4917-A975-032FDF3E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71900"/>
            <a:ext cx="438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00" b="1" i="0">
                <a:solidFill>
                  <a:srgbClr val="32497B"/>
                </a:solidFill>
                <a:latin typeface="Arial"/>
                <a:ea typeface="Arial"/>
                <a:cs typeface="Arial"/>
              </a:defRPr>
            </a:pPr>
            <a:r>
              <a:rPr sz="1300" b="1" i="0">
                <a:solidFill>
                  <a:srgbClr val="32497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4" name="reference-entry-6">
            <a:extLst xmlns:a="http://schemas.openxmlformats.org/drawingml/2006/main">
              <a:ext uri="{FF2B5EF4-FFF2-40B4-BE49-F238E27FC236}">
                <a16:creationId xmlns:a16="http://schemas.microsoft.com/office/drawing/2014/main" id="{490E4E5B-4C56-49ED-A2D8-CFB3268B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771900"/>
            <a:ext cx="453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7213A"/>
                </a:solidFill>
                <a:latin typeface="Microsoft YaHei"/>
                <a:ea typeface="Microsoft YaHei"/>
                <a:cs typeface="Microsoft YaHei"/>
              </a:rPr>
              <a:t>补充材料或代码仓库：名称与稳定链接.</a:t>
            </a:r>
          </a:p>
        </p:txBody>
      </p:sp>
      <p:sp>
        <p:nvSpPr>
          <p:cNvPr id="25" name="takeaway-band">
            <a:extLst xmlns:a="http://schemas.openxmlformats.org/drawingml/2006/main">
              <a:ext uri="{FF2B5EF4-FFF2-40B4-BE49-F238E27FC236}">
                <a16:creationId xmlns:a16="http://schemas.microsoft.com/office/drawing/2014/main" id="{2615CF4F-781E-4A34-90AA-2CC20F93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8EDF6"/>
          </a:solidFill>
          <a:ln xmlns:a="http://schemas.openxmlformats.org/drawingml/2006/main" w="9525">
            <a:solidFill>
              <a:srgbClr val="E8EDF6"/>
            </a:solidFill>
            <a:prstDash val="solid"/>
          </a:ln>
        </p:spPr>
      </p:sp>
      <p:sp>
        <p:nvSpPr>
          <p:cNvPr id="26" name="takeaway-text">
            <a:extLst xmlns:a="http://schemas.openxmlformats.org/drawingml/2006/main">
              <a:ext uri="{FF2B5EF4-FFF2-40B4-BE49-F238E27FC236}">
                <a16:creationId xmlns:a16="http://schemas.microsoft.com/office/drawing/2014/main" id="{C87E97DF-7E85-4295-BE32-71885685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7692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21325A"/>
                </a:solidFill>
                <a:latin typeface="Microsoft YaHei"/>
                <a:ea typeface="Microsoft YaHei"/>
                <a:cs typeface="Microsoft YaHei"/>
              </a:rPr>
              <a:t>只列真正进入论证链的论文、数据和方法来源。</a:t>
            </a:r>
          </a:p>
        </p:txBody>
      </p:sp>
    </p:spTree>
    <p:extLst>
      <p:ext uri="{BB962C8B-B14F-4D97-AF65-F5344CB8AC3E}">
        <p14:creationId xmlns:p14="http://schemas.microsoft.com/office/powerpoint/2010/main" val="200654399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roup-corner-tl-1">
            <a:extLst xmlns:a="http://schemas.openxmlformats.org/drawingml/2006/main">
              <a:ext uri="{FF2B5EF4-FFF2-40B4-BE49-F238E27FC236}">
                <a16:creationId xmlns:a16="http://schemas.microsoft.com/office/drawing/2014/main" id="{BCA99146-8FBC-4077-B157-5EC9D35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266700"/>
            <a:ext cx="5524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2" name="group-corner-tl-2">
            <a:extLst xmlns:a="http://schemas.openxmlformats.org/drawingml/2006/main">
              <a:ext uri="{FF2B5EF4-FFF2-40B4-BE49-F238E27FC236}">
                <a16:creationId xmlns:a16="http://schemas.microsoft.com/office/drawing/2014/main" id="{C19E1698-0E3E-4B8F-BF3D-E09C103FD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3619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3" name="group-corner-tl-3">
            <a:extLst xmlns:a="http://schemas.openxmlformats.org/drawingml/2006/main">
              <a:ext uri="{FF2B5EF4-FFF2-40B4-BE49-F238E27FC236}">
                <a16:creationId xmlns:a16="http://schemas.microsoft.com/office/drawing/2014/main" id="{5A9E19EF-7D39-4B9F-A4C4-99D2A7F3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457200"/>
            <a:ext cx="257175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4" name="group-corner-br-1">
            <a:extLst xmlns:a="http://schemas.openxmlformats.org/drawingml/2006/main">
              <a:ext uri="{FF2B5EF4-FFF2-40B4-BE49-F238E27FC236}">
                <a16:creationId xmlns:a16="http://schemas.microsoft.com/office/drawing/2014/main" id="{2B911549-1CEB-4FBE-97AE-1C1CDD6D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715000"/>
            <a:ext cx="5524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5" name="group-corner-br-2">
            <a:extLst xmlns:a="http://schemas.openxmlformats.org/drawingml/2006/main">
              <a:ext uri="{FF2B5EF4-FFF2-40B4-BE49-F238E27FC236}">
                <a16:creationId xmlns:a16="http://schemas.microsoft.com/office/drawing/2014/main" id="{B5AD6130-94CA-49FD-84B0-EBBD4483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5810250"/>
            <a:ext cx="4000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6" name="group-corner-br-3">
            <a:extLst xmlns:a="http://schemas.openxmlformats.org/drawingml/2006/main">
              <a:ext uri="{FF2B5EF4-FFF2-40B4-BE49-F238E27FC236}">
                <a16:creationId xmlns:a16="http://schemas.microsoft.com/office/drawing/2014/main" id="{BCF90CA6-D3C2-473A-8069-90BED733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9475" y="5905500"/>
            <a:ext cx="257175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7" name="group-closing-band">
            <a:extLst xmlns:a="http://schemas.openxmlformats.org/drawingml/2006/main">
              <a:ext uri="{FF2B5EF4-FFF2-40B4-BE49-F238E27FC236}">
                <a16:creationId xmlns:a16="http://schemas.microsoft.com/office/drawing/2014/main" id="{B7A75B7B-D69A-45B4-A4E2-B3966051E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76400"/>
            <a:ext cx="121920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497B"/>
          </a:solidFill>
          <a:ln xmlns:a="http://schemas.openxmlformats.org/drawingml/2006/main" w="0">
            <a:solidFill>
              <a:srgbClr val="32497B"/>
            </a:solidFill>
            <a:prstDash val="solid"/>
          </a:ln>
        </p:spPr>
      </p:sp>
      <p:sp>
        <p:nvSpPr>
          <p:cNvPr id="8" name="group-closing-title">
            <a:extLst xmlns:a="http://schemas.openxmlformats.org/drawingml/2006/main">
              <a:ext uri="{FF2B5EF4-FFF2-40B4-BE49-F238E27FC236}">
                <a16:creationId xmlns:a16="http://schemas.microsoft.com/office/drawing/2014/main" id="{CCC5AD91-26C0-4BED-80CB-294EF51D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24100"/>
            <a:ext cx="1009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9479"/>
          </a:bodyPr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谢谢老师，请批评指正</a:t>
            </a:r>
          </a:p>
        </p:txBody>
      </p:sp>
      <p:sp>
        <p:nvSpPr>
          <p:cNvPr id="9" name="group-closing-presenter">
            <a:extLst xmlns:a="http://schemas.openxmlformats.org/drawingml/2006/main">
              <a:ext uri="{FF2B5EF4-FFF2-40B4-BE49-F238E27FC236}">
                <a16:creationId xmlns:a16="http://schemas.microsoft.com/office/drawing/2014/main" id="{F15DF4D7-7269-4895-83AE-462A0427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0579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91071"/>
          </a:bodyPr>
          <a:lstStyle xmlns:a="http://schemas.openxmlformats.org/drawingml/2006/main"/>
          <a:p xmlns:a="http://schemas.openxmlformats.org/drawingml/2006/main">
            <a:pPr algn="ctr">
              <a:def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i="0">
                <a:solidFill>
                  <a:srgbClr val="5D667A"/>
                </a:solidFill>
                <a:latin typeface="Microsoft YaHei"/>
                <a:ea typeface="Microsoft YaHei"/>
                <a:cs typeface="Microsoft YaHei"/>
              </a:rPr>
              <a:t>示范姓名</a:t>
            </a:r>
          </a:p>
        </p:txBody>
      </p:sp>
    </p:spTree>
    <p:extLst>
      <p:ext uri="{BB962C8B-B14F-4D97-AF65-F5344CB8AC3E}">
        <p14:creationId xmlns:p14="http://schemas.microsoft.com/office/powerpoint/2010/main" val="1692128706"/>
      </p:ext>
    </p:extLst>
  </p:cSld>
</p:sld>
</file>

<file path=ppt/theme/theme1.xml><?xml version="1.0" encoding="utf-8"?>
<a:theme xmlns:a="http://schemas.openxmlformats.org/drawingml/2006/main" name="ChatGPT">
  <a:themeElements>
    <a:clrScheme name="Academic Slides · 学术蓝">
      <a:dk1>
        <a:srgbClr val="111827"/>
      </a:dk1>
      <a:lt1>
        <a:srgbClr val="FFFFFF"/>
      </a:lt1>
      <a:dk2>
        <a:srgbClr val="21325A"/>
      </a:dk2>
      <a:lt2>
        <a:srgbClr val="E8EDF5"/>
      </a:lt2>
      <a:accent1>
        <a:srgbClr val="32497B"/>
      </a:accent1>
      <a:accent2>
        <a:srgbClr val="6682B3"/>
      </a:accent2>
      <a:accent3>
        <a:srgbClr val="3C786D"/>
      </a:accent3>
      <a:accent4>
        <a:srgbClr val="B77A2E"/>
      </a:accent4>
      <a:accent5>
        <a:srgbClr val="765A8C"/>
      </a:accent5>
      <a:accent6>
        <a:srgbClr val="A5424A"/>
      </a:accent6>
      <a:hlink>
        <a:srgbClr val="32497B"/>
      </a:hlink>
      <a:folHlink>
        <a:srgbClr val="765A8C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Academic Slides · 学术蓝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2026-09-01T05:15:21.3780000Z</dcterms:created>
  <dcterms:modified xsi:type="dcterms:W3CDTF">2026-09-01T05:15:21.3780000Z</dcterms:modified>
</coreProperties>
</file>